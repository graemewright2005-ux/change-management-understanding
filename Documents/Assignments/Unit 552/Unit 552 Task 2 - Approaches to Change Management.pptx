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presentation examines recent structural change at Weston College and the transition of digital skills support: why the change was initiated, how it is embedded and sustained, the role of leadership in overcoming barriers, and why stakeholder engagement runs throughout.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rationale for change came from a collision of external pressures, analysed here using PESTLE (Aguilar, F.J. (1967) Scanning the Business Environment, Macmillan, New York).
Regulatory pressure came first. Ofsted's updated toolkit embedded digital skills into the graded Achievement descriptors, and inclusion gained its own standing. Alongside the SEND framework, WCAG 2.1 AA and the Equality Act 2010, this required assurance over both the material we produce and the digital learning environment itself, principally Microsoft Teams.
Economic pressure followed. Flat funding settlements meant the college could not buy its way into compliance, and a decision not to renew a substantial contract meant savings had to be found internally. Restructuring became the route to meeting new external demands.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Internally, capability and structural gaps made change inevitable regardless of external pressure. Digital pedagogy expertise was concentrated in a single specialist post, now within Quality, creating a critical single point of failure across an organisation of this size.
Culturally, baseline data revealed a pronounced knowing-doing gap (Pfeffer, J. and Sutton, R.I. (2000) The Knowing-Doing Gap, Harvard Business School Press, Boston). The Jisc Discovery data gathered in December showed high staff confidence in digital capability alongside limited objective competence. Staff did not know how to do what they believed they understood, which meant the college was drifting out of alignment with its own Quality Handbook.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change to survive in a college it must stop being a project and become business as usual. Change quietly dies when it is delivered as a one-off training event, and survives only when anchored into culture and operational process (Kotter, J.P. (1996) Leading Change, Harvard Business School Press, Boston).
Accessibility illustrates this. Assistive technology such as Immersive Reader has historically been introduced once, at induction, alongside everything else a learner must absorb at an overwhelming point in the year, so it never becomes normal practice. That matters because examination access arrangements must reflect a learner's normal way of working: a learner cannot be given a laptop in an examination if they have never used one. Teaching a tool once a year does not embed it, so the evidence needed to secure the adaptation never exists and the learner loses an entitlement.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 every mechanism embeds behaviour. Publishing SharePoint assets delivers content; it does not change practice. Two mechanisms do. Aligning digital skills to the Quality Handbook makes the change structural rather than optional, and brings existing assurance activity to bear: work scrutiny, learning walks and learner voice triangulate whether behaviour has changed. The Digital Leads programme socialises the change, reinforcing habits peer-to-peer within departments, which is more durable than directive.
Change fails to stick for two reasons: change fatigue after eighteen months of restructuring, and reliance on a single champion. When the Digital Education Manager post went, the framework lost its champion and ownership passed to a colleague who had to be brought up to speed, slowing the work considerably. Change must therefore be institutionalised rather than personalised, which is why the annual Digital Health Check cycle forces the college to revisit and measure it every year.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Traditional models assume leaders overcome barriers through positional authority and mandate. Leading the Digital Skills Framework without line management control meant relying instead on influence and emotional intelligence (Goleman, D. (2004) 'What Makes a Leader?', Harvard Business Review, 82(1), pp. 82-91).
When staff anxiety about the diagnostic audits emerged as a barrier, a manager with authority could have ordered compliance. That option was not available, and would not have worked. Overcoming it required listening to the fear and responding structurally, through the staff-hold-their-own-data model, which built the psychological safety needed for honest engagement. The objective is not compliance but curiosity: staff who want to improve, and who will tell me where I can be useful.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critical leadership function is diagnosing a barrier accurately before attempting to solve it. When staff did not adopt advanced pedagogical tools, the obvious reading was resistance, and the obvious response would have been more training on those tools.
Baseline diagnostics established something different. The real barrier was a foundational digital skills deficit: the base on which everything else is built was not secure, and staff struggling with basic controls cannot implement advanced tools. Correctly identifying the cause allowed the project to pivot, pausing the wider framework to secure foundations and delivering targeted SharePoint resources, rather than expending energy pushing against the wrong wall. If people do not understand the basic controls, no amount of advocacy for advanced tools will succeed.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Engaging stakeholders only at launch and closure is management by broadcast rather than by influence. Continuous engagement matters because operational realities in a college shift daily, and the moment you stop engaging you lose sight of those shifts.
Regular contact with Heads of Area and Digital Leads is how I understand the pressures they face and adjust timelines and support accordingly.
Engagement was also the only currency available to me. Without positional authority nothing could be mandated; it had to be negotiated. Engaging Heads of Area unlocked departmental time. Engaging Digital Leads secured a volunteer workforce and a specialist route into each area, translating local need to me and the direction of travel back into terms that fit local priorities. Engaging Century and Jisc provided diagnostic infrastructure and insight into how other colleges had approached the same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Communication must address the specific needs of each constituency (Freeman, R.E. (1984) Strategic Management: A Stakeholder Approach, Pitman, Boston). A Vice Principal needs strategic alignment and inspection compliance; a Head of Area needs operational efficiency and minimal disruption; a teacher needs psychological safety and practical time saving.
The strongest argument for engaging throughout, however, is that stakeholders are a feedback loop. Engagement is a source of intelligence, not a courtesy. It was through engaging staff during the initial Jisc Discovery phase that the foundational skills gap was identified. That engagement did not simply communicate the plan; it changed it, forcing a pivot toward the digital foundations work on accessibility and inclusion, and toward asynchronous SharePoint resources staff could use in their own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Sustainable change in this sector requires moving beyond textbook models that assume formal authority. I held none, so influence had to substitute for mandate. By understanding external constraints, embedding change through peer-to-peer networks such as the Digital Leads, and engaging stakeholders continuously rather than episodically, it is possible to build genuine distributed resilience.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1295C"/>
        </a:solidFill>
      </p:bgPr>
    </p:bg>
    <p:spTree>
      <p:nvGrpSpPr>
        <p:cNvPr id="1" name=""/>
        <p:cNvGrpSpPr/>
        <p:nvPr/>
      </p:nvGrpSpPr>
      <p:grpSpPr>
        <a:xfrm>
          <a:off x="0" y="0"/>
          <a:ext cx="0" cy="0"/>
          <a:chOff x="0" y="0"/>
          <a:chExt cx="0" cy="0"/>
        </a:xfrm>
      </p:grpSpPr>
      <p:sp>
        <p:nvSpPr>
          <p:cNvPr id="2" name="Text 0"/>
          <p:cNvSpPr txBox="1"/>
          <p:nvPr/>
        </p:nvSpPr>
        <p:spPr>
          <a:xfrm>
            <a:off x="640080" y="2011680"/>
            <a:ext cx="9052560" cy="1188720"/>
          </a:xfrm>
          <a:prstGeom prst="rect">
            <a:avLst/>
          </a:prstGeom>
          <a:noFill/>
          <a:ln/>
        </p:spPr>
        <p:txBody>
          <a:bodyPr wrap="square" lIns="0" tIns="0" rIns="0" bIns="0" rtlCol="0" anchor="ctr"/>
          <a:lstStyle/>
          <a:p>
            <a:pPr indent="0" marL="0">
              <a:buNone/>
            </a:pPr>
            <a:r>
              <a:rPr lang="en-US" sz="4200" b="1" dirty="0">
                <a:solidFill>
                  <a:srgbClr val="FFFFFF"/>
                </a:solidFill>
                <a:latin typeface="Cambria" pitchFamily="34" charset="0"/>
                <a:ea typeface="Cambria" pitchFamily="34" charset="-122"/>
                <a:cs typeface="Cambria" pitchFamily="34" charset="-120"/>
              </a:rPr>
              <a:t>Approaches to Change Management</a:t>
            </a:r>
            <a:endParaRPr lang="en-US" sz="4200" dirty="0"/>
          </a:p>
        </p:txBody>
      </p:sp>
      <p:sp>
        <p:nvSpPr>
          <p:cNvPr id="3" name="Text 1"/>
          <p:cNvSpPr txBox="1"/>
          <p:nvPr/>
        </p:nvSpPr>
        <p:spPr>
          <a:xfrm>
            <a:off x="640080" y="3200400"/>
            <a:ext cx="8686800" cy="822960"/>
          </a:xfrm>
          <a:prstGeom prst="rect">
            <a:avLst/>
          </a:prstGeom>
          <a:noFill/>
          <a:ln/>
        </p:spPr>
        <p:txBody>
          <a:bodyPr wrap="square" lIns="0" tIns="0" rIns="0" bIns="0" rtlCol="0" anchor="ctr"/>
          <a:lstStyle/>
          <a:p>
            <a:pPr indent="0" marL="0">
              <a:buNone/>
            </a:pPr>
            <a:r>
              <a:rPr lang="en-US" sz="1700" dirty="0">
                <a:solidFill>
                  <a:srgbClr val="CADCFC"/>
                </a:solidFill>
                <a:latin typeface="Calibri" pitchFamily="34" charset="0"/>
                <a:ea typeface="Calibri" pitchFamily="34" charset="-122"/>
                <a:cs typeface="Calibri" pitchFamily="34" charset="-120"/>
              </a:rPr>
              <a:t>Digital skills support at Weston College: rationale, embedding, leadership and engagement</a:t>
            </a:r>
            <a:endParaRPr lang="en-US" sz="1700" dirty="0"/>
          </a:p>
        </p:txBody>
      </p:sp>
      <p:sp>
        <p:nvSpPr>
          <p:cNvPr id="4" name="Shape 2"/>
          <p:cNvSpPr/>
          <p:nvPr/>
        </p:nvSpPr>
        <p:spPr>
          <a:xfrm>
            <a:off x="640080" y="4251960"/>
            <a:ext cx="1463040" cy="41148"/>
          </a:xfrm>
          <a:prstGeom prst="rect">
            <a:avLst/>
          </a:prstGeom>
          <a:solidFill>
            <a:srgbClr val="1C7293"/>
          </a:solidFill>
          <a:ln/>
        </p:spPr>
      </p:sp>
      <p:sp>
        <p:nvSpPr>
          <p:cNvPr id="5" name="Text 3"/>
          <p:cNvSpPr txBox="1"/>
          <p:nvPr/>
        </p:nvSpPr>
        <p:spPr>
          <a:xfrm>
            <a:off x="640080" y="4572000"/>
            <a:ext cx="10881360" cy="365760"/>
          </a:xfrm>
          <a:prstGeom prst="rect">
            <a:avLst/>
          </a:prstGeom>
          <a:noFill/>
          <a:ln/>
        </p:spPr>
        <p:txBody>
          <a:bodyPr wrap="square" lIns="0" tIns="0" rIns="0" bIns="0" rtlCol="0" anchor="ctr"/>
          <a:lstStyle/>
          <a:p>
            <a:pPr indent="0" marL="0">
              <a:buNone/>
            </a:pPr>
            <a:r>
              <a:rPr lang="en-US" sz="1300" dirty="0">
                <a:solidFill>
                  <a:srgbClr val="9FB3C8"/>
                </a:solidFill>
                <a:latin typeface="Calibri" pitchFamily="34" charset="0"/>
                <a:ea typeface="Calibri" pitchFamily="34" charset="-122"/>
                <a:cs typeface="Calibri" pitchFamily="34" charset="-120"/>
              </a:rPr>
              <a:t>Graeme Wright  |  Digital Pedagogy Coach  |  CMI HTQ Unit 552</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11480"/>
            <a:ext cx="9418320" cy="822960"/>
          </a:xfrm>
          <a:prstGeom prst="rect">
            <a:avLst/>
          </a:prstGeom>
          <a:noFill/>
          <a:ln/>
        </p:spPr>
        <p:txBody>
          <a:bodyPr wrap="square" lIns="0" tIns="0" rIns="0" bIns="0" rtlCol="0" anchor="ctr"/>
          <a:lstStyle/>
          <a:p>
            <a:pPr indent="0" marL="0">
              <a:buNone/>
            </a:pPr>
            <a:r>
              <a:rPr lang="en-US" sz="3200" b="1" dirty="0">
                <a:solidFill>
                  <a:srgbClr val="065A82"/>
                </a:solidFill>
                <a:latin typeface="Cambria" pitchFamily="34" charset="0"/>
                <a:ea typeface="Cambria" pitchFamily="34" charset="-122"/>
                <a:cs typeface="Cambria" pitchFamily="34" charset="-120"/>
              </a:rPr>
              <a:t>Why change was necessary: external drivers</a:t>
            </a:r>
            <a:endParaRPr lang="en-US" sz="3200" dirty="0"/>
          </a:p>
        </p:txBody>
      </p:sp>
      <p:sp>
        <p:nvSpPr>
          <p:cNvPr id="3" name="Text 1"/>
          <p:cNvSpPr txBox="1"/>
          <p:nvPr/>
        </p:nvSpPr>
        <p:spPr>
          <a:xfrm>
            <a:off x="10149840" y="457200"/>
            <a:ext cx="1371600" cy="411480"/>
          </a:xfrm>
          <a:prstGeom prst="roundRect">
            <a:avLst>
              <a:gd name="adj" fmla="val 17778"/>
            </a:avLst>
          </a:prstGeom>
          <a:solidFill>
            <a:srgbClr val="1C7293"/>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AC2.1</a:t>
            </a:r>
            <a:endParaRPr lang="en-US" sz="1200" dirty="0"/>
          </a:p>
        </p:txBody>
      </p:sp>
      <p:sp>
        <p:nvSpPr>
          <p:cNvPr id="4" name="Shape 2"/>
          <p:cNvSpPr/>
          <p:nvPr/>
        </p:nvSpPr>
        <p:spPr>
          <a:xfrm>
            <a:off x="640080" y="1874520"/>
            <a:ext cx="3383280" cy="3200400"/>
          </a:xfrm>
          <a:prstGeom prst="roundRect">
            <a:avLst>
              <a:gd name="adj" fmla="val 2857"/>
            </a:avLst>
          </a:prstGeom>
          <a:solidFill>
            <a:srgbClr val="F4F7F9"/>
          </a:solidFill>
          <a:ln/>
        </p:spPr>
      </p:sp>
      <p:sp>
        <p:nvSpPr>
          <p:cNvPr id="5" name="Text 3"/>
          <p:cNvSpPr txBox="1"/>
          <p:nvPr/>
        </p:nvSpPr>
        <p:spPr>
          <a:xfrm>
            <a:off x="896112" y="2130552"/>
            <a:ext cx="2871216" cy="457200"/>
          </a:xfrm>
          <a:prstGeom prst="rect">
            <a:avLst/>
          </a:prstGeom>
          <a:noFill/>
          <a:ln/>
        </p:spPr>
        <p:txBody>
          <a:bodyPr wrap="square" lIns="0" tIns="0" rIns="0" bIns="0" rtlCol="0" anchor="ctr"/>
          <a:lstStyle/>
          <a:p>
            <a:pPr indent="0" marL="0">
              <a:buNone/>
            </a:pPr>
            <a:r>
              <a:rPr lang="en-US" sz="1600" b="1" dirty="0">
                <a:solidFill>
                  <a:srgbClr val="065A82"/>
                </a:solidFill>
                <a:latin typeface="Calibri" pitchFamily="34" charset="0"/>
                <a:ea typeface="Calibri" pitchFamily="34" charset="-122"/>
                <a:cs typeface="Calibri" pitchFamily="34" charset="-120"/>
              </a:rPr>
              <a:t>Regulatory</a:t>
            </a:r>
            <a:endParaRPr lang="en-US" sz="1600" dirty="0"/>
          </a:p>
        </p:txBody>
      </p:sp>
      <p:sp>
        <p:nvSpPr>
          <p:cNvPr id="6" name="Text 4"/>
          <p:cNvSpPr txBox="1"/>
          <p:nvPr/>
        </p:nvSpPr>
        <p:spPr>
          <a:xfrm>
            <a:off x="896112" y="2651760"/>
            <a:ext cx="2871216" cy="2148840"/>
          </a:xfrm>
          <a:prstGeom prst="rect">
            <a:avLst/>
          </a:prstGeom>
          <a:noFill/>
          <a:ln/>
        </p:spPr>
        <p:txBody>
          <a:bodyPr wrap="square" lIns="0" tIns="0" rIns="0" bIns="0" rtlCol="0" anchor="ctr"/>
          <a:lstStyle/>
          <a:p>
            <a:pPr indent="0" marL="0">
              <a:buNone/>
            </a:pPr>
            <a:r>
              <a:rPr lang="en-US" sz="1300" dirty="0">
                <a:solidFill>
                  <a:srgbClr val="4A5A66"/>
                </a:solidFill>
                <a:latin typeface="Calibri" pitchFamily="34" charset="0"/>
                <a:ea typeface="Calibri" pitchFamily="34" charset="-122"/>
                <a:cs typeface="Calibri" pitchFamily="34" charset="-120"/>
              </a:rPr>
              <a:t>The Ofsted toolkit embeds digital skills in the graded Achievement descriptors, and inclusion now stands on its own.</a:t>
            </a:r>
            <a:endParaRPr lang="en-US" sz="1300" dirty="0"/>
          </a:p>
        </p:txBody>
      </p:sp>
      <p:sp>
        <p:nvSpPr>
          <p:cNvPr id="7" name="Shape 5"/>
          <p:cNvSpPr/>
          <p:nvPr/>
        </p:nvSpPr>
        <p:spPr>
          <a:xfrm>
            <a:off x="4389120" y="1874520"/>
            <a:ext cx="3383280" cy="3200400"/>
          </a:xfrm>
          <a:prstGeom prst="roundRect">
            <a:avLst>
              <a:gd name="adj" fmla="val 2857"/>
            </a:avLst>
          </a:prstGeom>
          <a:solidFill>
            <a:srgbClr val="F4F7F9"/>
          </a:solidFill>
          <a:ln/>
        </p:spPr>
      </p:sp>
      <p:sp>
        <p:nvSpPr>
          <p:cNvPr id="8" name="Text 6"/>
          <p:cNvSpPr txBox="1"/>
          <p:nvPr/>
        </p:nvSpPr>
        <p:spPr>
          <a:xfrm>
            <a:off x="4645152" y="2130552"/>
            <a:ext cx="2871216" cy="457200"/>
          </a:xfrm>
          <a:prstGeom prst="rect">
            <a:avLst/>
          </a:prstGeom>
          <a:noFill/>
          <a:ln/>
        </p:spPr>
        <p:txBody>
          <a:bodyPr wrap="square" lIns="0" tIns="0" rIns="0" bIns="0" rtlCol="0" anchor="ctr"/>
          <a:lstStyle/>
          <a:p>
            <a:pPr indent="0" marL="0">
              <a:buNone/>
            </a:pPr>
            <a:r>
              <a:rPr lang="en-US" sz="1600" b="1" dirty="0">
                <a:solidFill>
                  <a:srgbClr val="065A82"/>
                </a:solidFill>
                <a:latin typeface="Calibri" pitchFamily="34" charset="0"/>
                <a:ea typeface="Calibri" pitchFamily="34" charset="-122"/>
                <a:cs typeface="Calibri" pitchFamily="34" charset="-120"/>
              </a:rPr>
              <a:t>Legal</a:t>
            </a:r>
            <a:endParaRPr lang="en-US" sz="1600" dirty="0"/>
          </a:p>
        </p:txBody>
      </p:sp>
      <p:sp>
        <p:nvSpPr>
          <p:cNvPr id="9" name="Text 7"/>
          <p:cNvSpPr txBox="1"/>
          <p:nvPr/>
        </p:nvSpPr>
        <p:spPr>
          <a:xfrm>
            <a:off x="4645152" y="2651760"/>
            <a:ext cx="2871216" cy="2148840"/>
          </a:xfrm>
          <a:prstGeom prst="rect">
            <a:avLst/>
          </a:prstGeom>
          <a:noFill/>
          <a:ln/>
        </p:spPr>
        <p:txBody>
          <a:bodyPr wrap="square" lIns="0" tIns="0" rIns="0" bIns="0" rtlCol="0" anchor="ctr"/>
          <a:lstStyle/>
          <a:p>
            <a:pPr indent="0" marL="0">
              <a:buNone/>
            </a:pPr>
            <a:r>
              <a:rPr lang="en-US" sz="1300" dirty="0">
                <a:solidFill>
                  <a:srgbClr val="4A5A66"/>
                </a:solidFill>
                <a:latin typeface="Calibri" pitchFamily="34" charset="0"/>
                <a:ea typeface="Calibri" pitchFamily="34" charset="-122"/>
                <a:cs typeface="Calibri" pitchFamily="34" charset="-120"/>
              </a:rPr>
              <a:t>SEND framework, WCAG 2.1 AA and the Equality Act 2010 require assurance over materials and the digital environment.</a:t>
            </a:r>
            <a:endParaRPr lang="en-US" sz="1300" dirty="0"/>
          </a:p>
        </p:txBody>
      </p:sp>
      <p:sp>
        <p:nvSpPr>
          <p:cNvPr id="10" name="Shape 8"/>
          <p:cNvSpPr/>
          <p:nvPr/>
        </p:nvSpPr>
        <p:spPr>
          <a:xfrm>
            <a:off x="8138160" y="1874520"/>
            <a:ext cx="3383280" cy="3200400"/>
          </a:xfrm>
          <a:prstGeom prst="roundRect">
            <a:avLst>
              <a:gd name="adj" fmla="val 2857"/>
            </a:avLst>
          </a:prstGeom>
          <a:solidFill>
            <a:srgbClr val="F4F7F9"/>
          </a:solidFill>
          <a:ln/>
        </p:spPr>
      </p:sp>
      <p:sp>
        <p:nvSpPr>
          <p:cNvPr id="11" name="Text 9"/>
          <p:cNvSpPr txBox="1"/>
          <p:nvPr/>
        </p:nvSpPr>
        <p:spPr>
          <a:xfrm>
            <a:off x="8394192" y="2130552"/>
            <a:ext cx="2871216" cy="457200"/>
          </a:xfrm>
          <a:prstGeom prst="rect">
            <a:avLst/>
          </a:prstGeom>
          <a:noFill/>
          <a:ln/>
        </p:spPr>
        <p:txBody>
          <a:bodyPr wrap="square" lIns="0" tIns="0" rIns="0" bIns="0" rtlCol="0" anchor="ctr"/>
          <a:lstStyle/>
          <a:p>
            <a:pPr indent="0" marL="0">
              <a:buNone/>
            </a:pPr>
            <a:r>
              <a:rPr lang="en-US" sz="1600" b="1" dirty="0">
                <a:solidFill>
                  <a:srgbClr val="065A82"/>
                </a:solidFill>
                <a:latin typeface="Calibri" pitchFamily="34" charset="0"/>
                <a:ea typeface="Calibri" pitchFamily="34" charset="-122"/>
                <a:cs typeface="Calibri" pitchFamily="34" charset="-120"/>
              </a:rPr>
              <a:t>Economic</a:t>
            </a:r>
            <a:endParaRPr lang="en-US" sz="1600" dirty="0"/>
          </a:p>
        </p:txBody>
      </p:sp>
      <p:sp>
        <p:nvSpPr>
          <p:cNvPr id="12" name="Text 10"/>
          <p:cNvSpPr txBox="1"/>
          <p:nvPr/>
        </p:nvSpPr>
        <p:spPr>
          <a:xfrm>
            <a:off x="8394192" y="2651760"/>
            <a:ext cx="2871216" cy="2148840"/>
          </a:xfrm>
          <a:prstGeom prst="rect">
            <a:avLst/>
          </a:prstGeom>
          <a:noFill/>
          <a:ln/>
        </p:spPr>
        <p:txBody>
          <a:bodyPr wrap="square" lIns="0" tIns="0" rIns="0" bIns="0" rtlCol="0" anchor="ctr"/>
          <a:lstStyle/>
          <a:p>
            <a:pPr indent="0" marL="0">
              <a:buNone/>
            </a:pPr>
            <a:r>
              <a:rPr lang="en-US" sz="1300" dirty="0">
                <a:solidFill>
                  <a:srgbClr val="4A5A66"/>
                </a:solidFill>
                <a:latin typeface="Calibri" pitchFamily="34" charset="0"/>
                <a:ea typeface="Calibri" pitchFamily="34" charset="-122"/>
                <a:cs typeface="Calibri" pitchFamily="34" charset="-120"/>
              </a:rPr>
              <a:t>Flat funding settlements and a contract not renewed. Compliance could not be bought, so it had to be restructured.</a:t>
            </a:r>
            <a:endParaRPr lang="en-US" sz="1300" dirty="0"/>
          </a:p>
        </p:txBody>
      </p:sp>
      <p:sp>
        <p:nvSpPr>
          <p:cNvPr id="13" name="Text 11"/>
          <p:cNvSpPr txBox="1"/>
          <p:nvPr/>
        </p:nvSpPr>
        <p:spPr>
          <a:xfrm>
            <a:off x="640080" y="5532120"/>
            <a:ext cx="10881360" cy="365760"/>
          </a:xfrm>
          <a:prstGeom prst="rect">
            <a:avLst/>
          </a:prstGeom>
          <a:noFill/>
          <a:ln/>
        </p:spPr>
        <p:txBody>
          <a:bodyPr wrap="square" lIns="0" tIns="0" rIns="0" bIns="0" rtlCol="0" anchor="ctr"/>
          <a:lstStyle/>
          <a:p>
            <a:pPr indent="0" marL="0">
              <a:buNone/>
            </a:pPr>
            <a:r>
              <a:rPr lang="en-US" sz="1200" i="1" dirty="0">
                <a:solidFill>
                  <a:srgbClr val="4A5A66"/>
                </a:solidFill>
                <a:latin typeface="Calibri" pitchFamily="34" charset="0"/>
                <a:ea typeface="Calibri" pitchFamily="34" charset="-122"/>
                <a:cs typeface="Calibri" pitchFamily="34" charset="-120"/>
              </a:rPr>
              <a:t>Analysed using PESTLE (Aguilar, 1967)</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11480"/>
            <a:ext cx="9418320" cy="822960"/>
          </a:xfrm>
          <a:prstGeom prst="rect">
            <a:avLst/>
          </a:prstGeom>
          <a:noFill/>
          <a:ln/>
        </p:spPr>
        <p:txBody>
          <a:bodyPr wrap="square" lIns="0" tIns="0" rIns="0" bIns="0" rtlCol="0" anchor="ctr"/>
          <a:lstStyle/>
          <a:p>
            <a:pPr indent="0" marL="0">
              <a:buNone/>
            </a:pPr>
            <a:r>
              <a:rPr lang="en-US" sz="3200" b="1" dirty="0">
                <a:solidFill>
                  <a:srgbClr val="065A82"/>
                </a:solidFill>
                <a:latin typeface="Cambria" pitchFamily="34" charset="0"/>
                <a:ea typeface="Cambria" pitchFamily="34" charset="-122"/>
                <a:cs typeface="Cambria" pitchFamily="34" charset="-120"/>
              </a:rPr>
              <a:t>Why change was necessary: internal drivers</a:t>
            </a:r>
            <a:endParaRPr lang="en-US" sz="3200" dirty="0"/>
          </a:p>
        </p:txBody>
      </p:sp>
      <p:sp>
        <p:nvSpPr>
          <p:cNvPr id="3" name="Text 1"/>
          <p:cNvSpPr txBox="1"/>
          <p:nvPr/>
        </p:nvSpPr>
        <p:spPr>
          <a:xfrm>
            <a:off x="10149840" y="457200"/>
            <a:ext cx="1371600" cy="411480"/>
          </a:xfrm>
          <a:prstGeom prst="roundRect">
            <a:avLst>
              <a:gd name="adj" fmla="val 17778"/>
            </a:avLst>
          </a:prstGeom>
          <a:solidFill>
            <a:srgbClr val="1C7293"/>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AC2.1</a:t>
            </a:r>
            <a:endParaRPr lang="en-US" sz="1200" dirty="0"/>
          </a:p>
        </p:txBody>
      </p:sp>
      <p:sp>
        <p:nvSpPr>
          <p:cNvPr id="4" name="Shape 2"/>
          <p:cNvSpPr/>
          <p:nvPr/>
        </p:nvSpPr>
        <p:spPr>
          <a:xfrm>
            <a:off x="640080" y="1874520"/>
            <a:ext cx="4572000" cy="1417320"/>
          </a:xfrm>
          <a:prstGeom prst="roundRect">
            <a:avLst>
              <a:gd name="adj" fmla="val 6452"/>
            </a:avLst>
          </a:prstGeom>
          <a:solidFill>
            <a:srgbClr val="F4F7F9"/>
          </a:solidFill>
          <a:ln/>
        </p:spPr>
      </p:sp>
      <p:sp>
        <p:nvSpPr>
          <p:cNvPr id="5" name="Text 3"/>
          <p:cNvSpPr txBox="1"/>
          <p:nvPr/>
        </p:nvSpPr>
        <p:spPr>
          <a:xfrm>
            <a:off x="960120" y="2148840"/>
            <a:ext cx="3931920" cy="914400"/>
          </a:xfrm>
          <a:prstGeom prst="rect">
            <a:avLst/>
          </a:prstGeom>
          <a:noFill/>
          <a:ln/>
        </p:spPr>
        <p:txBody>
          <a:bodyPr wrap="square" lIns="0" tIns="0" rIns="0" bIns="0" rtlCol="0" anchor="ctr"/>
          <a:lstStyle/>
          <a:p>
            <a:pPr indent="0" marL="0">
              <a:buNone/>
            </a:pPr>
            <a:r>
              <a:rPr lang="en-US" sz="1600" b="1" dirty="0">
                <a:solidFill>
                  <a:srgbClr val="4A5A66"/>
                </a:solidFill>
                <a:latin typeface="Calibri" pitchFamily="34" charset="0"/>
                <a:ea typeface="Calibri" pitchFamily="34" charset="-122"/>
                <a:cs typeface="Calibri" pitchFamily="34" charset="-120"/>
              </a:rPr>
              <a:t>What staff believe</a:t>
            </a:r>
            <a:endParaRPr lang="en-US" sz="1600" dirty="0"/>
          </a:p>
          <a:p>
            <a:pPr indent="0" marL="0">
              <a:buNone/>
            </a:pPr>
            <a:r>
              <a:rPr lang="en-US" sz="1400" dirty="0">
                <a:solidFill>
                  <a:srgbClr val="4A5A66"/>
                </a:solidFill>
                <a:latin typeface="Calibri" pitchFamily="34" charset="0"/>
                <a:ea typeface="Calibri" pitchFamily="34" charset="-122"/>
                <a:cs typeface="Calibri" pitchFamily="34" charset="-120"/>
              </a:rPr>
              <a:t>That they are competent in digital practice, including accessibility.</a:t>
            </a:r>
            <a:endParaRPr lang="en-US" sz="1600" dirty="0"/>
          </a:p>
        </p:txBody>
      </p:sp>
      <p:sp>
        <p:nvSpPr>
          <p:cNvPr id="6" name="Shape 4"/>
          <p:cNvSpPr/>
          <p:nvPr/>
        </p:nvSpPr>
        <p:spPr>
          <a:xfrm>
            <a:off x="640080" y="3520440"/>
            <a:ext cx="4572000" cy="1417320"/>
          </a:xfrm>
          <a:prstGeom prst="roundRect">
            <a:avLst>
              <a:gd name="adj" fmla="val 6452"/>
            </a:avLst>
          </a:prstGeom>
          <a:solidFill>
            <a:srgbClr val="065A82"/>
          </a:solidFill>
          <a:ln/>
        </p:spPr>
      </p:sp>
      <p:sp>
        <p:nvSpPr>
          <p:cNvPr id="7" name="Text 5"/>
          <p:cNvSpPr txBox="1"/>
          <p:nvPr/>
        </p:nvSpPr>
        <p:spPr>
          <a:xfrm>
            <a:off x="960120" y="3794760"/>
            <a:ext cx="3931920" cy="91440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What the evidence shows</a:t>
            </a:r>
            <a:endParaRPr lang="en-US" sz="1600" dirty="0"/>
          </a:p>
          <a:p>
            <a:pPr indent="0" marL="0">
              <a:buNone/>
            </a:pPr>
            <a:r>
              <a:rPr lang="en-US" sz="1400" dirty="0">
                <a:solidFill>
                  <a:srgbClr val="CADCFC"/>
                </a:solidFill>
                <a:latin typeface="Calibri" pitchFamily="34" charset="0"/>
                <a:ea typeface="Calibri" pitchFamily="34" charset="-122"/>
                <a:cs typeface="Calibri" pitchFamily="34" charset="-120"/>
              </a:rPr>
              <a:t>Awareness-based indicators score higher than those requiring learned technical action.</a:t>
            </a:r>
            <a:endParaRPr lang="en-US" sz="1600" dirty="0"/>
          </a:p>
        </p:txBody>
      </p:sp>
      <p:sp>
        <p:nvSpPr>
          <p:cNvPr id="8" name="Text 6"/>
          <p:cNvSpPr txBox="1"/>
          <p:nvPr/>
        </p:nvSpPr>
        <p:spPr>
          <a:xfrm>
            <a:off x="640080" y="5120640"/>
            <a:ext cx="4754880" cy="365760"/>
          </a:xfrm>
          <a:prstGeom prst="rect">
            <a:avLst/>
          </a:prstGeom>
          <a:noFill/>
          <a:ln/>
        </p:spPr>
        <p:txBody>
          <a:bodyPr wrap="square" lIns="0" tIns="0" rIns="0" bIns="0" rtlCol="0" anchor="ctr"/>
          <a:lstStyle/>
          <a:p>
            <a:pPr indent="0" marL="0">
              <a:buNone/>
            </a:pPr>
            <a:r>
              <a:rPr lang="en-US" sz="1300" i="1" dirty="0">
                <a:solidFill>
                  <a:srgbClr val="4A5A66"/>
                </a:solidFill>
                <a:latin typeface="Calibri" pitchFamily="34" charset="0"/>
                <a:ea typeface="Calibri" pitchFamily="34" charset="-122"/>
                <a:cs typeface="Calibri" pitchFamily="34" charset="-120"/>
              </a:rPr>
              <a:t>The knowing-doing gap  (Pfeffer and Sutton, 2000)</a:t>
            </a:r>
            <a:endParaRPr lang="en-US" sz="1300" dirty="0"/>
          </a:p>
        </p:txBody>
      </p:sp>
      <p:sp>
        <p:nvSpPr>
          <p:cNvPr id="9" name="Text 7"/>
          <p:cNvSpPr txBox="1"/>
          <p:nvPr/>
        </p:nvSpPr>
        <p:spPr>
          <a:xfrm>
            <a:off x="5760720" y="1874520"/>
            <a:ext cx="5760720" cy="3291840"/>
          </a:xfrm>
          <a:prstGeom prst="rect">
            <a:avLst/>
          </a:prstGeom>
          <a:noFill/>
          <a:ln/>
        </p:spPr>
        <p:txBody>
          <a:bodyPr wrap="square" lIns="0" tIns="0" rIns="0" bIns="0" rtlCol="0" anchor="ctr"/>
          <a:lstStyle/>
          <a:p>
            <a:pPr indent="0" marL="0">
              <a:buNone/>
            </a:pPr>
            <a:r>
              <a:rPr lang="en-US" sz="1800" b="1" dirty="0">
                <a:solidFill>
                  <a:srgbClr val="065A82"/>
                </a:solidFill>
                <a:latin typeface="Calibri" pitchFamily="34" charset="0"/>
                <a:ea typeface="Calibri" pitchFamily="34" charset="-122"/>
                <a:cs typeface="Calibri" pitchFamily="34" charset="-120"/>
              </a:rPr>
              <a:t>Structural fragility</a:t>
            </a:r>
            <a:endParaRPr lang="en-US" sz="1800" dirty="0"/>
          </a:p>
          <a:p>
            <a:pPr indent="0" marL="0">
              <a:buNone/>
            </a:pPr>
            <a:r>
              <a:rPr lang="en-US" sz="1500" dirty="0">
                <a:solidFill>
                  <a:srgbClr val="4A5A66"/>
                </a:solidFill>
                <a:latin typeface="Calibri" pitchFamily="34" charset="0"/>
                <a:ea typeface="Calibri" pitchFamily="34" charset="-122"/>
                <a:cs typeface="Calibri" pitchFamily="34" charset="-120"/>
              </a:rPr>
              <a:t>Digital pedagogy expertise concentrated in a single specialist post, now within Quality. A critical single point of failure across 35 areas, nine campuses and 600+ staff.</a:t>
            </a:r>
            <a:endParaRPr lang="en-US" sz="1800" dirty="0"/>
          </a:p>
          <a:p>
            <a:pPr indent="0" marL="0">
              <a:buNone/>
            </a:pPr>
            <a:r>
              <a:rPr lang="en-US" sz="1000" dirty="0">
                <a:solidFill>
                  <a:srgbClr val="000000"/>
                </a:solidFill>
                <a:latin typeface="Calibri" pitchFamily="34" charset="0"/>
                <a:ea typeface="Calibri" pitchFamily="34" charset="-122"/>
                <a:cs typeface="Calibri" pitchFamily="34" charset="-120"/>
              </a:rPr>
              <a:t> </a:t>
            </a:r>
            <a:endParaRPr lang="en-US" sz="1800" dirty="0"/>
          </a:p>
          <a:p>
            <a:pPr indent="0" marL="0">
              <a:buNone/>
            </a:pPr>
            <a:r>
              <a:rPr lang="en-US" sz="1800" b="1" dirty="0">
                <a:solidFill>
                  <a:srgbClr val="065A82"/>
                </a:solidFill>
                <a:latin typeface="Calibri" pitchFamily="34" charset="0"/>
                <a:ea typeface="Calibri" pitchFamily="34" charset="-122"/>
                <a:cs typeface="Calibri" pitchFamily="34" charset="-120"/>
              </a:rPr>
              <a:t>Cultural gap</a:t>
            </a:r>
            <a:endParaRPr lang="en-US" sz="1800" dirty="0"/>
          </a:p>
          <a:p>
            <a:pPr indent="0" marL="0">
              <a:buNone/>
            </a:pPr>
            <a:r>
              <a:rPr lang="en-US" sz="1500" dirty="0">
                <a:solidFill>
                  <a:srgbClr val="4A5A66"/>
                </a:solidFill>
                <a:latin typeface="Calibri" pitchFamily="34" charset="0"/>
                <a:ea typeface="Calibri" pitchFamily="34" charset="-122"/>
                <a:cs typeface="Calibri" pitchFamily="34" charset="-120"/>
              </a:rPr>
              <a:t>Jisc Discovery data from December showed high confidence alongside limited objective competence, so the college drifted out of alignment with its own Quality Handbook.</a:t>
            </a:r>
            <a:endParaRPr lang="en-US" sz="1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11480"/>
            <a:ext cx="9418320" cy="822960"/>
          </a:xfrm>
          <a:prstGeom prst="rect">
            <a:avLst/>
          </a:prstGeom>
          <a:noFill/>
          <a:ln/>
        </p:spPr>
        <p:txBody>
          <a:bodyPr wrap="square" lIns="0" tIns="0" rIns="0" bIns="0" rtlCol="0" anchor="ctr"/>
          <a:lstStyle/>
          <a:p>
            <a:pPr indent="0" marL="0">
              <a:buNone/>
            </a:pPr>
            <a:r>
              <a:rPr lang="en-US" sz="3200" b="1" dirty="0">
                <a:solidFill>
                  <a:srgbClr val="065A82"/>
                </a:solidFill>
                <a:latin typeface="Cambria" pitchFamily="34" charset="0"/>
                <a:ea typeface="Cambria" pitchFamily="34" charset="-122"/>
                <a:cs typeface="Cambria" pitchFamily="34" charset="-120"/>
              </a:rPr>
              <a:t>From project to business as usual</a:t>
            </a:r>
            <a:endParaRPr lang="en-US" sz="3200" dirty="0"/>
          </a:p>
        </p:txBody>
      </p:sp>
      <p:sp>
        <p:nvSpPr>
          <p:cNvPr id="3" name="Text 1"/>
          <p:cNvSpPr txBox="1"/>
          <p:nvPr/>
        </p:nvSpPr>
        <p:spPr>
          <a:xfrm>
            <a:off x="10149840" y="457200"/>
            <a:ext cx="1371600" cy="411480"/>
          </a:xfrm>
          <a:prstGeom prst="roundRect">
            <a:avLst>
              <a:gd name="adj" fmla="val 17778"/>
            </a:avLst>
          </a:prstGeom>
          <a:solidFill>
            <a:srgbClr val="1C7293"/>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AC2.2</a:t>
            </a:r>
            <a:endParaRPr lang="en-US" sz="1200" dirty="0"/>
          </a:p>
        </p:txBody>
      </p:sp>
      <p:sp>
        <p:nvSpPr>
          <p:cNvPr id="4" name="Text 2"/>
          <p:cNvSpPr txBox="1"/>
          <p:nvPr/>
        </p:nvSpPr>
        <p:spPr>
          <a:xfrm>
            <a:off x="640080" y="1554480"/>
            <a:ext cx="10881360" cy="457200"/>
          </a:xfrm>
          <a:prstGeom prst="rect">
            <a:avLst/>
          </a:prstGeom>
          <a:noFill/>
          <a:ln/>
        </p:spPr>
        <p:txBody>
          <a:bodyPr wrap="square" lIns="0" tIns="0" rIns="0" bIns="0" rtlCol="0" anchor="ctr"/>
          <a:lstStyle/>
          <a:p>
            <a:pPr indent="0" marL="0">
              <a:buNone/>
            </a:pPr>
            <a:r>
              <a:rPr lang="en-US" sz="1700" i="1" dirty="0">
                <a:solidFill>
                  <a:srgbClr val="065A82"/>
                </a:solidFill>
                <a:latin typeface="Calibri" pitchFamily="34" charset="0"/>
                <a:ea typeface="Calibri" pitchFamily="34" charset="-122"/>
                <a:cs typeface="Calibri" pitchFamily="34" charset="-120"/>
              </a:rPr>
              <a:t>Change dies when it is a one-off event. It survives when it is anchored in culture and process.</a:t>
            </a:r>
            <a:endParaRPr lang="en-US" sz="1700" dirty="0"/>
          </a:p>
        </p:txBody>
      </p:sp>
      <p:sp>
        <p:nvSpPr>
          <p:cNvPr id="5" name="Shape 3"/>
          <p:cNvSpPr/>
          <p:nvPr/>
        </p:nvSpPr>
        <p:spPr>
          <a:xfrm>
            <a:off x="640080" y="2514600"/>
            <a:ext cx="502920" cy="502920"/>
          </a:xfrm>
          <a:prstGeom prst="ellipse">
            <a:avLst/>
          </a:prstGeom>
          <a:solidFill>
            <a:srgbClr val="1C7293"/>
          </a:solidFill>
          <a:ln/>
        </p:spPr>
      </p:sp>
      <p:sp>
        <p:nvSpPr>
          <p:cNvPr id="6" name="Text 4"/>
          <p:cNvSpPr txBox="1"/>
          <p:nvPr/>
        </p:nvSpPr>
        <p:spPr>
          <a:xfrm>
            <a:off x="640080" y="251460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7" name="Text 5"/>
          <p:cNvSpPr txBox="1"/>
          <p:nvPr/>
        </p:nvSpPr>
        <p:spPr>
          <a:xfrm>
            <a:off x="1371600" y="2487168"/>
            <a:ext cx="10058400" cy="365760"/>
          </a:xfrm>
          <a:prstGeom prst="rect">
            <a:avLst/>
          </a:prstGeom>
          <a:noFill/>
          <a:ln/>
        </p:spPr>
        <p:txBody>
          <a:bodyPr wrap="square" lIns="0" tIns="0" rIns="0" bIns="0" rtlCol="0" anchor="ctr"/>
          <a:lstStyle/>
          <a:p>
            <a:pPr indent="0" marL="0">
              <a:buNone/>
            </a:pPr>
            <a:r>
              <a:rPr lang="en-US" sz="1700" b="1" dirty="0">
                <a:solidFill>
                  <a:srgbClr val="1A1A1A"/>
                </a:solidFill>
                <a:latin typeface="Calibri" pitchFamily="34" charset="0"/>
                <a:ea typeface="Calibri" pitchFamily="34" charset="-122"/>
                <a:cs typeface="Calibri" pitchFamily="34" charset="-120"/>
              </a:rPr>
              <a:t>Taught once, at induction</a:t>
            </a:r>
            <a:endParaRPr lang="en-US" sz="1700" dirty="0"/>
          </a:p>
        </p:txBody>
      </p:sp>
      <p:sp>
        <p:nvSpPr>
          <p:cNvPr id="8" name="Text 6"/>
          <p:cNvSpPr txBox="1"/>
          <p:nvPr/>
        </p:nvSpPr>
        <p:spPr>
          <a:xfrm>
            <a:off x="1371600" y="2898648"/>
            <a:ext cx="10058400" cy="868680"/>
          </a:xfrm>
          <a:prstGeom prst="rect">
            <a:avLst/>
          </a:prstGeom>
          <a:noFill/>
          <a:ln/>
        </p:spPr>
        <p:txBody>
          <a:bodyPr wrap="square" lIns="0" tIns="0" rIns="0" bIns="0" rtlCol="0" anchor="ctr"/>
          <a:lstStyle/>
          <a:p>
            <a:pPr indent="0" marL="0">
              <a:buNone/>
            </a:pPr>
            <a:r>
              <a:rPr lang="en-US" sz="1500" dirty="0">
                <a:solidFill>
                  <a:srgbClr val="4A5A66"/>
                </a:solidFill>
                <a:latin typeface="Calibri" pitchFamily="34" charset="0"/>
                <a:ea typeface="Calibri" pitchFamily="34" charset="-122"/>
                <a:cs typeface="Calibri" pitchFamily="34" charset="-120"/>
              </a:rPr>
              <a:t>Assistive technology is introduced alongside everything else, at the most overwhelming point of the year.</a:t>
            </a:r>
            <a:endParaRPr lang="en-US" sz="1500" dirty="0"/>
          </a:p>
        </p:txBody>
      </p:sp>
      <p:sp>
        <p:nvSpPr>
          <p:cNvPr id="9" name="Shape 7"/>
          <p:cNvSpPr/>
          <p:nvPr/>
        </p:nvSpPr>
        <p:spPr>
          <a:xfrm>
            <a:off x="640080" y="3904488"/>
            <a:ext cx="502920" cy="502920"/>
          </a:xfrm>
          <a:prstGeom prst="ellipse">
            <a:avLst/>
          </a:prstGeom>
          <a:solidFill>
            <a:srgbClr val="1C7293"/>
          </a:solidFill>
          <a:ln/>
        </p:spPr>
      </p:sp>
      <p:sp>
        <p:nvSpPr>
          <p:cNvPr id="10" name="Text 8"/>
          <p:cNvSpPr txBox="1"/>
          <p:nvPr/>
        </p:nvSpPr>
        <p:spPr>
          <a:xfrm>
            <a:off x="640080" y="3904488"/>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1" name="Text 9"/>
          <p:cNvSpPr txBox="1"/>
          <p:nvPr/>
        </p:nvSpPr>
        <p:spPr>
          <a:xfrm>
            <a:off x="1371600" y="3877056"/>
            <a:ext cx="10058400" cy="365760"/>
          </a:xfrm>
          <a:prstGeom prst="rect">
            <a:avLst/>
          </a:prstGeom>
          <a:noFill/>
          <a:ln/>
        </p:spPr>
        <p:txBody>
          <a:bodyPr wrap="square" lIns="0" tIns="0" rIns="0" bIns="0" rtlCol="0" anchor="ctr"/>
          <a:lstStyle/>
          <a:p>
            <a:pPr indent="0" marL="0">
              <a:buNone/>
            </a:pPr>
            <a:r>
              <a:rPr lang="en-US" sz="1700" b="1" dirty="0">
                <a:solidFill>
                  <a:srgbClr val="1A1A1A"/>
                </a:solidFill>
                <a:latin typeface="Calibri" pitchFamily="34" charset="0"/>
                <a:ea typeface="Calibri" pitchFamily="34" charset="-122"/>
                <a:cs typeface="Calibri" pitchFamily="34" charset="-120"/>
              </a:rPr>
              <a:t>It never becomes normal practice</a:t>
            </a:r>
            <a:endParaRPr lang="en-US" sz="1700" dirty="0"/>
          </a:p>
        </p:txBody>
      </p:sp>
      <p:sp>
        <p:nvSpPr>
          <p:cNvPr id="12" name="Text 10"/>
          <p:cNvSpPr txBox="1"/>
          <p:nvPr/>
        </p:nvSpPr>
        <p:spPr>
          <a:xfrm>
            <a:off x="1371600" y="4288536"/>
            <a:ext cx="10058400" cy="868680"/>
          </a:xfrm>
          <a:prstGeom prst="rect">
            <a:avLst/>
          </a:prstGeom>
          <a:noFill/>
          <a:ln/>
        </p:spPr>
        <p:txBody>
          <a:bodyPr wrap="square" lIns="0" tIns="0" rIns="0" bIns="0" rtlCol="0" anchor="ctr"/>
          <a:lstStyle/>
          <a:p>
            <a:pPr indent="0" marL="0">
              <a:buNone/>
            </a:pPr>
            <a:r>
              <a:rPr lang="en-US" sz="1500" dirty="0">
                <a:solidFill>
                  <a:srgbClr val="4A5A66"/>
                </a:solidFill>
                <a:latin typeface="Calibri" pitchFamily="34" charset="0"/>
                <a:ea typeface="Calibri" pitchFamily="34" charset="-122"/>
                <a:cs typeface="Calibri" pitchFamily="34" charset="-120"/>
              </a:rPr>
              <a:t>Access arrangements must reflect a learner’s normal way of working. A laptop cannot be given in an exam to someone who has never used one.</a:t>
            </a:r>
            <a:endParaRPr lang="en-US" sz="1500" dirty="0"/>
          </a:p>
        </p:txBody>
      </p:sp>
      <p:sp>
        <p:nvSpPr>
          <p:cNvPr id="13" name="Shape 11"/>
          <p:cNvSpPr/>
          <p:nvPr/>
        </p:nvSpPr>
        <p:spPr>
          <a:xfrm>
            <a:off x="640080" y="5294376"/>
            <a:ext cx="502920" cy="502920"/>
          </a:xfrm>
          <a:prstGeom prst="ellipse">
            <a:avLst/>
          </a:prstGeom>
          <a:solidFill>
            <a:srgbClr val="1C7293"/>
          </a:solidFill>
          <a:ln/>
        </p:spPr>
      </p:sp>
      <p:sp>
        <p:nvSpPr>
          <p:cNvPr id="14" name="Text 12"/>
          <p:cNvSpPr txBox="1"/>
          <p:nvPr/>
        </p:nvSpPr>
        <p:spPr>
          <a:xfrm>
            <a:off x="640080" y="5294376"/>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15" name="Text 13"/>
          <p:cNvSpPr txBox="1"/>
          <p:nvPr/>
        </p:nvSpPr>
        <p:spPr>
          <a:xfrm>
            <a:off x="1371600" y="5266944"/>
            <a:ext cx="10058400" cy="365760"/>
          </a:xfrm>
          <a:prstGeom prst="rect">
            <a:avLst/>
          </a:prstGeom>
          <a:noFill/>
          <a:ln/>
        </p:spPr>
        <p:txBody>
          <a:bodyPr wrap="square" lIns="0" tIns="0" rIns="0" bIns="0" rtlCol="0" anchor="ctr"/>
          <a:lstStyle/>
          <a:p>
            <a:pPr indent="0" marL="0">
              <a:buNone/>
            </a:pPr>
            <a:r>
              <a:rPr lang="en-US" sz="1700" b="1" dirty="0">
                <a:solidFill>
                  <a:srgbClr val="1A1A1A"/>
                </a:solidFill>
                <a:latin typeface="Calibri" pitchFamily="34" charset="0"/>
                <a:ea typeface="Calibri" pitchFamily="34" charset="-122"/>
                <a:cs typeface="Calibri" pitchFamily="34" charset="-120"/>
              </a:rPr>
              <a:t>The learner loses an entitlement</a:t>
            </a:r>
            <a:endParaRPr lang="en-US" sz="1700" dirty="0"/>
          </a:p>
        </p:txBody>
      </p:sp>
      <p:sp>
        <p:nvSpPr>
          <p:cNvPr id="16" name="Text 14"/>
          <p:cNvSpPr txBox="1"/>
          <p:nvPr/>
        </p:nvSpPr>
        <p:spPr>
          <a:xfrm>
            <a:off x="1371600" y="5678424"/>
            <a:ext cx="10058400" cy="868680"/>
          </a:xfrm>
          <a:prstGeom prst="rect">
            <a:avLst/>
          </a:prstGeom>
          <a:noFill/>
          <a:ln/>
        </p:spPr>
        <p:txBody>
          <a:bodyPr wrap="square" lIns="0" tIns="0" rIns="0" bIns="0" rtlCol="0" anchor="ctr"/>
          <a:lstStyle/>
          <a:p>
            <a:pPr indent="0" marL="0">
              <a:buNone/>
            </a:pPr>
            <a:r>
              <a:rPr lang="en-US" sz="1500" dirty="0">
                <a:solidFill>
                  <a:srgbClr val="4A5A66"/>
                </a:solidFill>
                <a:latin typeface="Calibri" pitchFamily="34" charset="0"/>
                <a:ea typeface="Calibri" pitchFamily="34" charset="-122"/>
                <a:cs typeface="Calibri" pitchFamily="34" charset="-120"/>
              </a:rPr>
              <a:t>No embedded practice means no evidence, and no evidence means no adaptation.</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11480"/>
            <a:ext cx="9418320" cy="822960"/>
          </a:xfrm>
          <a:prstGeom prst="rect">
            <a:avLst/>
          </a:prstGeom>
          <a:noFill/>
          <a:ln/>
        </p:spPr>
        <p:txBody>
          <a:bodyPr wrap="square" lIns="0" tIns="0" rIns="0" bIns="0" rtlCol="0" anchor="ctr"/>
          <a:lstStyle/>
          <a:p>
            <a:pPr indent="0" marL="0">
              <a:buNone/>
            </a:pPr>
            <a:r>
              <a:rPr lang="en-US" sz="3200" b="1" dirty="0">
                <a:solidFill>
                  <a:srgbClr val="065A82"/>
                </a:solidFill>
                <a:latin typeface="Cambria" pitchFamily="34" charset="0"/>
                <a:ea typeface="Cambria" pitchFamily="34" charset="-122"/>
                <a:cs typeface="Cambria" pitchFamily="34" charset="-120"/>
              </a:rPr>
              <a:t>Mechanisms that actually embed</a:t>
            </a:r>
            <a:endParaRPr lang="en-US" sz="3200" dirty="0"/>
          </a:p>
        </p:txBody>
      </p:sp>
      <p:sp>
        <p:nvSpPr>
          <p:cNvPr id="3" name="Text 1"/>
          <p:cNvSpPr txBox="1"/>
          <p:nvPr/>
        </p:nvSpPr>
        <p:spPr>
          <a:xfrm>
            <a:off x="10149840" y="457200"/>
            <a:ext cx="1371600" cy="411480"/>
          </a:xfrm>
          <a:prstGeom prst="roundRect">
            <a:avLst>
              <a:gd name="adj" fmla="val 17778"/>
            </a:avLst>
          </a:prstGeom>
          <a:solidFill>
            <a:srgbClr val="1C7293"/>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AC2.2</a:t>
            </a:r>
            <a:endParaRPr lang="en-US" sz="1200" dirty="0"/>
          </a:p>
        </p:txBody>
      </p:sp>
      <p:sp>
        <p:nvSpPr>
          <p:cNvPr id="4" name="Shape 2"/>
          <p:cNvSpPr/>
          <p:nvPr/>
        </p:nvSpPr>
        <p:spPr>
          <a:xfrm>
            <a:off x="640080" y="1874520"/>
            <a:ext cx="3383280" cy="3017520"/>
          </a:xfrm>
          <a:prstGeom prst="roundRect">
            <a:avLst>
              <a:gd name="adj" fmla="val 3030"/>
            </a:avLst>
          </a:prstGeom>
          <a:solidFill>
            <a:srgbClr val="F4F7F9"/>
          </a:solidFill>
          <a:ln/>
        </p:spPr>
      </p:sp>
      <p:sp>
        <p:nvSpPr>
          <p:cNvPr id="5" name="Text 3"/>
          <p:cNvSpPr txBox="1"/>
          <p:nvPr/>
        </p:nvSpPr>
        <p:spPr>
          <a:xfrm>
            <a:off x="896112" y="2130552"/>
            <a:ext cx="2871216" cy="457200"/>
          </a:xfrm>
          <a:prstGeom prst="rect">
            <a:avLst/>
          </a:prstGeom>
          <a:noFill/>
          <a:ln/>
        </p:spPr>
        <p:txBody>
          <a:bodyPr wrap="square" lIns="0" tIns="0" rIns="0" bIns="0" rtlCol="0" anchor="ctr"/>
          <a:lstStyle/>
          <a:p>
            <a:pPr indent="0" marL="0">
              <a:buNone/>
            </a:pPr>
            <a:r>
              <a:rPr lang="en-US" sz="1600" b="1" dirty="0">
                <a:solidFill>
                  <a:srgbClr val="065A82"/>
                </a:solidFill>
                <a:latin typeface="Calibri" pitchFamily="34" charset="0"/>
                <a:ea typeface="Calibri" pitchFamily="34" charset="-122"/>
                <a:cs typeface="Calibri" pitchFamily="34" charset="-120"/>
              </a:rPr>
              <a:t>Quality Handbook</a:t>
            </a:r>
            <a:endParaRPr lang="en-US" sz="1600" dirty="0"/>
          </a:p>
        </p:txBody>
      </p:sp>
      <p:sp>
        <p:nvSpPr>
          <p:cNvPr id="6" name="Text 4"/>
          <p:cNvSpPr txBox="1"/>
          <p:nvPr/>
        </p:nvSpPr>
        <p:spPr>
          <a:xfrm>
            <a:off x="896112" y="2651760"/>
            <a:ext cx="2871216" cy="1965960"/>
          </a:xfrm>
          <a:prstGeom prst="rect">
            <a:avLst/>
          </a:prstGeom>
          <a:noFill/>
          <a:ln/>
        </p:spPr>
        <p:txBody>
          <a:bodyPr wrap="square" lIns="0" tIns="0" rIns="0" bIns="0" rtlCol="0" anchor="ctr"/>
          <a:lstStyle/>
          <a:p>
            <a:pPr indent="0" marL="0">
              <a:buNone/>
            </a:pPr>
            <a:r>
              <a:rPr lang="en-US" sz="1300" dirty="0">
                <a:solidFill>
                  <a:srgbClr val="4A5A66"/>
                </a:solidFill>
                <a:latin typeface="Calibri" pitchFamily="34" charset="0"/>
                <a:ea typeface="Calibri" pitchFamily="34" charset="-122"/>
                <a:cs typeface="Calibri" pitchFamily="34" charset="-120"/>
              </a:rPr>
              <a:t>Writes the expectation into formal standards and brings work scrutiny, learning walks and learner voice to bear. Structural, not optional.</a:t>
            </a:r>
            <a:endParaRPr lang="en-US" sz="1300" dirty="0"/>
          </a:p>
        </p:txBody>
      </p:sp>
      <p:sp>
        <p:nvSpPr>
          <p:cNvPr id="7" name="Shape 5"/>
          <p:cNvSpPr/>
          <p:nvPr/>
        </p:nvSpPr>
        <p:spPr>
          <a:xfrm>
            <a:off x="4389120" y="1874520"/>
            <a:ext cx="3383280" cy="3017520"/>
          </a:xfrm>
          <a:prstGeom prst="roundRect">
            <a:avLst>
              <a:gd name="adj" fmla="val 3030"/>
            </a:avLst>
          </a:prstGeom>
          <a:solidFill>
            <a:srgbClr val="F4F7F9"/>
          </a:solidFill>
          <a:ln/>
        </p:spPr>
      </p:sp>
      <p:sp>
        <p:nvSpPr>
          <p:cNvPr id="8" name="Text 6"/>
          <p:cNvSpPr txBox="1"/>
          <p:nvPr/>
        </p:nvSpPr>
        <p:spPr>
          <a:xfrm>
            <a:off x="4645152" y="2130552"/>
            <a:ext cx="2871216" cy="457200"/>
          </a:xfrm>
          <a:prstGeom prst="rect">
            <a:avLst/>
          </a:prstGeom>
          <a:noFill/>
          <a:ln/>
        </p:spPr>
        <p:txBody>
          <a:bodyPr wrap="square" lIns="0" tIns="0" rIns="0" bIns="0" rtlCol="0" anchor="ctr"/>
          <a:lstStyle/>
          <a:p>
            <a:pPr indent="0" marL="0">
              <a:buNone/>
            </a:pPr>
            <a:r>
              <a:rPr lang="en-US" sz="1600" b="1" dirty="0">
                <a:solidFill>
                  <a:srgbClr val="065A82"/>
                </a:solidFill>
                <a:latin typeface="Calibri" pitchFamily="34" charset="0"/>
                <a:ea typeface="Calibri" pitchFamily="34" charset="-122"/>
                <a:cs typeface="Calibri" pitchFamily="34" charset="-120"/>
              </a:rPr>
              <a:t>Digital Leads</a:t>
            </a:r>
            <a:endParaRPr lang="en-US" sz="1600" dirty="0"/>
          </a:p>
        </p:txBody>
      </p:sp>
      <p:sp>
        <p:nvSpPr>
          <p:cNvPr id="9" name="Text 7"/>
          <p:cNvSpPr txBox="1"/>
          <p:nvPr/>
        </p:nvSpPr>
        <p:spPr>
          <a:xfrm>
            <a:off x="4645152" y="2651760"/>
            <a:ext cx="2871216" cy="1965960"/>
          </a:xfrm>
          <a:prstGeom prst="rect">
            <a:avLst/>
          </a:prstGeom>
          <a:noFill/>
          <a:ln/>
        </p:spPr>
        <p:txBody>
          <a:bodyPr wrap="square" lIns="0" tIns="0" rIns="0" bIns="0" rtlCol="0" anchor="ctr"/>
          <a:lstStyle/>
          <a:p>
            <a:pPr indent="0" marL="0">
              <a:buNone/>
            </a:pPr>
            <a:r>
              <a:rPr lang="en-US" sz="1300" dirty="0">
                <a:solidFill>
                  <a:srgbClr val="4A5A66"/>
                </a:solidFill>
                <a:latin typeface="Calibri" pitchFamily="34" charset="0"/>
                <a:ea typeface="Calibri" pitchFamily="34" charset="-122"/>
                <a:cs typeface="Calibri" pitchFamily="34" charset="-120"/>
              </a:rPr>
              <a:t>Socialises change peer-to-peer inside departments. More durable than directive.</a:t>
            </a:r>
            <a:endParaRPr lang="en-US" sz="1300" dirty="0"/>
          </a:p>
        </p:txBody>
      </p:sp>
      <p:sp>
        <p:nvSpPr>
          <p:cNvPr id="10" name="Shape 8"/>
          <p:cNvSpPr/>
          <p:nvPr/>
        </p:nvSpPr>
        <p:spPr>
          <a:xfrm>
            <a:off x="8138160" y="1874520"/>
            <a:ext cx="3383280" cy="3017520"/>
          </a:xfrm>
          <a:prstGeom prst="roundRect">
            <a:avLst>
              <a:gd name="adj" fmla="val 3030"/>
            </a:avLst>
          </a:prstGeom>
          <a:solidFill>
            <a:srgbClr val="F4F7F9"/>
          </a:solidFill>
          <a:ln/>
        </p:spPr>
      </p:sp>
      <p:sp>
        <p:nvSpPr>
          <p:cNvPr id="11" name="Text 9"/>
          <p:cNvSpPr txBox="1"/>
          <p:nvPr/>
        </p:nvSpPr>
        <p:spPr>
          <a:xfrm>
            <a:off x="8394192" y="2130552"/>
            <a:ext cx="2871216" cy="457200"/>
          </a:xfrm>
          <a:prstGeom prst="rect">
            <a:avLst/>
          </a:prstGeom>
          <a:noFill/>
          <a:ln/>
        </p:spPr>
        <p:txBody>
          <a:bodyPr wrap="square" lIns="0" tIns="0" rIns="0" bIns="0" rtlCol="0" anchor="ctr"/>
          <a:lstStyle/>
          <a:p>
            <a:pPr indent="0" marL="0">
              <a:buNone/>
            </a:pPr>
            <a:r>
              <a:rPr lang="en-US" sz="1600" b="1" dirty="0">
                <a:solidFill>
                  <a:srgbClr val="065A82"/>
                </a:solidFill>
                <a:latin typeface="Calibri" pitchFamily="34" charset="0"/>
                <a:ea typeface="Calibri" pitchFamily="34" charset="-122"/>
                <a:cs typeface="Calibri" pitchFamily="34" charset="-120"/>
              </a:rPr>
              <a:t>Health Check cycle</a:t>
            </a:r>
            <a:endParaRPr lang="en-US" sz="1600" dirty="0"/>
          </a:p>
        </p:txBody>
      </p:sp>
      <p:sp>
        <p:nvSpPr>
          <p:cNvPr id="12" name="Text 10"/>
          <p:cNvSpPr txBox="1"/>
          <p:nvPr/>
        </p:nvSpPr>
        <p:spPr>
          <a:xfrm>
            <a:off x="8394192" y="2651760"/>
            <a:ext cx="2871216" cy="1965960"/>
          </a:xfrm>
          <a:prstGeom prst="rect">
            <a:avLst/>
          </a:prstGeom>
          <a:noFill/>
          <a:ln/>
        </p:spPr>
        <p:txBody>
          <a:bodyPr wrap="square" lIns="0" tIns="0" rIns="0" bIns="0" rtlCol="0" anchor="ctr"/>
          <a:lstStyle/>
          <a:p>
            <a:pPr indent="0" marL="0">
              <a:buNone/>
            </a:pPr>
            <a:r>
              <a:rPr lang="en-US" sz="1300" dirty="0">
                <a:solidFill>
                  <a:srgbClr val="4A5A66"/>
                </a:solidFill>
                <a:latin typeface="Calibri" pitchFamily="34" charset="0"/>
                <a:ea typeface="Calibri" pitchFamily="34" charset="-122"/>
                <a:cs typeface="Calibri" pitchFamily="34" charset="-120"/>
              </a:rPr>
              <a:t>Institutionalises the change so it survives any individual. Revisited and measured annually.</a:t>
            </a:r>
            <a:endParaRPr lang="en-US" sz="1300" dirty="0"/>
          </a:p>
        </p:txBody>
      </p:sp>
      <p:sp>
        <p:nvSpPr>
          <p:cNvPr id="13" name="Text 11"/>
          <p:cNvSpPr txBox="1"/>
          <p:nvPr/>
        </p:nvSpPr>
        <p:spPr>
          <a:xfrm>
            <a:off x="640080" y="5257800"/>
            <a:ext cx="10881360" cy="731520"/>
          </a:xfrm>
          <a:prstGeom prst="rect">
            <a:avLst/>
          </a:prstGeom>
          <a:noFill/>
          <a:ln/>
        </p:spPr>
        <p:txBody>
          <a:bodyPr wrap="square" lIns="0" tIns="0" rIns="0" bIns="0" rtlCol="0" anchor="ctr"/>
          <a:lstStyle/>
          <a:p>
            <a:pPr indent="0" marL="0">
              <a:buNone/>
            </a:pPr>
            <a:r>
              <a:rPr lang="en-US" sz="1500" dirty="0">
                <a:solidFill>
                  <a:srgbClr val="4A5A66"/>
                </a:solidFill>
                <a:latin typeface="Calibri" pitchFamily="34" charset="0"/>
                <a:ea typeface="Calibri" pitchFamily="34" charset="-122"/>
                <a:cs typeface="Calibri" pitchFamily="34" charset="-120"/>
              </a:rPr>
              <a:t>Why change fails here: change fatigue, and reliance on a single champion. When the Digital Education Manager post went, the framework lost its champion.</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11480"/>
            <a:ext cx="9418320" cy="822960"/>
          </a:xfrm>
          <a:prstGeom prst="rect">
            <a:avLst/>
          </a:prstGeom>
          <a:noFill/>
          <a:ln/>
        </p:spPr>
        <p:txBody>
          <a:bodyPr wrap="square" lIns="0" tIns="0" rIns="0" bIns="0" rtlCol="0" anchor="ctr"/>
          <a:lstStyle/>
          <a:p>
            <a:pPr indent="0" marL="0">
              <a:buNone/>
            </a:pPr>
            <a:r>
              <a:rPr lang="en-US" sz="3200" b="1" dirty="0">
                <a:solidFill>
                  <a:srgbClr val="065A82"/>
                </a:solidFill>
                <a:latin typeface="Cambria" pitchFamily="34" charset="0"/>
                <a:ea typeface="Cambria" pitchFamily="34" charset="-122"/>
                <a:cs typeface="Cambria" pitchFamily="34" charset="-120"/>
              </a:rPr>
              <a:t>Leadership without authority</a:t>
            </a:r>
            <a:endParaRPr lang="en-US" sz="3200" dirty="0"/>
          </a:p>
        </p:txBody>
      </p:sp>
      <p:sp>
        <p:nvSpPr>
          <p:cNvPr id="3" name="Text 1"/>
          <p:cNvSpPr txBox="1"/>
          <p:nvPr/>
        </p:nvSpPr>
        <p:spPr>
          <a:xfrm>
            <a:off x="10149840" y="457200"/>
            <a:ext cx="1371600" cy="411480"/>
          </a:xfrm>
          <a:prstGeom prst="roundRect">
            <a:avLst>
              <a:gd name="adj" fmla="val 17778"/>
            </a:avLst>
          </a:prstGeom>
          <a:solidFill>
            <a:srgbClr val="1C7293"/>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AC2.3</a:t>
            </a:r>
            <a:endParaRPr lang="en-US" sz="1200" dirty="0"/>
          </a:p>
        </p:txBody>
      </p:sp>
      <p:sp>
        <p:nvSpPr>
          <p:cNvPr id="4" name="Shape 2"/>
          <p:cNvSpPr/>
          <p:nvPr/>
        </p:nvSpPr>
        <p:spPr>
          <a:xfrm>
            <a:off x="640080" y="1828800"/>
            <a:ext cx="5120640" cy="3108960"/>
          </a:xfrm>
          <a:prstGeom prst="roundRect">
            <a:avLst>
              <a:gd name="adj" fmla="val 2941"/>
            </a:avLst>
          </a:prstGeom>
          <a:solidFill>
            <a:srgbClr val="F4F7F9"/>
          </a:solidFill>
          <a:ln/>
        </p:spPr>
      </p:sp>
      <p:sp>
        <p:nvSpPr>
          <p:cNvPr id="5" name="Text 3"/>
          <p:cNvSpPr txBox="1"/>
          <p:nvPr/>
        </p:nvSpPr>
        <p:spPr>
          <a:xfrm>
            <a:off x="960120" y="2194560"/>
            <a:ext cx="4480560" cy="2468880"/>
          </a:xfrm>
          <a:prstGeom prst="rect">
            <a:avLst/>
          </a:prstGeom>
          <a:noFill/>
          <a:ln/>
        </p:spPr>
        <p:txBody>
          <a:bodyPr wrap="square" lIns="0" tIns="0" rIns="0" bIns="0" rtlCol="0" anchor="ctr"/>
          <a:lstStyle/>
          <a:p>
            <a:pPr indent="0" marL="0">
              <a:buNone/>
            </a:pPr>
            <a:r>
              <a:rPr lang="en-US" sz="1900" b="1" dirty="0">
                <a:solidFill>
                  <a:srgbClr val="4A5A66"/>
                </a:solidFill>
                <a:latin typeface="Calibri" pitchFamily="34" charset="0"/>
                <a:ea typeface="Calibri" pitchFamily="34" charset="-122"/>
                <a:cs typeface="Calibri" pitchFamily="34" charset="-120"/>
              </a:rPr>
              <a:t>Mandate</a:t>
            </a:r>
            <a:endParaRPr lang="en-US" sz="1900" dirty="0"/>
          </a:p>
          <a:p>
            <a:pPr indent="0" marL="0">
              <a:buNone/>
            </a:pPr>
            <a:r>
              <a:rPr lang="en-US" sz="1400" dirty="0">
                <a:solidFill>
                  <a:srgbClr val="4A5A66"/>
                </a:solidFill>
                <a:latin typeface="Calibri" pitchFamily="34" charset="0"/>
                <a:ea typeface="Calibri" pitchFamily="34" charset="-122"/>
                <a:cs typeface="Calibri" pitchFamily="34" charset="-120"/>
              </a:rPr>
              <a:t>Assumes positional authority and budget control. Orders compliance. Was never available to me.</a:t>
            </a:r>
            <a:endParaRPr lang="en-US" sz="1900" dirty="0"/>
          </a:p>
        </p:txBody>
      </p:sp>
      <p:sp>
        <p:nvSpPr>
          <p:cNvPr id="6" name="Shape 4"/>
          <p:cNvSpPr/>
          <p:nvPr/>
        </p:nvSpPr>
        <p:spPr>
          <a:xfrm>
            <a:off x="6217920" y="1828800"/>
            <a:ext cx="5120640" cy="3108960"/>
          </a:xfrm>
          <a:prstGeom prst="roundRect">
            <a:avLst>
              <a:gd name="adj" fmla="val 2941"/>
            </a:avLst>
          </a:prstGeom>
          <a:solidFill>
            <a:srgbClr val="065A82"/>
          </a:solidFill>
          <a:ln/>
        </p:spPr>
      </p:sp>
      <p:sp>
        <p:nvSpPr>
          <p:cNvPr id="7" name="Text 5"/>
          <p:cNvSpPr txBox="1"/>
          <p:nvPr/>
        </p:nvSpPr>
        <p:spPr>
          <a:xfrm>
            <a:off x="6537960" y="2194560"/>
            <a:ext cx="4480560" cy="2468880"/>
          </a:xfrm>
          <a:prstGeom prst="rect">
            <a:avLst/>
          </a:prstGeom>
          <a:noFill/>
          <a:ln/>
        </p:spPr>
        <p:txBody>
          <a:bodyPr wrap="square" lIns="0" tIns="0" rIns="0" bIns="0" rtlCol="0" anchor="ctr"/>
          <a:lstStyle/>
          <a:p>
            <a:pPr indent="0" marL="0">
              <a:buNone/>
            </a:pPr>
            <a:r>
              <a:rPr lang="en-US" sz="1900" b="1" dirty="0">
                <a:solidFill>
                  <a:srgbClr val="FFFFFF"/>
                </a:solidFill>
                <a:latin typeface="Calibri" pitchFamily="34" charset="0"/>
                <a:ea typeface="Calibri" pitchFamily="34" charset="-122"/>
                <a:cs typeface="Calibri" pitchFamily="34" charset="-120"/>
              </a:rPr>
              <a:t>Influence</a:t>
            </a:r>
            <a:endParaRPr lang="en-US" sz="1900" dirty="0"/>
          </a:p>
          <a:p>
            <a:pPr indent="0" marL="0">
              <a:buNone/>
            </a:pPr>
            <a:r>
              <a:rPr lang="en-US" sz="1400" dirty="0">
                <a:solidFill>
                  <a:srgbClr val="CADCFC"/>
                </a:solidFill>
                <a:latin typeface="Calibri" pitchFamily="34" charset="0"/>
                <a:ea typeface="Calibri" pitchFamily="34" charset="-122"/>
                <a:cs typeface="Calibri" pitchFamily="34" charset="-120"/>
              </a:rPr>
              <a:t>Listen to the fear, then answer it structurally. The staff-hold-their-own-data model built the psychological safety that made honest engagement possible.</a:t>
            </a:r>
            <a:endParaRPr lang="en-US" sz="1900" dirty="0"/>
          </a:p>
        </p:txBody>
      </p:sp>
      <p:sp>
        <p:nvSpPr>
          <p:cNvPr id="8" name="Text 6"/>
          <p:cNvSpPr txBox="1"/>
          <p:nvPr/>
        </p:nvSpPr>
        <p:spPr>
          <a:xfrm>
            <a:off x="640080" y="5349240"/>
            <a:ext cx="10881360" cy="457200"/>
          </a:xfrm>
          <a:prstGeom prst="rect">
            <a:avLst/>
          </a:prstGeom>
          <a:noFill/>
          <a:ln/>
        </p:spPr>
        <p:txBody>
          <a:bodyPr wrap="square" lIns="0" tIns="0" rIns="0" bIns="0" rtlCol="0" anchor="ctr"/>
          <a:lstStyle/>
          <a:p>
            <a:pPr indent="0" marL="0">
              <a:buNone/>
            </a:pPr>
            <a:r>
              <a:rPr lang="en-US" sz="1600" i="1" dirty="0">
                <a:solidFill>
                  <a:srgbClr val="065A82"/>
                </a:solidFill>
                <a:latin typeface="Calibri" pitchFamily="34" charset="0"/>
                <a:ea typeface="Calibri" pitchFamily="34" charset="-122"/>
                <a:cs typeface="Calibri" pitchFamily="34" charset="-120"/>
              </a:rPr>
              <a:t>The objective is not compliance. It is curiosity.  (Goleman, 2004)</a:t>
            </a:r>
            <a:endParaRPr lang="en-US" sz="1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11480"/>
            <a:ext cx="9418320" cy="822960"/>
          </a:xfrm>
          <a:prstGeom prst="rect">
            <a:avLst/>
          </a:prstGeom>
          <a:noFill/>
          <a:ln/>
        </p:spPr>
        <p:txBody>
          <a:bodyPr wrap="square" lIns="0" tIns="0" rIns="0" bIns="0" rtlCol="0" anchor="ctr"/>
          <a:lstStyle/>
          <a:p>
            <a:pPr indent="0" marL="0">
              <a:buNone/>
            </a:pPr>
            <a:r>
              <a:rPr lang="en-US" sz="3200" b="1" dirty="0">
                <a:solidFill>
                  <a:srgbClr val="065A82"/>
                </a:solidFill>
                <a:latin typeface="Cambria" pitchFamily="34" charset="0"/>
                <a:ea typeface="Cambria" pitchFamily="34" charset="-122"/>
                <a:cs typeface="Cambria" pitchFamily="34" charset="-120"/>
              </a:rPr>
              <a:t>Diagnosing the real barrier</a:t>
            </a:r>
            <a:endParaRPr lang="en-US" sz="3200" dirty="0"/>
          </a:p>
        </p:txBody>
      </p:sp>
      <p:sp>
        <p:nvSpPr>
          <p:cNvPr id="3" name="Text 1"/>
          <p:cNvSpPr txBox="1"/>
          <p:nvPr/>
        </p:nvSpPr>
        <p:spPr>
          <a:xfrm>
            <a:off x="10149840" y="457200"/>
            <a:ext cx="1371600" cy="411480"/>
          </a:xfrm>
          <a:prstGeom prst="roundRect">
            <a:avLst>
              <a:gd name="adj" fmla="val 17778"/>
            </a:avLst>
          </a:prstGeom>
          <a:solidFill>
            <a:srgbClr val="1C7293"/>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AC2.3</a:t>
            </a:r>
            <a:endParaRPr lang="en-US" sz="1200" dirty="0"/>
          </a:p>
        </p:txBody>
      </p:sp>
      <p:sp>
        <p:nvSpPr>
          <p:cNvPr id="4" name="Shape 2"/>
          <p:cNvSpPr/>
          <p:nvPr/>
        </p:nvSpPr>
        <p:spPr>
          <a:xfrm>
            <a:off x="640080" y="2011680"/>
            <a:ext cx="502920" cy="502920"/>
          </a:xfrm>
          <a:prstGeom prst="ellipse">
            <a:avLst/>
          </a:prstGeom>
          <a:solidFill>
            <a:srgbClr val="065A82"/>
          </a:solidFill>
          <a:ln/>
        </p:spPr>
      </p:sp>
      <p:sp>
        <p:nvSpPr>
          <p:cNvPr id="5" name="Text 3"/>
          <p:cNvSpPr txBox="1"/>
          <p:nvPr/>
        </p:nvSpPr>
        <p:spPr>
          <a:xfrm>
            <a:off x="640080" y="201168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6" name="Text 4"/>
          <p:cNvSpPr txBox="1"/>
          <p:nvPr/>
        </p:nvSpPr>
        <p:spPr>
          <a:xfrm>
            <a:off x="640080" y="2743200"/>
            <a:ext cx="3383280" cy="457200"/>
          </a:xfrm>
          <a:prstGeom prst="rect">
            <a:avLst/>
          </a:prstGeom>
          <a:noFill/>
          <a:ln/>
        </p:spPr>
        <p:txBody>
          <a:bodyPr wrap="square" lIns="0" tIns="0" rIns="0" bIns="0" rtlCol="0" anchor="ctr"/>
          <a:lstStyle/>
          <a:p>
            <a:pPr indent="0" marL="0">
              <a:buNone/>
            </a:pPr>
            <a:r>
              <a:rPr lang="en-US" sz="1800" b="1" dirty="0">
                <a:solidFill>
                  <a:srgbClr val="1A1A1A"/>
                </a:solidFill>
                <a:latin typeface="Calibri" pitchFamily="34" charset="0"/>
                <a:ea typeface="Calibri" pitchFamily="34" charset="-122"/>
                <a:cs typeface="Calibri" pitchFamily="34" charset="-120"/>
              </a:rPr>
              <a:t>Looked like resistance</a:t>
            </a:r>
            <a:endParaRPr lang="en-US" sz="1800" dirty="0"/>
          </a:p>
        </p:txBody>
      </p:sp>
      <p:sp>
        <p:nvSpPr>
          <p:cNvPr id="7" name="Text 5"/>
          <p:cNvSpPr txBox="1"/>
          <p:nvPr/>
        </p:nvSpPr>
        <p:spPr>
          <a:xfrm>
            <a:off x="640080" y="3291840"/>
            <a:ext cx="3383280" cy="1463040"/>
          </a:xfrm>
          <a:prstGeom prst="rect">
            <a:avLst/>
          </a:prstGeom>
          <a:noFill/>
          <a:ln/>
        </p:spPr>
        <p:txBody>
          <a:bodyPr wrap="square" lIns="0" tIns="0" rIns="0" bIns="0" rtlCol="0" anchor="ctr"/>
          <a:lstStyle/>
          <a:p>
            <a:pPr indent="0" marL="0">
              <a:buNone/>
            </a:pPr>
            <a:r>
              <a:rPr lang="en-US" sz="1500" dirty="0">
                <a:solidFill>
                  <a:srgbClr val="4A5A66"/>
                </a:solidFill>
                <a:latin typeface="Calibri" pitchFamily="34" charset="0"/>
                <a:ea typeface="Calibri" pitchFamily="34" charset="-122"/>
                <a:cs typeface="Calibri" pitchFamily="34" charset="-120"/>
              </a:rPr>
              <a:t>Staff were not adopting advanced pedagogical tools.</a:t>
            </a:r>
            <a:endParaRPr lang="en-US" sz="1500" dirty="0"/>
          </a:p>
        </p:txBody>
      </p:sp>
      <p:sp>
        <p:nvSpPr>
          <p:cNvPr id="8" name="Shape 6"/>
          <p:cNvSpPr/>
          <p:nvPr/>
        </p:nvSpPr>
        <p:spPr>
          <a:xfrm>
            <a:off x="4096512" y="2240280"/>
            <a:ext cx="128016" cy="41148"/>
          </a:xfrm>
          <a:prstGeom prst="rect">
            <a:avLst/>
          </a:prstGeom>
          <a:solidFill>
            <a:srgbClr val="C7D5DE"/>
          </a:solidFill>
          <a:ln/>
        </p:spPr>
      </p:sp>
      <p:sp>
        <p:nvSpPr>
          <p:cNvPr id="9" name="Shape 7"/>
          <p:cNvSpPr/>
          <p:nvPr/>
        </p:nvSpPr>
        <p:spPr>
          <a:xfrm>
            <a:off x="4343400" y="2011680"/>
            <a:ext cx="502920" cy="502920"/>
          </a:xfrm>
          <a:prstGeom prst="ellipse">
            <a:avLst/>
          </a:prstGeom>
          <a:solidFill>
            <a:srgbClr val="065A82"/>
          </a:solidFill>
          <a:ln/>
        </p:spPr>
      </p:sp>
      <p:sp>
        <p:nvSpPr>
          <p:cNvPr id="10" name="Text 8"/>
          <p:cNvSpPr txBox="1"/>
          <p:nvPr/>
        </p:nvSpPr>
        <p:spPr>
          <a:xfrm>
            <a:off x="4343400" y="201168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1" name="Text 9"/>
          <p:cNvSpPr txBox="1"/>
          <p:nvPr/>
        </p:nvSpPr>
        <p:spPr>
          <a:xfrm>
            <a:off x="4343400" y="2743200"/>
            <a:ext cx="3383280" cy="457200"/>
          </a:xfrm>
          <a:prstGeom prst="rect">
            <a:avLst/>
          </a:prstGeom>
          <a:noFill/>
          <a:ln/>
        </p:spPr>
        <p:txBody>
          <a:bodyPr wrap="square" lIns="0" tIns="0" rIns="0" bIns="0" rtlCol="0" anchor="ctr"/>
          <a:lstStyle/>
          <a:p>
            <a:pPr indent="0" marL="0">
              <a:buNone/>
            </a:pPr>
            <a:r>
              <a:rPr lang="en-US" sz="1800" b="1" dirty="0">
                <a:solidFill>
                  <a:srgbClr val="1A1A1A"/>
                </a:solidFill>
                <a:latin typeface="Calibri" pitchFamily="34" charset="0"/>
                <a:ea typeface="Calibri" pitchFamily="34" charset="-122"/>
                <a:cs typeface="Calibri" pitchFamily="34" charset="-120"/>
              </a:rPr>
              <a:t>Diagnostics said otherwise</a:t>
            </a:r>
            <a:endParaRPr lang="en-US" sz="1800" dirty="0"/>
          </a:p>
        </p:txBody>
      </p:sp>
      <p:sp>
        <p:nvSpPr>
          <p:cNvPr id="12" name="Text 10"/>
          <p:cNvSpPr txBox="1"/>
          <p:nvPr/>
        </p:nvSpPr>
        <p:spPr>
          <a:xfrm>
            <a:off x="4343400" y="3291840"/>
            <a:ext cx="3383280" cy="1463040"/>
          </a:xfrm>
          <a:prstGeom prst="rect">
            <a:avLst/>
          </a:prstGeom>
          <a:noFill/>
          <a:ln/>
        </p:spPr>
        <p:txBody>
          <a:bodyPr wrap="square" lIns="0" tIns="0" rIns="0" bIns="0" rtlCol="0" anchor="ctr"/>
          <a:lstStyle/>
          <a:p>
            <a:pPr indent="0" marL="0">
              <a:buNone/>
            </a:pPr>
            <a:r>
              <a:rPr lang="en-US" sz="1500" dirty="0">
                <a:solidFill>
                  <a:srgbClr val="4A5A66"/>
                </a:solidFill>
                <a:latin typeface="Calibri" pitchFamily="34" charset="0"/>
                <a:ea typeface="Calibri" pitchFamily="34" charset="-122"/>
                <a:cs typeface="Calibri" pitchFamily="34" charset="-120"/>
              </a:rPr>
              <a:t>Baseline data showed a foundational digital skills deficit.</a:t>
            </a:r>
            <a:endParaRPr lang="en-US" sz="1500" dirty="0"/>
          </a:p>
        </p:txBody>
      </p:sp>
      <p:sp>
        <p:nvSpPr>
          <p:cNvPr id="13" name="Shape 11"/>
          <p:cNvSpPr/>
          <p:nvPr/>
        </p:nvSpPr>
        <p:spPr>
          <a:xfrm>
            <a:off x="7799832" y="2240280"/>
            <a:ext cx="128016" cy="41148"/>
          </a:xfrm>
          <a:prstGeom prst="rect">
            <a:avLst/>
          </a:prstGeom>
          <a:solidFill>
            <a:srgbClr val="C7D5DE"/>
          </a:solidFill>
          <a:ln/>
        </p:spPr>
      </p:sp>
      <p:sp>
        <p:nvSpPr>
          <p:cNvPr id="14" name="Shape 12"/>
          <p:cNvSpPr/>
          <p:nvPr/>
        </p:nvSpPr>
        <p:spPr>
          <a:xfrm>
            <a:off x="8046720" y="2011680"/>
            <a:ext cx="502920" cy="502920"/>
          </a:xfrm>
          <a:prstGeom prst="ellipse">
            <a:avLst/>
          </a:prstGeom>
          <a:solidFill>
            <a:srgbClr val="065A82"/>
          </a:solidFill>
          <a:ln/>
        </p:spPr>
      </p:sp>
      <p:sp>
        <p:nvSpPr>
          <p:cNvPr id="15" name="Text 13"/>
          <p:cNvSpPr txBox="1"/>
          <p:nvPr/>
        </p:nvSpPr>
        <p:spPr>
          <a:xfrm>
            <a:off x="8046720" y="201168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16" name="Text 14"/>
          <p:cNvSpPr txBox="1"/>
          <p:nvPr/>
        </p:nvSpPr>
        <p:spPr>
          <a:xfrm>
            <a:off x="8046720" y="2743200"/>
            <a:ext cx="3383280" cy="457200"/>
          </a:xfrm>
          <a:prstGeom prst="rect">
            <a:avLst/>
          </a:prstGeom>
          <a:noFill/>
          <a:ln/>
        </p:spPr>
        <p:txBody>
          <a:bodyPr wrap="square" lIns="0" tIns="0" rIns="0" bIns="0" rtlCol="0" anchor="ctr"/>
          <a:lstStyle/>
          <a:p>
            <a:pPr indent="0" marL="0">
              <a:buNone/>
            </a:pPr>
            <a:r>
              <a:rPr lang="en-US" sz="1800" b="1" dirty="0">
                <a:solidFill>
                  <a:srgbClr val="1A1A1A"/>
                </a:solidFill>
                <a:latin typeface="Calibri" pitchFamily="34" charset="0"/>
                <a:ea typeface="Calibri" pitchFamily="34" charset="-122"/>
                <a:cs typeface="Calibri" pitchFamily="34" charset="-120"/>
              </a:rPr>
              <a:t>So the project pivoted</a:t>
            </a:r>
            <a:endParaRPr lang="en-US" sz="1800" dirty="0"/>
          </a:p>
        </p:txBody>
      </p:sp>
      <p:sp>
        <p:nvSpPr>
          <p:cNvPr id="17" name="Text 15"/>
          <p:cNvSpPr txBox="1"/>
          <p:nvPr/>
        </p:nvSpPr>
        <p:spPr>
          <a:xfrm>
            <a:off x="8046720" y="3291840"/>
            <a:ext cx="3383280" cy="1463040"/>
          </a:xfrm>
          <a:prstGeom prst="rect">
            <a:avLst/>
          </a:prstGeom>
          <a:noFill/>
          <a:ln/>
        </p:spPr>
        <p:txBody>
          <a:bodyPr wrap="square" lIns="0" tIns="0" rIns="0" bIns="0" rtlCol="0" anchor="ctr"/>
          <a:lstStyle/>
          <a:p>
            <a:pPr indent="0" marL="0">
              <a:buNone/>
            </a:pPr>
            <a:r>
              <a:rPr lang="en-US" sz="1500" dirty="0">
                <a:solidFill>
                  <a:srgbClr val="4A5A66"/>
                </a:solidFill>
                <a:latin typeface="Calibri" pitchFamily="34" charset="0"/>
                <a:ea typeface="Calibri" pitchFamily="34" charset="-122"/>
                <a:cs typeface="Calibri" pitchFamily="34" charset="-120"/>
              </a:rPr>
              <a:t>Pause the wider framework, secure the foundations, deliver targeted resources.</a:t>
            </a:r>
            <a:endParaRPr lang="en-US" sz="1500" dirty="0"/>
          </a:p>
        </p:txBody>
      </p:sp>
      <p:sp>
        <p:nvSpPr>
          <p:cNvPr id="18" name="Text 16"/>
          <p:cNvSpPr txBox="1"/>
          <p:nvPr/>
        </p:nvSpPr>
        <p:spPr>
          <a:xfrm>
            <a:off x="640080" y="5349240"/>
            <a:ext cx="10881360" cy="457200"/>
          </a:xfrm>
          <a:prstGeom prst="rect">
            <a:avLst/>
          </a:prstGeom>
          <a:noFill/>
          <a:ln/>
        </p:spPr>
        <p:txBody>
          <a:bodyPr wrap="square" lIns="0" tIns="0" rIns="0" bIns="0" rtlCol="0" anchor="ctr"/>
          <a:lstStyle/>
          <a:p>
            <a:pPr indent="0" marL="0">
              <a:buNone/>
            </a:pPr>
            <a:r>
              <a:rPr lang="en-US" sz="1600" i="1" dirty="0">
                <a:solidFill>
                  <a:srgbClr val="065A82"/>
                </a:solidFill>
                <a:latin typeface="Calibri" pitchFamily="34" charset="0"/>
                <a:ea typeface="Calibri" pitchFamily="34" charset="-122"/>
                <a:cs typeface="Calibri" pitchFamily="34" charset="-120"/>
              </a:rPr>
              <a:t>If people do not understand the basic controls, no amount of advocacy for advanced tools will succeed.</a:t>
            </a:r>
            <a:endParaRPr lang="en-US" sz="1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11480"/>
            <a:ext cx="9418320" cy="822960"/>
          </a:xfrm>
          <a:prstGeom prst="rect">
            <a:avLst/>
          </a:prstGeom>
          <a:noFill/>
          <a:ln/>
        </p:spPr>
        <p:txBody>
          <a:bodyPr wrap="square" lIns="0" tIns="0" rIns="0" bIns="0" rtlCol="0" anchor="ctr"/>
          <a:lstStyle/>
          <a:p>
            <a:pPr indent="0" marL="0">
              <a:buNone/>
            </a:pPr>
            <a:r>
              <a:rPr lang="en-US" sz="3200" b="1" dirty="0">
                <a:solidFill>
                  <a:srgbClr val="065A82"/>
                </a:solidFill>
                <a:latin typeface="Cambria" pitchFamily="34" charset="0"/>
                <a:ea typeface="Cambria" pitchFamily="34" charset="-122"/>
                <a:cs typeface="Cambria" pitchFamily="34" charset="-120"/>
              </a:rPr>
              <a:t>Why engage stakeholders throughout</a:t>
            </a:r>
            <a:endParaRPr lang="en-US" sz="3200" dirty="0"/>
          </a:p>
        </p:txBody>
      </p:sp>
      <p:sp>
        <p:nvSpPr>
          <p:cNvPr id="3" name="Text 1"/>
          <p:cNvSpPr txBox="1"/>
          <p:nvPr/>
        </p:nvSpPr>
        <p:spPr>
          <a:xfrm>
            <a:off x="10149840" y="457200"/>
            <a:ext cx="1371600" cy="411480"/>
          </a:xfrm>
          <a:prstGeom prst="roundRect">
            <a:avLst>
              <a:gd name="adj" fmla="val 17778"/>
            </a:avLst>
          </a:prstGeom>
          <a:solidFill>
            <a:srgbClr val="1C7293"/>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AC2.4</a:t>
            </a:r>
            <a:endParaRPr lang="en-US" sz="1200" dirty="0"/>
          </a:p>
        </p:txBody>
      </p:sp>
      <p:sp>
        <p:nvSpPr>
          <p:cNvPr id="4" name="Text 2"/>
          <p:cNvSpPr txBox="1"/>
          <p:nvPr/>
        </p:nvSpPr>
        <p:spPr>
          <a:xfrm>
            <a:off x="640080" y="1554480"/>
            <a:ext cx="10881360" cy="457200"/>
          </a:xfrm>
          <a:prstGeom prst="rect">
            <a:avLst/>
          </a:prstGeom>
          <a:noFill/>
          <a:ln/>
        </p:spPr>
        <p:txBody>
          <a:bodyPr wrap="square" lIns="0" tIns="0" rIns="0" bIns="0" rtlCol="0" anchor="ctr"/>
          <a:lstStyle/>
          <a:p>
            <a:pPr indent="0" marL="0">
              <a:buNone/>
            </a:pPr>
            <a:r>
              <a:rPr lang="en-US" sz="1700" i="1" dirty="0">
                <a:solidFill>
                  <a:srgbClr val="065A82"/>
                </a:solidFill>
                <a:latin typeface="Calibri" pitchFamily="34" charset="0"/>
                <a:ea typeface="Calibri" pitchFamily="34" charset="-122"/>
                <a:cs typeface="Calibri" pitchFamily="34" charset="-120"/>
              </a:rPr>
              <a:t>Engaging only at launch and closure is management by broadcast, not by influence.</a:t>
            </a:r>
            <a:endParaRPr lang="en-US" sz="1700" dirty="0"/>
          </a:p>
        </p:txBody>
      </p:sp>
      <p:sp>
        <p:nvSpPr>
          <p:cNvPr id="5" name="Shape 3"/>
          <p:cNvSpPr/>
          <p:nvPr/>
        </p:nvSpPr>
        <p:spPr>
          <a:xfrm>
            <a:off x="640080" y="2514600"/>
            <a:ext cx="502920" cy="502920"/>
          </a:xfrm>
          <a:prstGeom prst="ellipse">
            <a:avLst/>
          </a:prstGeom>
          <a:solidFill>
            <a:srgbClr val="1C7293"/>
          </a:solidFill>
          <a:ln/>
        </p:spPr>
      </p:sp>
      <p:sp>
        <p:nvSpPr>
          <p:cNvPr id="6" name="Text 4"/>
          <p:cNvSpPr txBox="1"/>
          <p:nvPr/>
        </p:nvSpPr>
        <p:spPr>
          <a:xfrm>
            <a:off x="640080" y="251460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7" name="Text 5"/>
          <p:cNvSpPr txBox="1"/>
          <p:nvPr/>
        </p:nvSpPr>
        <p:spPr>
          <a:xfrm>
            <a:off x="1371600" y="2487168"/>
            <a:ext cx="10058400" cy="365760"/>
          </a:xfrm>
          <a:prstGeom prst="rect">
            <a:avLst/>
          </a:prstGeom>
          <a:noFill/>
          <a:ln/>
        </p:spPr>
        <p:txBody>
          <a:bodyPr wrap="square" lIns="0" tIns="0" rIns="0" bIns="0" rtlCol="0" anchor="ctr"/>
          <a:lstStyle/>
          <a:p>
            <a:pPr indent="0" marL="0">
              <a:buNone/>
            </a:pPr>
            <a:r>
              <a:rPr lang="en-US" sz="1700" b="1" dirty="0">
                <a:solidFill>
                  <a:srgbClr val="1A1A1A"/>
                </a:solidFill>
                <a:latin typeface="Calibri" pitchFamily="34" charset="0"/>
                <a:ea typeface="Calibri" pitchFamily="34" charset="-122"/>
                <a:cs typeface="Calibri" pitchFamily="34" charset="-120"/>
              </a:rPr>
              <a:t>Operational reality shifts daily</a:t>
            </a:r>
            <a:endParaRPr lang="en-US" sz="1700" dirty="0"/>
          </a:p>
        </p:txBody>
      </p:sp>
      <p:sp>
        <p:nvSpPr>
          <p:cNvPr id="8" name="Text 6"/>
          <p:cNvSpPr txBox="1"/>
          <p:nvPr/>
        </p:nvSpPr>
        <p:spPr>
          <a:xfrm>
            <a:off x="1371600" y="2898648"/>
            <a:ext cx="10058400" cy="868680"/>
          </a:xfrm>
          <a:prstGeom prst="rect">
            <a:avLst/>
          </a:prstGeom>
          <a:noFill/>
          <a:ln/>
        </p:spPr>
        <p:txBody>
          <a:bodyPr wrap="square" lIns="0" tIns="0" rIns="0" bIns="0" rtlCol="0" anchor="ctr"/>
          <a:lstStyle/>
          <a:p>
            <a:pPr indent="0" marL="0">
              <a:buNone/>
            </a:pPr>
            <a:r>
              <a:rPr lang="en-US" sz="1500" dirty="0">
                <a:solidFill>
                  <a:srgbClr val="4A5A66"/>
                </a:solidFill>
                <a:latin typeface="Calibri" pitchFamily="34" charset="0"/>
                <a:ea typeface="Calibri" pitchFamily="34" charset="-122"/>
                <a:cs typeface="Calibri" pitchFamily="34" charset="-120"/>
              </a:rPr>
              <a:t>Stop engaging and you lose sight of the shifts, so timelines and support stop matching what is actually happening.</a:t>
            </a:r>
            <a:endParaRPr lang="en-US" sz="1500" dirty="0"/>
          </a:p>
        </p:txBody>
      </p:sp>
      <p:sp>
        <p:nvSpPr>
          <p:cNvPr id="9" name="Shape 7"/>
          <p:cNvSpPr/>
          <p:nvPr/>
        </p:nvSpPr>
        <p:spPr>
          <a:xfrm>
            <a:off x="640080" y="3904488"/>
            <a:ext cx="502920" cy="502920"/>
          </a:xfrm>
          <a:prstGeom prst="ellipse">
            <a:avLst/>
          </a:prstGeom>
          <a:solidFill>
            <a:srgbClr val="1C7293"/>
          </a:solidFill>
          <a:ln/>
        </p:spPr>
      </p:sp>
      <p:sp>
        <p:nvSpPr>
          <p:cNvPr id="10" name="Text 8"/>
          <p:cNvSpPr txBox="1"/>
          <p:nvPr/>
        </p:nvSpPr>
        <p:spPr>
          <a:xfrm>
            <a:off x="640080" y="3904488"/>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1" name="Text 9"/>
          <p:cNvSpPr txBox="1"/>
          <p:nvPr/>
        </p:nvSpPr>
        <p:spPr>
          <a:xfrm>
            <a:off x="1371600" y="3877056"/>
            <a:ext cx="10058400" cy="365760"/>
          </a:xfrm>
          <a:prstGeom prst="rect">
            <a:avLst/>
          </a:prstGeom>
          <a:noFill/>
          <a:ln/>
        </p:spPr>
        <p:txBody>
          <a:bodyPr wrap="square" lIns="0" tIns="0" rIns="0" bIns="0" rtlCol="0" anchor="ctr"/>
          <a:lstStyle/>
          <a:p>
            <a:pPr indent="0" marL="0">
              <a:buNone/>
            </a:pPr>
            <a:r>
              <a:rPr lang="en-US" sz="1700" b="1" dirty="0">
                <a:solidFill>
                  <a:srgbClr val="1A1A1A"/>
                </a:solidFill>
                <a:latin typeface="Calibri" pitchFamily="34" charset="0"/>
                <a:ea typeface="Calibri" pitchFamily="34" charset="-122"/>
                <a:cs typeface="Calibri" pitchFamily="34" charset="-120"/>
              </a:rPr>
              <a:t>Engagement was the only currency I had</a:t>
            </a:r>
            <a:endParaRPr lang="en-US" sz="1700" dirty="0"/>
          </a:p>
        </p:txBody>
      </p:sp>
      <p:sp>
        <p:nvSpPr>
          <p:cNvPr id="12" name="Text 10"/>
          <p:cNvSpPr txBox="1"/>
          <p:nvPr/>
        </p:nvSpPr>
        <p:spPr>
          <a:xfrm>
            <a:off x="1371600" y="4288536"/>
            <a:ext cx="10058400" cy="868680"/>
          </a:xfrm>
          <a:prstGeom prst="rect">
            <a:avLst/>
          </a:prstGeom>
          <a:noFill/>
          <a:ln/>
        </p:spPr>
        <p:txBody>
          <a:bodyPr wrap="square" lIns="0" tIns="0" rIns="0" bIns="0" rtlCol="0" anchor="ctr"/>
          <a:lstStyle/>
          <a:p>
            <a:pPr indent="0" marL="0">
              <a:buNone/>
            </a:pPr>
            <a:r>
              <a:rPr lang="en-US" sz="1500" dirty="0">
                <a:solidFill>
                  <a:srgbClr val="4A5A66"/>
                </a:solidFill>
                <a:latin typeface="Calibri" pitchFamily="34" charset="0"/>
                <a:ea typeface="Calibri" pitchFamily="34" charset="-122"/>
                <a:cs typeface="Calibri" pitchFamily="34" charset="-120"/>
              </a:rPr>
              <a:t>Without positional authority nothing could be mandated. It had to be negotiated.</a:t>
            </a:r>
            <a:endParaRPr lang="en-US" sz="1500" dirty="0"/>
          </a:p>
        </p:txBody>
      </p:sp>
      <p:sp>
        <p:nvSpPr>
          <p:cNvPr id="13" name="Shape 11"/>
          <p:cNvSpPr/>
          <p:nvPr/>
        </p:nvSpPr>
        <p:spPr>
          <a:xfrm>
            <a:off x="640080" y="5294376"/>
            <a:ext cx="502920" cy="502920"/>
          </a:xfrm>
          <a:prstGeom prst="ellipse">
            <a:avLst/>
          </a:prstGeom>
          <a:solidFill>
            <a:srgbClr val="1C7293"/>
          </a:solidFill>
          <a:ln/>
        </p:spPr>
      </p:sp>
      <p:sp>
        <p:nvSpPr>
          <p:cNvPr id="14" name="Text 12"/>
          <p:cNvSpPr txBox="1"/>
          <p:nvPr/>
        </p:nvSpPr>
        <p:spPr>
          <a:xfrm>
            <a:off x="640080" y="5294376"/>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15" name="Text 13"/>
          <p:cNvSpPr txBox="1"/>
          <p:nvPr/>
        </p:nvSpPr>
        <p:spPr>
          <a:xfrm>
            <a:off x="1371600" y="5266944"/>
            <a:ext cx="10058400" cy="365760"/>
          </a:xfrm>
          <a:prstGeom prst="rect">
            <a:avLst/>
          </a:prstGeom>
          <a:noFill/>
          <a:ln/>
        </p:spPr>
        <p:txBody>
          <a:bodyPr wrap="square" lIns="0" tIns="0" rIns="0" bIns="0" rtlCol="0" anchor="ctr"/>
          <a:lstStyle/>
          <a:p>
            <a:pPr indent="0" marL="0">
              <a:buNone/>
            </a:pPr>
            <a:r>
              <a:rPr lang="en-US" sz="1700" b="1" dirty="0">
                <a:solidFill>
                  <a:srgbClr val="1A1A1A"/>
                </a:solidFill>
                <a:latin typeface="Calibri" pitchFamily="34" charset="0"/>
                <a:ea typeface="Calibri" pitchFamily="34" charset="-122"/>
                <a:cs typeface="Calibri" pitchFamily="34" charset="-120"/>
              </a:rPr>
              <a:t>What it bought</a:t>
            </a:r>
            <a:endParaRPr lang="en-US" sz="1700" dirty="0"/>
          </a:p>
        </p:txBody>
      </p:sp>
      <p:sp>
        <p:nvSpPr>
          <p:cNvPr id="16" name="Text 14"/>
          <p:cNvSpPr txBox="1"/>
          <p:nvPr/>
        </p:nvSpPr>
        <p:spPr>
          <a:xfrm>
            <a:off x="1371600" y="5678424"/>
            <a:ext cx="10058400" cy="868680"/>
          </a:xfrm>
          <a:prstGeom prst="rect">
            <a:avLst/>
          </a:prstGeom>
          <a:noFill/>
          <a:ln/>
        </p:spPr>
        <p:txBody>
          <a:bodyPr wrap="square" lIns="0" tIns="0" rIns="0" bIns="0" rtlCol="0" anchor="ctr"/>
          <a:lstStyle/>
          <a:p>
            <a:pPr indent="0" marL="0">
              <a:buNone/>
            </a:pPr>
            <a:r>
              <a:rPr lang="en-US" sz="1500" dirty="0">
                <a:solidFill>
                  <a:srgbClr val="4A5A66"/>
                </a:solidFill>
                <a:latin typeface="Calibri" pitchFamily="34" charset="0"/>
                <a:ea typeface="Calibri" pitchFamily="34" charset="-122"/>
                <a:cs typeface="Calibri" pitchFamily="34" charset="-120"/>
              </a:rPr>
              <a:t>Heads of Area gave departmental time. Digital Leads gave a volunteer workforce and a route into every area. Century and Jisc gave diagnostic infrastructure.</a:t>
            </a:r>
            <a:endParaRPr lang="en-US" sz="15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11480"/>
            <a:ext cx="9418320" cy="822960"/>
          </a:xfrm>
          <a:prstGeom prst="rect">
            <a:avLst/>
          </a:prstGeom>
          <a:noFill/>
          <a:ln/>
        </p:spPr>
        <p:txBody>
          <a:bodyPr wrap="square" lIns="0" tIns="0" rIns="0" bIns="0" rtlCol="0" anchor="ctr"/>
          <a:lstStyle/>
          <a:p>
            <a:pPr indent="0" marL="0">
              <a:buNone/>
            </a:pPr>
            <a:r>
              <a:rPr lang="en-US" sz="3200" b="1" dirty="0">
                <a:solidFill>
                  <a:srgbClr val="065A82"/>
                </a:solidFill>
                <a:latin typeface="Cambria" pitchFamily="34" charset="0"/>
                <a:ea typeface="Cambria" pitchFamily="34" charset="-122"/>
                <a:cs typeface="Cambria" pitchFamily="34" charset="-120"/>
              </a:rPr>
              <a:t>Tailoring the message</a:t>
            </a:r>
            <a:endParaRPr lang="en-US" sz="3200" dirty="0"/>
          </a:p>
        </p:txBody>
      </p:sp>
      <p:sp>
        <p:nvSpPr>
          <p:cNvPr id="3" name="Text 1"/>
          <p:cNvSpPr txBox="1"/>
          <p:nvPr/>
        </p:nvSpPr>
        <p:spPr>
          <a:xfrm>
            <a:off x="10149840" y="457200"/>
            <a:ext cx="1371600" cy="411480"/>
          </a:xfrm>
          <a:prstGeom prst="roundRect">
            <a:avLst>
              <a:gd name="adj" fmla="val 17778"/>
            </a:avLst>
          </a:prstGeom>
          <a:solidFill>
            <a:srgbClr val="1C7293"/>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AC2.4</a:t>
            </a:r>
            <a:endParaRPr lang="en-US" sz="1200" dirty="0"/>
          </a:p>
        </p:txBody>
      </p:sp>
      <p:sp>
        <p:nvSpPr>
          <p:cNvPr id="4" name="Shape 2"/>
          <p:cNvSpPr/>
          <p:nvPr/>
        </p:nvSpPr>
        <p:spPr>
          <a:xfrm>
            <a:off x="640080" y="1874520"/>
            <a:ext cx="3383280" cy="2011680"/>
          </a:xfrm>
          <a:prstGeom prst="roundRect">
            <a:avLst>
              <a:gd name="adj" fmla="val 4545"/>
            </a:avLst>
          </a:prstGeom>
          <a:solidFill>
            <a:srgbClr val="F4F7F9"/>
          </a:solidFill>
          <a:ln/>
        </p:spPr>
      </p:sp>
      <p:sp>
        <p:nvSpPr>
          <p:cNvPr id="5" name="Text 3"/>
          <p:cNvSpPr txBox="1"/>
          <p:nvPr/>
        </p:nvSpPr>
        <p:spPr>
          <a:xfrm>
            <a:off x="896112" y="2130552"/>
            <a:ext cx="2871216" cy="457200"/>
          </a:xfrm>
          <a:prstGeom prst="rect">
            <a:avLst/>
          </a:prstGeom>
          <a:noFill/>
          <a:ln/>
        </p:spPr>
        <p:txBody>
          <a:bodyPr wrap="square" lIns="0" tIns="0" rIns="0" bIns="0" rtlCol="0" anchor="ctr"/>
          <a:lstStyle/>
          <a:p>
            <a:pPr indent="0" marL="0">
              <a:buNone/>
            </a:pPr>
            <a:r>
              <a:rPr lang="en-US" sz="1600" b="1" dirty="0">
                <a:solidFill>
                  <a:srgbClr val="065A82"/>
                </a:solidFill>
                <a:latin typeface="Calibri" pitchFamily="34" charset="0"/>
                <a:ea typeface="Calibri" pitchFamily="34" charset="-122"/>
                <a:cs typeface="Calibri" pitchFamily="34" charset="-120"/>
              </a:rPr>
              <a:t>Vice Principal</a:t>
            </a:r>
            <a:endParaRPr lang="en-US" sz="1600" dirty="0"/>
          </a:p>
        </p:txBody>
      </p:sp>
      <p:sp>
        <p:nvSpPr>
          <p:cNvPr id="6" name="Text 4"/>
          <p:cNvSpPr txBox="1"/>
          <p:nvPr/>
        </p:nvSpPr>
        <p:spPr>
          <a:xfrm>
            <a:off x="896112" y="2651760"/>
            <a:ext cx="2871216" cy="960120"/>
          </a:xfrm>
          <a:prstGeom prst="rect">
            <a:avLst/>
          </a:prstGeom>
          <a:noFill/>
          <a:ln/>
        </p:spPr>
        <p:txBody>
          <a:bodyPr wrap="square" lIns="0" tIns="0" rIns="0" bIns="0" rtlCol="0" anchor="ctr"/>
          <a:lstStyle/>
          <a:p>
            <a:pPr indent="0" marL="0">
              <a:buNone/>
            </a:pPr>
            <a:r>
              <a:rPr lang="en-US" sz="1300" dirty="0">
                <a:solidFill>
                  <a:srgbClr val="4A5A66"/>
                </a:solidFill>
                <a:latin typeface="Calibri" pitchFamily="34" charset="0"/>
                <a:ea typeface="Calibri" pitchFamily="34" charset="-122"/>
                <a:cs typeface="Calibri" pitchFamily="34" charset="-120"/>
              </a:rPr>
              <a:t>Strategic alignment and inspection compliance.</a:t>
            </a:r>
            <a:endParaRPr lang="en-US" sz="1300" dirty="0"/>
          </a:p>
        </p:txBody>
      </p:sp>
      <p:sp>
        <p:nvSpPr>
          <p:cNvPr id="7" name="Shape 5"/>
          <p:cNvSpPr/>
          <p:nvPr/>
        </p:nvSpPr>
        <p:spPr>
          <a:xfrm>
            <a:off x="4389120" y="1874520"/>
            <a:ext cx="3383280" cy="2011680"/>
          </a:xfrm>
          <a:prstGeom prst="roundRect">
            <a:avLst>
              <a:gd name="adj" fmla="val 4545"/>
            </a:avLst>
          </a:prstGeom>
          <a:solidFill>
            <a:srgbClr val="F4F7F9"/>
          </a:solidFill>
          <a:ln/>
        </p:spPr>
      </p:sp>
      <p:sp>
        <p:nvSpPr>
          <p:cNvPr id="8" name="Text 6"/>
          <p:cNvSpPr txBox="1"/>
          <p:nvPr/>
        </p:nvSpPr>
        <p:spPr>
          <a:xfrm>
            <a:off x="4645152" y="2130552"/>
            <a:ext cx="2871216" cy="457200"/>
          </a:xfrm>
          <a:prstGeom prst="rect">
            <a:avLst/>
          </a:prstGeom>
          <a:noFill/>
          <a:ln/>
        </p:spPr>
        <p:txBody>
          <a:bodyPr wrap="square" lIns="0" tIns="0" rIns="0" bIns="0" rtlCol="0" anchor="ctr"/>
          <a:lstStyle/>
          <a:p>
            <a:pPr indent="0" marL="0">
              <a:buNone/>
            </a:pPr>
            <a:r>
              <a:rPr lang="en-US" sz="1600" b="1" dirty="0">
                <a:solidFill>
                  <a:srgbClr val="065A82"/>
                </a:solidFill>
                <a:latin typeface="Calibri" pitchFamily="34" charset="0"/>
                <a:ea typeface="Calibri" pitchFamily="34" charset="-122"/>
                <a:cs typeface="Calibri" pitchFamily="34" charset="-120"/>
              </a:rPr>
              <a:t>Head of Area</a:t>
            </a:r>
            <a:endParaRPr lang="en-US" sz="1600" dirty="0"/>
          </a:p>
        </p:txBody>
      </p:sp>
      <p:sp>
        <p:nvSpPr>
          <p:cNvPr id="9" name="Text 7"/>
          <p:cNvSpPr txBox="1"/>
          <p:nvPr/>
        </p:nvSpPr>
        <p:spPr>
          <a:xfrm>
            <a:off x="4645152" y="2651760"/>
            <a:ext cx="2871216" cy="960120"/>
          </a:xfrm>
          <a:prstGeom prst="rect">
            <a:avLst/>
          </a:prstGeom>
          <a:noFill/>
          <a:ln/>
        </p:spPr>
        <p:txBody>
          <a:bodyPr wrap="square" lIns="0" tIns="0" rIns="0" bIns="0" rtlCol="0" anchor="ctr"/>
          <a:lstStyle/>
          <a:p>
            <a:pPr indent="0" marL="0">
              <a:buNone/>
            </a:pPr>
            <a:r>
              <a:rPr lang="en-US" sz="1300" dirty="0">
                <a:solidFill>
                  <a:srgbClr val="4A5A66"/>
                </a:solidFill>
                <a:latin typeface="Calibri" pitchFamily="34" charset="0"/>
                <a:ea typeface="Calibri" pitchFamily="34" charset="-122"/>
                <a:cs typeface="Calibri" pitchFamily="34" charset="-120"/>
              </a:rPr>
              <a:t>Operational efficiency and minimal disruption.</a:t>
            </a:r>
            <a:endParaRPr lang="en-US" sz="1300" dirty="0"/>
          </a:p>
        </p:txBody>
      </p:sp>
      <p:sp>
        <p:nvSpPr>
          <p:cNvPr id="10" name="Shape 8"/>
          <p:cNvSpPr/>
          <p:nvPr/>
        </p:nvSpPr>
        <p:spPr>
          <a:xfrm>
            <a:off x="8138160" y="1874520"/>
            <a:ext cx="3383280" cy="2011680"/>
          </a:xfrm>
          <a:prstGeom prst="roundRect">
            <a:avLst>
              <a:gd name="adj" fmla="val 4545"/>
            </a:avLst>
          </a:prstGeom>
          <a:solidFill>
            <a:srgbClr val="F4F7F9"/>
          </a:solidFill>
          <a:ln/>
        </p:spPr>
      </p:sp>
      <p:sp>
        <p:nvSpPr>
          <p:cNvPr id="11" name="Text 9"/>
          <p:cNvSpPr txBox="1"/>
          <p:nvPr/>
        </p:nvSpPr>
        <p:spPr>
          <a:xfrm>
            <a:off x="8394192" y="2130552"/>
            <a:ext cx="2871216" cy="457200"/>
          </a:xfrm>
          <a:prstGeom prst="rect">
            <a:avLst/>
          </a:prstGeom>
          <a:noFill/>
          <a:ln/>
        </p:spPr>
        <p:txBody>
          <a:bodyPr wrap="square" lIns="0" tIns="0" rIns="0" bIns="0" rtlCol="0" anchor="ctr"/>
          <a:lstStyle/>
          <a:p>
            <a:pPr indent="0" marL="0">
              <a:buNone/>
            </a:pPr>
            <a:r>
              <a:rPr lang="en-US" sz="1600" b="1" dirty="0">
                <a:solidFill>
                  <a:srgbClr val="065A82"/>
                </a:solidFill>
                <a:latin typeface="Calibri" pitchFamily="34" charset="0"/>
                <a:ea typeface="Calibri" pitchFamily="34" charset="-122"/>
                <a:cs typeface="Calibri" pitchFamily="34" charset="-120"/>
              </a:rPr>
              <a:t>Teacher</a:t>
            </a:r>
            <a:endParaRPr lang="en-US" sz="1600" dirty="0"/>
          </a:p>
        </p:txBody>
      </p:sp>
      <p:sp>
        <p:nvSpPr>
          <p:cNvPr id="12" name="Text 10"/>
          <p:cNvSpPr txBox="1"/>
          <p:nvPr/>
        </p:nvSpPr>
        <p:spPr>
          <a:xfrm>
            <a:off x="8394192" y="2651760"/>
            <a:ext cx="2871216" cy="960120"/>
          </a:xfrm>
          <a:prstGeom prst="rect">
            <a:avLst/>
          </a:prstGeom>
          <a:noFill/>
          <a:ln/>
        </p:spPr>
        <p:txBody>
          <a:bodyPr wrap="square" lIns="0" tIns="0" rIns="0" bIns="0" rtlCol="0" anchor="ctr"/>
          <a:lstStyle/>
          <a:p>
            <a:pPr indent="0" marL="0">
              <a:buNone/>
            </a:pPr>
            <a:r>
              <a:rPr lang="en-US" sz="1300" dirty="0">
                <a:solidFill>
                  <a:srgbClr val="4A5A66"/>
                </a:solidFill>
                <a:latin typeface="Calibri" pitchFamily="34" charset="0"/>
                <a:ea typeface="Calibri" pitchFamily="34" charset="-122"/>
                <a:cs typeface="Calibri" pitchFamily="34" charset="-120"/>
              </a:rPr>
              <a:t>Psychological safety and practical time saving.</a:t>
            </a:r>
            <a:endParaRPr lang="en-US" sz="1300" dirty="0"/>
          </a:p>
        </p:txBody>
      </p:sp>
      <p:sp>
        <p:nvSpPr>
          <p:cNvPr id="13" name="Shape 11"/>
          <p:cNvSpPr/>
          <p:nvPr/>
        </p:nvSpPr>
        <p:spPr>
          <a:xfrm>
            <a:off x="640080" y="4297680"/>
            <a:ext cx="10881360" cy="1600200"/>
          </a:xfrm>
          <a:prstGeom prst="roundRect">
            <a:avLst>
              <a:gd name="adj" fmla="val 5714"/>
            </a:avLst>
          </a:prstGeom>
          <a:solidFill>
            <a:srgbClr val="065A82"/>
          </a:solidFill>
          <a:ln/>
        </p:spPr>
      </p:sp>
      <p:sp>
        <p:nvSpPr>
          <p:cNvPr id="14" name="Text 12"/>
          <p:cNvSpPr txBox="1"/>
          <p:nvPr/>
        </p:nvSpPr>
        <p:spPr>
          <a:xfrm>
            <a:off x="1005840" y="4617720"/>
            <a:ext cx="10149840" cy="1097280"/>
          </a:xfrm>
          <a:prstGeom prst="rect">
            <a:avLst/>
          </a:prstGeom>
          <a:noFill/>
          <a:ln/>
        </p:spPr>
        <p:txBody>
          <a:bodyPr wrap="square" lIns="0" tIns="0" rIns="0" bIns="0" rtlCol="0" anchor="ctr"/>
          <a:lstStyle/>
          <a:p>
            <a:pPr indent="0" marL="0">
              <a:buNone/>
            </a:pPr>
            <a:r>
              <a:rPr lang="en-US" sz="1900" b="1" dirty="0">
                <a:solidFill>
                  <a:srgbClr val="FFFFFF"/>
                </a:solidFill>
                <a:latin typeface="Calibri" pitchFamily="34" charset="0"/>
                <a:ea typeface="Calibri" pitchFamily="34" charset="-122"/>
                <a:cs typeface="Calibri" pitchFamily="34" charset="-120"/>
              </a:rPr>
              <a:t>Engagement is a source of intelligence, not a courtesy.</a:t>
            </a:r>
            <a:endParaRPr lang="en-US" sz="1900" dirty="0"/>
          </a:p>
          <a:p>
            <a:pPr indent="0" marL="0">
              <a:buNone/>
            </a:pPr>
            <a:r>
              <a:rPr lang="en-US" sz="1400" dirty="0">
                <a:solidFill>
                  <a:srgbClr val="CADCFC"/>
                </a:solidFill>
                <a:latin typeface="Calibri" pitchFamily="34" charset="0"/>
                <a:ea typeface="Calibri" pitchFamily="34" charset="-122"/>
                <a:cs typeface="Calibri" pitchFamily="34" charset="-120"/>
              </a:rPr>
              <a:t>Engaging staff during the Jisc Discovery phase identified the foundational gap. It did not communicate the plan. It changed the plan.</a:t>
            </a:r>
            <a:endParaRPr lang="en-US" sz="1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21295C"/>
        </a:solidFill>
      </p:bgPr>
    </p:bg>
    <p:spTree>
      <p:nvGrpSpPr>
        <p:cNvPr id="1" name=""/>
        <p:cNvGrpSpPr/>
        <p:nvPr/>
      </p:nvGrpSpPr>
      <p:grpSpPr>
        <a:xfrm>
          <a:off x="0" y="0"/>
          <a:ext cx="0" cy="0"/>
          <a:chOff x="0" y="0"/>
          <a:chExt cx="0" cy="0"/>
        </a:xfrm>
      </p:grpSpPr>
      <p:sp>
        <p:nvSpPr>
          <p:cNvPr id="2" name="Text 0"/>
          <p:cNvSpPr txBox="1"/>
          <p:nvPr/>
        </p:nvSpPr>
        <p:spPr>
          <a:xfrm>
            <a:off x="640080" y="2103120"/>
            <a:ext cx="9052560" cy="91440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Distributed resilience</a:t>
            </a:r>
            <a:endParaRPr lang="en-US" sz="4000" dirty="0"/>
          </a:p>
        </p:txBody>
      </p:sp>
      <p:sp>
        <p:nvSpPr>
          <p:cNvPr id="3" name="Shape 1"/>
          <p:cNvSpPr/>
          <p:nvPr/>
        </p:nvSpPr>
        <p:spPr>
          <a:xfrm>
            <a:off x="640080" y="3154680"/>
            <a:ext cx="1463040" cy="41148"/>
          </a:xfrm>
          <a:prstGeom prst="rect">
            <a:avLst/>
          </a:prstGeom>
          <a:solidFill>
            <a:srgbClr val="1C7293"/>
          </a:solidFill>
          <a:ln/>
        </p:spPr>
      </p:sp>
      <p:sp>
        <p:nvSpPr>
          <p:cNvPr id="4" name="Text 2"/>
          <p:cNvSpPr txBox="1"/>
          <p:nvPr/>
        </p:nvSpPr>
        <p:spPr>
          <a:xfrm>
            <a:off x="640080" y="3520440"/>
            <a:ext cx="9418320" cy="1371600"/>
          </a:xfrm>
          <a:prstGeom prst="rect">
            <a:avLst/>
          </a:prstGeom>
          <a:noFill/>
          <a:ln/>
        </p:spPr>
        <p:txBody>
          <a:bodyPr wrap="square" lIns="0" tIns="0" rIns="0" bIns="0" rtlCol="0" anchor="ctr"/>
          <a:lstStyle/>
          <a:p>
            <a:pPr indent="0" marL="0">
              <a:buNone/>
            </a:pPr>
            <a:r>
              <a:rPr lang="en-US" sz="1700" dirty="0">
                <a:solidFill>
                  <a:srgbClr val="CADCFC"/>
                </a:solidFill>
                <a:latin typeface="Calibri" pitchFamily="34" charset="0"/>
                <a:ea typeface="Calibri" pitchFamily="34" charset="-122"/>
                <a:cs typeface="Calibri" pitchFamily="34" charset="-120"/>
              </a:rPr>
              <a:t>Sustainable change in this sector means moving beyond models that assume formal authority. Understand the constraints, embed through peer networks, and engage continuously rather than episodically.</a:t>
            </a:r>
            <a:endParaRPr lang="en-US" sz="17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Approaches to Change Management</dc:title>
  <dc:subject>PptxGenJS Presentation</dc:subject>
  <dc:creator>Graeme Wright</dc:creator>
  <cp:lastModifiedBy>Graeme Wright</cp:lastModifiedBy>
  <cp:revision>1</cp:revision>
  <dcterms:created xsi:type="dcterms:W3CDTF">2026-08-31T10:11:55Z</dcterms:created>
  <dcterms:modified xsi:type="dcterms:W3CDTF">2026-08-31T10:11:55Z</dcterms:modified>
</cp:coreProperties>
</file>