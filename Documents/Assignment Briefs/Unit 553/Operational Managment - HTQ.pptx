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6" r:id="rId4"/>
    <p:sldMasterId id="2147483808" r:id="rId5"/>
    <p:sldMasterId id="2147483820" r:id="rId6"/>
    <p:sldMasterId id="2147483835" r:id="rId7"/>
    <p:sldMasterId id="2147483850" r:id="rId8"/>
  </p:sldMasterIdLst>
  <p:notesMasterIdLst>
    <p:notesMasterId r:id="rId77"/>
  </p:notesMasterIdLst>
  <p:handoutMasterIdLst>
    <p:handoutMasterId r:id="rId78"/>
  </p:handoutMasterIdLst>
  <p:sldIdLst>
    <p:sldId id="258" r:id="rId9"/>
    <p:sldId id="365" r:id="rId10"/>
    <p:sldId id="287" r:id="rId11"/>
    <p:sldId id="291" r:id="rId12"/>
    <p:sldId id="290" r:id="rId13"/>
    <p:sldId id="288" r:id="rId14"/>
    <p:sldId id="300" r:id="rId15"/>
    <p:sldId id="298" r:id="rId16"/>
    <p:sldId id="297" r:id="rId17"/>
    <p:sldId id="388" r:id="rId18"/>
    <p:sldId id="685" r:id="rId19"/>
    <p:sldId id="643" r:id="rId20"/>
    <p:sldId id="649" r:id="rId21"/>
    <p:sldId id="386" r:id="rId22"/>
    <p:sldId id="636" r:id="rId23"/>
    <p:sldId id="637" r:id="rId24"/>
    <p:sldId id="390" r:id="rId25"/>
    <p:sldId id="355" r:id="rId26"/>
    <p:sldId id="335" r:id="rId27"/>
    <p:sldId id="337" r:id="rId28"/>
    <p:sldId id="338" r:id="rId29"/>
    <p:sldId id="339" r:id="rId30"/>
    <p:sldId id="393" r:id="rId31"/>
    <p:sldId id="361" r:id="rId32"/>
    <p:sldId id="387" r:id="rId33"/>
    <p:sldId id="705" r:id="rId34"/>
    <p:sldId id="706" r:id="rId35"/>
    <p:sldId id="707" r:id="rId36"/>
    <p:sldId id="708" r:id="rId37"/>
    <p:sldId id="658" r:id="rId38"/>
    <p:sldId id="659" r:id="rId39"/>
    <p:sldId id="654" r:id="rId40"/>
    <p:sldId id="661" r:id="rId41"/>
    <p:sldId id="660" r:id="rId42"/>
    <p:sldId id="653" r:id="rId43"/>
    <p:sldId id="701" r:id="rId44"/>
    <p:sldId id="704" r:id="rId45"/>
    <p:sldId id="698" r:id="rId46"/>
    <p:sldId id="697" r:id="rId47"/>
    <p:sldId id="700" r:id="rId48"/>
    <p:sldId id="703" r:id="rId49"/>
    <p:sldId id="702" r:id="rId50"/>
    <p:sldId id="366" r:id="rId51"/>
    <p:sldId id="303" r:id="rId52"/>
    <p:sldId id="305" r:id="rId53"/>
    <p:sldId id="340" r:id="rId54"/>
    <p:sldId id="341" r:id="rId55"/>
    <p:sldId id="342" r:id="rId56"/>
    <p:sldId id="334" r:id="rId57"/>
    <p:sldId id="356" r:id="rId58"/>
    <p:sldId id="296" r:id="rId59"/>
    <p:sldId id="295" r:id="rId60"/>
    <p:sldId id="373" r:id="rId61"/>
    <p:sldId id="391" r:id="rId62"/>
    <p:sldId id="374" r:id="rId63"/>
    <p:sldId id="389" r:id="rId64"/>
    <p:sldId id="343" r:id="rId65"/>
    <p:sldId id="332" r:id="rId66"/>
    <p:sldId id="670" r:id="rId67"/>
    <p:sldId id="380" r:id="rId68"/>
    <p:sldId id="392" r:id="rId69"/>
    <p:sldId id="674" r:id="rId70"/>
    <p:sldId id="665" r:id="rId71"/>
    <p:sldId id="673" r:id="rId72"/>
    <p:sldId id="679" r:id="rId73"/>
    <p:sldId id="678" r:id="rId74"/>
    <p:sldId id="677" r:id="rId75"/>
    <p:sldId id="613" r:id="rId76"/>
  </p:sldIdLst>
  <p:sldSz cx="9144000" cy="5715000" type="screen16x10"/>
  <p:notesSz cx="6797675" cy="9926638"/>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egan Brookes" initials="MB" lastIdx="0" clrIdx="0">
    <p:extLst>
      <p:ext uri="{19B8F6BF-5375-455C-9EA6-DF929625EA0E}">
        <p15:presenceInfo xmlns:p15="http://schemas.microsoft.com/office/powerpoint/2012/main" userId="S-1-5-21-1322201713-146042943-1252928729-35155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4A777A-0CD1-4CF9-AC70-9C7E5BD107D0}" v="19" dt="2026-04-21T17:40:28.2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21" autoAdjust="0"/>
    <p:restoredTop sz="44565" autoAdjust="0"/>
  </p:normalViewPr>
  <p:slideViewPr>
    <p:cSldViewPr snapToGrid="0" snapToObjects="1">
      <p:cViewPr varScale="1">
        <p:scale>
          <a:sx n="39" d="100"/>
          <a:sy n="39" d="100"/>
        </p:scale>
        <p:origin x="1924" y="48"/>
      </p:cViewPr>
      <p:guideLst/>
    </p:cSldViewPr>
  </p:slideViewPr>
  <p:outlineViewPr>
    <p:cViewPr>
      <p:scale>
        <a:sx n="33" d="100"/>
        <a:sy n="33" d="100"/>
      </p:scale>
      <p:origin x="0" y="-3354"/>
    </p:cViewPr>
  </p:outlineViewPr>
  <p:notesTextViewPr>
    <p:cViewPr>
      <p:scale>
        <a:sx n="1" d="1"/>
        <a:sy n="1" d="1"/>
      </p:scale>
      <p:origin x="0" y="0"/>
    </p:cViewPr>
  </p:notesTextViewPr>
  <p:notesViewPr>
    <p:cSldViewPr snapToGrid="0" snapToObjects="1">
      <p:cViewPr>
        <p:scale>
          <a:sx n="75" d="100"/>
          <a:sy n="75" d="100"/>
        </p:scale>
        <p:origin x="2442" y="-7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microsoft.com/office/2015/10/relationships/revisionInfo" Target="revisionInfo.xml"/><Relationship Id="rId16" Type="http://schemas.openxmlformats.org/officeDocument/2006/relationships/slide" Target="slides/slide8.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commentAuthors" Target="commentAuthors.xml"/><Relationship Id="rId5" Type="http://schemas.openxmlformats.org/officeDocument/2006/relationships/slideMaster" Target="slideMasters/slideMaster2.xml"/><Relationship Id="rId61" Type="http://schemas.openxmlformats.org/officeDocument/2006/relationships/slide" Target="slides/slide53.xml"/><Relationship Id="rId82" Type="http://schemas.openxmlformats.org/officeDocument/2006/relationships/theme" Target="theme/theme1.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slide" Target="slides/slide61.xml"/><Relationship Id="rId77" Type="http://schemas.openxmlformats.org/officeDocument/2006/relationships/notesMaster" Target="notesMasters/notesMaster1.xml"/><Relationship Id="rId8" Type="http://schemas.openxmlformats.org/officeDocument/2006/relationships/slideMaster" Target="slideMasters/slideMaster5.xml"/><Relationship Id="rId51" Type="http://schemas.openxmlformats.org/officeDocument/2006/relationships/slide" Target="slides/slide43.xml"/><Relationship Id="rId72" Type="http://schemas.openxmlformats.org/officeDocument/2006/relationships/slide" Target="slides/slide64.xml"/><Relationship Id="rId80"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slide" Target="slides/slide62.xml"/><Relationship Id="rId75" Type="http://schemas.openxmlformats.org/officeDocument/2006/relationships/slide" Target="slides/slide67.xml"/><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handoutMaster" Target="handoutMasters/handoutMaster1.xml"/><Relationship Id="rId8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7" Type="http://schemas.openxmlformats.org/officeDocument/2006/relationships/slideMaster" Target="slideMasters/slideMaster4.xml"/><Relationship Id="rId71" Type="http://schemas.openxmlformats.org/officeDocument/2006/relationships/slide" Target="slides/slide63.xml"/><Relationship Id="rId2" Type="http://schemas.openxmlformats.org/officeDocument/2006/relationships/customXml" Target="../customXml/item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s>
</file>

<file path=ppt/diagrams/_rels/data1.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svg"/><Relationship Id="rId1" Type="http://schemas.openxmlformats.org/officeDocument/2006/relationships/image" Target="../media/image35.svg"/><Relationship Id="rId4" Type="http://schemas.openxmlformats.org/officeDocument/2006/relationships/image" Target="../media/image38.svg"/></Relationships>
</file>

<file path=ppt/diagrams/_rels/data2.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svg"/><Relationship Id="rId1" Type="http://schemas.openxmlformats.org/officeDocument/2006/relationships/image" Target="../media/image39.svg"/></Relationships>
</file>

<file path=ppt/diagrams/_rels/data3.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svg"/><Relationship Id="rId1" Type="http://schemas.openxmlformats.org/officeDocument/2006/relationships/image" Target="../media/image4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svg"/><Relationship Id="rId1" Type="http://schemas.openxmlformats.org/officeDocument/2006/relationships/image" Target="../media/image35.svg"/><Relationship Id="rId4" Type="http://schemas.openxmlformats.org/officeDocument/2006/relationships/image" Target="../media/image3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svg"/><Relationship Id="rId1" Type="http://schemas.openxmlformats.org/officeDocument/2006/relationships/image" Target="../media/image39.svg"/></Relationships>
</file>

<file path=ppt/diagrams/_rels/drawing3.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svg"/><Relationship Id="rId1" Type="http://schemas.openxmlformats.org/officeDocument/2006/relationships/image" Target="../media/image42.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F28743-06A0-416F-AB79-4E2C9CEB28FD}"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36E6F50E-6B39-4BB3-B4CA-C2663D341276}">
      <dgm:prSet/>
      <dgm:spPr/>
      <dgm:t>
        <a:bodyPr/>
        <a:lstStyle/>
        <a:p>
          <a:pPr>
            <a:lnSpc>
              <a:spcPct val="100000"/>
            </a:lnSpc>
          </a:pPr>
          <a:r>
            <a:rPr lang="en-GB" dirty="0"/>
            <a:t>Fairness</a:t>
          </a:r>
          <a:endParaRPr lang="en-US" dirty="0"/>
        </a:p>
      </dgm:t>
    </dgm:pt>
    <dgm:pt modelId="{37E9C2D1-7B83-418E-9063-295A37CB9CD6}" type="parTrans" cxnId="{411D68E6-8833-4A10-8F9D-30548860942E}">
      <dgm:prSet/>
      <dgm:spPr/>
      <dgm:t>
        <a:bodyPr/>
        <a:lstStyle/>
        <a:p>
          <a:endParaRPr lang="en-US"/>
        </a:p>
      </dgm:t>
    </dgm:pt>
    <dgm:pt modelId="{C84D90D6-B992-4B27-BF4C-2E23E0D60547}" type="sibTrans" cxnId="{411D68E6-8833-4A10-8F9D-30548860942E}">
      <dgm:prSet/>
      <dgm:spPr/>
      <dgm:t>
        <a:bodyPr/>
        <a:lstStyle/>
        <a:p>
          <a:endParaRPr lang="en-US"/>
        </a:p>
      </dgm:t>
    </dgm:pt>
    <dgm:pt modelId="{F08E4212-608C-4302-B07C-41747EEA773F}">
      <dgm:prSet/>
      <dgm:spPr/>
      <dgm:t>
        <a:bodyPr/>
        <a:lstStyle/>
        <a:p>
          <a:pPr>
            <a:lnSpc>
              <a:spcPct val="100000"/>
            </a:lnSpc>
          </a:pPr>
          <a:r>
            <a:rPr lang="en-GB" dirty="0"/>
            <a:t>Environment</a:t>
          </a:r>
          <a:endParaRPr lang="en-US" dirty="0"/>
        </a:p>
      </dgm:t>
    </dgm:pt>
    <dgm:pt modelId="{8DA17A11-69DF-4F73-A462-1D04813CD57E}" type="parTrans" cxnId="{EF3E9DAE-0DB4-461F-91E0-A30FBE1598BE}">
      <dgm:prSet/>
      <dgm:spPr/>
      <dgm:t>
        <a:bodyPr/>
        <a:lstStyle/>
        <a:p>
          <a:endParaRPr lang="en-US"/>
        </a:p>
      </dgm:t>
    </dgm:pt>
    <dgm:pt modelId="{6008C24A-CA29-4B22-9D70-214183BE099A}" type="sibTrans" cxnId="{EF3E9DAE-0DB4-461F-91E0-A30FBE1598BE}">
      <dgm:prSet/>
      <dgm:spPr/>
      <dgm:t>
        <a:bodyPr/>
        <a:lstStyle/>
        <a:p>
          <a:endParaRPr lang="en-US"/>
        </a:p>
      </dgm:t>
    </dgm:pt>
    <dgm:pt modelId="{C3CD055F-4B19-440D-8F29-CEA5720A49D1}">
      <dgm:prSet/>
      <dgm:spPr/>
      <dgm:t>
        <a:bodyPr/>
        <a:lstStyle/>
        <a:p>
          <a:pPr>
            <a:lnSpc>
              <a:spcPct val="100000"/>
            </a:lnSpc>
          </a:pPr>
          <a:r>
            <a:rPr lang="en-GB" dirty="0"/>
            <a:t>Legal compliance</a:t>
          </a:r>
          <a:endParaRPr lang="en-US" dirty="0"/>
        </a:p>
      </dgm:t>
    </dgm:pt>
    <dgm:pt modelId="{010A0F21-9B6C-42B0-A49C-B65F9B6B5E7D}" type="parTrans" cxnId="{D2B54F42-1C2D-46A7-9112-E751B1209712}">
      <dgm:prSet/>
      <dgm:spPr/>
      <dgm:t>
        <a:bodyPr/>
        <a:lstStyle/>
        <a:p>
          <a:endParaRPr lang="en-US"/>
        </a:p>
      </dgm:t>
    </dgm:pt>
    <dgm:pt modelId="{910D55E8-DE8C-4B9A-A8F6-B010C99F03E0}" type="sibTrans" cxnId="{D2B54F42-1C2D-46A7-9112-E751B1209712}">
      <dgm:prSet/>
      <dgm:spPr/>
      <dgm:t>
        <a:bodyPr/>
        <a:lstStyle/>
        <a:p>
          <a:endParaRPr lang="en-US"/>
        </a:p>
      </dgm:t>
    </dgm:pt>
    <dgm:pt modelId="{DE0CED36-460B-497F-BE54-A294FBF4926D}">
      <dgm:prSet/>
      <dgm:spPr/>
      <dgm:t>
        <a:bodyPr/>
        <a:lstStyle/>
        <a:p>
          <a:pPr>
            <a:lnSpc>
              <a:spcPct val="100000"/>
            </a:lnSpc>
          </a:pPr>
          <a:r>
            <a:rPr lang="en-GB" dirty="0"/>
            <a:t>Transparency</a:t>
          </a:r>
          <a:endParaRPr lang="en-US" dirty="0"/>
        </a:p>
      </dgm:t>
    </dgm:pt>
    <dgm:pt modelId="{C451059B-A1DC-47F6-909B-7288C0158264}" type="parTrans" cxnId="{F9609408-D0DB-4E19-9EC3-32D1AD985EE4}">
      <dgm:prSet/>
      <dgm:spPr/>
      <dgm:t>
        <a:bodyPr/>
        <a:lstStyle/>
        <a:p>
          <a:endParaRPr lang="en-US"/>
        </a:p>
      </dgm:t>
    </dgm:pt>
    <dgm:pt modelId="{195D3033-45E1-4DF7-8100-FEBE089F5FC3}" type="sibTrans" cxnId="{F9609408-D0DB-4E19-9EC3-32D1AD985EE4}">
      <dgm:prSet/>
      <dgm:spPr/>
      <dgm:t>
        <a:bodyPr/>
        <a:lstStyle/>
        <a:p>
          <a:endParaRPr lang="en-US"/>
        </a:p>
      </dgm:t>
    </dgm:pt>
    <dgm:pt modelId="{617CE5E8-50D0-4D8B-84F7-3A24E3AF3A44}" type="pres">
      <dgm:prSet presAssocID="{99F28743-06A0-416F-AB79-4E2C9CEB28FD}" presName="root" presStyleCnt="0">
        <dgm:presLayoutVars>
          <dgm:dir/>
          <dgm:resizeHandles val="exact"/>
        </dgm:presLayoutVars>
      </dgm:prSet>
      <dgm:spPr/>
    </dgm:pt>
    <dgm:pt modelId="{E42BDC38-D2BD-410A-9C59-7CA0D37921B5}" type="pres">
      <dgm:prSet presAssocID="{36E6F50E-6B39-4BB3-B4CA-C2663D341276}" presName="compNode" presStyleCnt="0"/>
      <dgm:spPr/>
    </dgm:pt>
    <dgm:pt modelId="{23FCD196-1D40-4849-ACFF-6908092D7DA7}" type="pres">
      <dgm:prSet presAssocID="{36E6F50E-6B39-4BB3-B4CA-C2663D341276}"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cales of Justice"/>
        </a:ext>
      </dgm:extLst>
    </dgm:pt>
    <dgm:pt modelId="{1CED02CE-C9F2-4E21-98A2-A64485E84E64}" type="pres">
      <dgm:prSet presAssocID="{36E6F50E-6B39-4BB3-B4CA-C2663D341276}" presName="spaceRect" presStyleCnt="0"/>
      <dgm:spPr/>
    </dgm:pt>
    <dgm:pt modelId="{4D65FA9C-5D28-4FE4-9792-3469F832DB5A}" type="pres">
      <dgm:prSet presAssocID="{36E6F50E-6B39-4BB3-B4CA-C2663D341276}" presName="textRect" presStyleLbl="revTx" presStyleIdx="0" presStyleCnt="4">
        <dgm:presLayoutVars>
          <dgm:chMax val="1"/>
          <dgm:chPref val="1"/>
        </dgm:presLayoutVars>
      </dgm:prSet>
      <dgm:spPr/>
    </dgm:pt>
    <dgm:pt modelId="{02101684-F2FE-42CF-937A-BDA3F21211C9}" type="pres">
      <dgm:prSet presAssocID="{C84D90D6-B992-4B27-BF4C-2E23E0D60547}" presName="sibTrans" presStyleCnt="0"/>
      <dgm:spPr/>
    </dgm:pt>
    <dgm:pt modelId="{3A05C190-89CE-4368-87CB-1946DAC25A17}" type="pres">
      <dgm:prSet presAssocID="{F08E4212-608C-4302-B07C-41747EEA773F}" presName="compNode" presStyleCnt="0"/>
      <dgm:spPr/>
    </dgm:pt>
    <dgm:pt modelId="{5A607C3F-48AC-446E-98EA-8653637720AD}" type="pres">
      <dgm:prSet presAssocID="{F08E4212-608C-4302-B07C-41747EEA773F}"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ustainability"/>
        </a:ext>
      </dgm:extLst>
    </dgm:pt>
    <dgm:pt modelId="{98DA4497-CA99-46A6-8030-46FFD6E9ECB0}" type="pres">
      <dgm:prSet presAssocID="{F08E4212-608C-4302-B07C-41747EEA773F}" presName="spaceRect" presStyleCnt="0"/>
      <dgm:spPr/>
    </dgm:pt>
    <dgm:pt modelId="{F50DE12E-9B81-4D15-9B46-4A5BB2CE8FE0}" type="pres">
      <dgm:prSet presAssocID="{F08E4212-608C-4302-B07C-41747EEA773F}" presName="textRect" presStyleLbl="revTx" presStyleIdx="1" presStyleCnt="4">
        <dgm:presLayoutVars>
          <dgm:chMax val="1"/>
          <dgm:chPref val="1"/>
        </dgm:presLayoutVars>
      </dgm:prSet>
      <dgm:spPr/>
    </dgm:pt>
    <dgm:pt modelId="{6008704A-5840-45BE-A48D-DE6CBFA0BD9C}" type="pres">
      <dgm:prSet presAssocID="{6008C24A-CA29-4B22-9D70-214183BE099A}" presName="sibTrans" presStyleCnt="0"/>
      <dgm:spPr/>
    </dgm:pt>
    <dgm:pt modelId="{C980C3D0-F3AF-4450-9DE2-8B4B78E73209}" type="pres">
      <dgm:prSet presAssocID="{C3CD055F-4B19-440D-8F29-CEA5720A49D1}" presName="compNode" presStyleCnt="0"/>
      <dgm:spPr/>
    </dgm:pt>
    <dgm:pt modelId="{D583C9C1-51B6-4952-9563-F22E8531D3B5}" type="pres">
      <dgm:prSet presAssocID="{C3CD055F-4B19-440D-8F29-CEA5720A49D1}"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avel"/>
        </a:ext>
      </dgm:extLst>
    </dgm:pt>
    <dgm:pt modelId="{0A237A74-E624-4687-B964-874E29109911}" type="pres">
      <dgm:prSet presAssocID="{C3CD055F-4B19-440D-8F29-CEA5720A49D1}" presName="spaceRect" presStyleCnt="0"/>
      <dgm:spPr/>
    </dgm:pt>
    <dgm:pt modelId="{D8A25F42-6274-4A88-9E1F-6E59B6D1F653}" type="pres">
      <dgm:prSet presAssocID="{C3CD055F-4B19-440D-8F29-CEA5720A49D1}" presName="textRect" presStyleLbl="revTx" presStyleIdx="2" presStyleCnt="4">
        <dgm:presLayoutVars>
          <dgm:chMax val="1"/>
          <dgm:chPref val="1"/>
        </dgm:presLayoutVars>
      </dgm:prSet>
      <dgm:spPr/>
    </dgm:pt>
    <dgm:pt modelId="{741B2E9D-3D63-481A-898D-0A3EBA91E014}" type="pres">
      <dgm:prSet presAssocID="{910D55E8-DE8C-4B9A-A8F6-B010C99F03E0}" presName="sibTrans" presStyleCnt="0"/>
      <dgm:spPr/>
    </dgm:pt>
    <dgm:pt modelId="{26AD8445-04F4-40E9-AB69-1E81F76DCF4A}" type="pres">
      <dgm:prSet presAssocID="{DE0CED36-460B-497F-BE54-A294FBF4926D}" presName="compNode" presStyleCnt="0"/>
      <dgm:spPr/>
    </dgm:pt>
    <dgm:pt modelId="{3D50C6C8-50E0-4A4E-84D1-229124521A54}" type="pres">
      <dgm:prSet presAssocID="{DE0CED36-460B-497F-BE54-A294FBF4926D}"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gnifying glass"/>
        </a:ext>
      </dgm:extLst>
    </dgm:pt>
    <dgm:pt modelId="{21E5B01C-9AFE-4C63-9D40-A4C6648067E6}" type="pres">
      <dgm:prSet presAssocID="{DE0CED36-460B-497F-BE54-A294FBF4926D}" presName="spaceRect" presStyleCnt="0"/>
      <dgm:spPr/>
    </dgm:pt>
    <dgm:pt modelId="{D12FB103-8BC1-43DC-8776-D904FD8C8C70}" type="pres">
      <dgm:prSet presAssocID="{DE0CED36-460B-497F-BE54-A294FBF4926D}" presName="textRect" presStyleLbl="revTx" presStyleIdx="3" presStyleCnt="4">
        <dgm:presLayoutVars>
          <dgm:chMax val="1"/>
          <dgm:chPref val="1"/>
        </dgm:presLayoutVars>
      </dgm:prSet>
      <dgm:spPr/>
    </dgm:pt>
  </dgm:ptLst>
  <dgm:cxnLst>
    <dgm:cxn modelId="{F9609408-D0DB-4E19-9EC3-32D1AD985EE4}" srcId="{99F28743-06A0-416F-AB79-4E2C9CEB28FD}" destId="{DE0CED36-460B-497F-BE54-A294FBF4926D}" srcOrd="3" destOrd="0" parTransId="{C451059B-A1DC-47F6-909B-7288C0158264}" sibTransId="{195D3033-45E1-4DF7-8100-FEBE089F5FC3}"/>
    <dgm:cxn modelId="{D2B54F42-1C2D-46A7-9112-E751B1209712}" srcId="{99F28743-06A0-416F-AB79-4E2C9CEB28FD}" destId="{C3CD055F-4B19-440D-8F29-CEA5720A49D1}" srcOrd="2" destOrd="0" parTransId="{010A0F21-9B6C-42B0-A49C-B65F9B6B5E7D}" sibTransId="{910D55E8-DE8C-4B9A-A8F6-B010C99F03E0}"/>
    <dgm:cxn modelId="{F584A388-1977-493C-B29C-AB675D2F5C8C}" type="presOf" srcId="{C3CD055F-4B19-440D-8F29-CEA5720A49D1}" destId="{D8A25F42-6274-4A88-9E1F-6E59B6D1F653}" srcOrd="0" destOrd="0" presId="urn:microsoft.com/office/officeart/2018/2/layout/IconLabelList"/>
    <dgm:cxn modelId="{50C5C29F-31D1-41C6-8B7F-693C85CAB9A3}" type="presOf" srcId="{99F28743-06A0-416F-AB79-4E2C9CEB28FD}" destId="{617CE5E8-50D0-4D8B-84F7-3A24E3AF3A44}" srcOrd="0" destOrd="0" presId="urn:microsoft.com/office/officeart/2018/2/layout/IconLabelList"/>
    <dgm:cxn modelId="{925370A5-C18F-4B2E-A62B-91CB6E0275CA}" type="presOf" srcId="{DE0CED36-460B-497F-BE54-A294FBF4926D}" destId="{D12FB103-8BC1-43DC-8776-D904FD8C8C70}" srcOrd="0" destOrd="0" presId="urn:microsoft.com/office/officeart/2018/2/layout/IconLabelList"/>
    <dgm:cxn modelId="{EF3E9DAE-0DB4-461F-91E0-A30FBE1598BE}" srcId="{99F28743-06A0-416F-AB79-4E2C9CEB28FD}" destId="{F08E4212-608C-4302-B07C-41747EEA773F}" srcOrd="1" destOrd="0" parTransId="{8DA17A11-69DF-4F73-A462-1D04813CD57E}" sibTransId="{6008C24A-CA29-4B22-9D70-214183BE099A}"/>
    <dgm:cxn modelId="{3453FFBC-31CD-4FC1-854A-4B4DAD2C63D0}" type="presOf" srcId="{36E6F50E-6B39-4BB3-B4CA-C2663D341276}" destId="{4D65FA9C-5D28-4FE4-9792-3469F832DB5A}" srcOrd="0" destOrd="0" presId="urn:microsoft.com/office/officeart/2018/2/layout/IconLabelList"/>
    <dgm:cxn modelId="{52B76DE1-75A3-4699-8F8A-21B7E83E8003}" type="presOf" srcId="{F08E4212-608C-4302-B07C-41747EEA773F}" destId="{F50DE12E-9B81-4D15-9B46-4A5BB2CE8FE0}" srcOrd="0" destOrd="0" presId="urn:microsoft.com/office/officeart/2018/2/layout/IconLabelList"/>
    <dgm:cxn modelId="{411D68E6-8833-4A10-8F9D-30548860942E}" srcId="{99F28743-06A0-416F-AB79-4E2C9CEB28FD}" destId="{36E6F50E-6B39-4BB3-B4CA-C2663D341276}" srcOrd="0" destOrd="0" parTransId="{37E9C2D1-7B83-418E-9063-295A37CB9CD6}" sibTransId="{C84D90D6-B992-4B27-BF4C-2E23E0D60547}"/>
    <dgm:cxn modelId="{FD2FE092-27F8-48FA-8B88-2080F96B2B92}" type="presParOf" srcId="{617CE5E8-50D0-4D8B-84F7-3A24E3AF3A44}" destId="{E42BDC38-D2BD-410A-9C59-7CA0D37921B5}" srcOrd="0" destOrd="0" presId="urn:microsoft.com/office/officeart/2018/2/layout/IconLabelList"/>
    <dgm:cxn modelId="{EB9CA1D1-6DC3-4DD8-8921-79B85357384D}" type="presParOf" srcId="{E42BDC38-D2BD-410A-9C59-7CA0D37921B5}" destId="{23FCD196-1D40-4849-ACFF-6908092D7DA7}" srcOrd="0" destOrd="0" presId="urn:microsoft.com/office/officeart/2018/2/layout/IconLabelList"/>
    <dgm:cxn modelId="{25346C86-CFC2-4E1D-A314-0BE8233BEBB7}" type="presParOf" srcId="{E42BDC38-D2BD-410A-9C59-7CA0D37921B5}" destId="{1CED02CE-C9F2-4E21-98A2-A64485E84E64}" srcOrd="1" destOrd="0" presId="urn:microsoft.com/office/officeart/2018/2/layout/IconLabelList"/>
    <dgm:cxn modelId="{48BFFEC0-ED56-4A04-B5C3-D924A452515A}" type="presParOf" srcId="{E42BDC38-D2BD-410A-9C59-7CA0D37921B5}" destId="{4D65FA9C-5D28-4FE4-9792-3469F832DB5A}" srcOrd="2" destOrd="0" presId="urn:microsoft.com/office/officeart/2018/2/layout/IconLabelList"/>
    <dgm:cxn modelId="{90E23404-4F0A-4D76-9B5B-3CA1330118EC}" type="presParOf" srcId="{617CE5E8-50D0-4D8B-84F7-3A24E3AF3A44}" destId="{02101684-F2FE-42CF-937A-BDA3F21211C9}" srcOrd="1" destOrd="0" presId="urn:microsoft.com/office/officeart/2018/2/layout/IconLabelList"/>
    <dgm:cxn modelId="{E55CF916-B250-4432-BA27-FBC74CAE1D9E}" type="presParOf" srcId="{617CE5E8-50D0-4D8B-84F7-3A24E3AF3A44}" destId="{3A05C190-89CE-4368-87CB-1946DAC25A17}" srcOrd="2" destOrd="0" presId="urn:microsoft.com/office/officeart/2018/2/layout/IconLabelList"/>
    <dgm:cxn modelId="{A0B99857-1B19-4618-B880-194D958C0CB0}" type="presParOf" srcId="{3A05C190-89CE-4368-87CB-1946DAC25A17}" destId="{5A607C3F-48AC-446E-98EA-8653637720AD}" srcOrd="0" destOrd="0" presId="urn:microsoft.com/office/officeart/2018/2/layout/IconLabelList"/>
    <dgm:cxn modelId="{81F9A867-B71F-41C7-ACF0-7533FCFB39A0}" type="presParOf" srcId="{3A05C190-89CE-4368-87CB-1946DAC25A17}" destId="{98DA4497-CA99-46A6-8030-46FFD6E9ECB0}" srcOrd="1" destOrd="0" presId="urn:microsoft.com/office/officeart/2018/2/layout/IconLabelList"/>
    <dgm:cxn modelId="{D801C632-AD0C-442B-AB9A-B4F3A9467AF2}" type="presParOf" srcId="{3A05C190-89CE-4368-87CB-1946DAC25A17}" destId="{F50DE12E-9B81-4D15-9B46-4A5BB2CE8FE0}" srcOrd="2" destOrd="0" presId="urn:microsoft.com/office/officeart/2018/2/layout/IconLabelList"/>
    <dgm:cxn modelId="{64C1D0BC-62C9-43C7-B8BB-27C045FFDDE7}" type="presParOf" srcId="{617CE5E8-50D0-4D8B-84F7-3A24E3AF3A44}" destId="{6008704A-5840-45BE-A48D-DE6CBFA0BD9C}" srcOrd="3" destOrd="0" presId="urn:microsoft.com/office/officeart/2018/2/layout/IconLabelList"/>
    <dgm:cxn modelId="{BE8979BE-7BE3-403A-A3F2-705CCD8F4D2E}" type="presParOf" srcId="{617CE5E8-50D0-4D8B-84F7-3A24E3AF3A44}" destId="{C980C3D0-F3AF-4450-9DE2-8B4B78E73209}" srcOrd="4" destOrd="0" presId="urn:microsoft.com/office/officeart/2018/2/layout/IconLabelList"/>
    <dgm:cxn modelId="{BB9C877F-B1BC-4EC3-9EBD-0177D119D57C}" type="presParOf" srcId="{C980C3D0-F3AF-4450-9DE2-8B4B78E73209}" destId="{D583C9C1-51B6-4952-9563-F22E8531D3B5}" srcOrd="0" destOrd="0" presId="urn:microsoft.com/office/officeart/2018/2/layout/IconLabelList"/>
    <dgm:cxn modelId="{969AF3DA-5E3A-4AE4-BC26-D3C2AA1D7A1B}" type="presParOf" srcId="{C980C3D0-F3AF-4450-9DE2-8B4B78E73209}" destId="{0A237A74-E624-4687-B964-874E29109911}" srcOrd="1" destOrd="0" presId="urn:microsoft.com/office/officeart/2018/2/layout/IconLabelList"/>
    <dgm:cxn modelId="{C8A5D72C-6767-4C8D-9ED1-7BBBEE9DB49D}" type="presParOf" srcId="{C980C3D0-F3AF-4450-9DE2-8B4B78E73209}" destId="{D8A25F42-6274-4A88-9E1F-6E59B6D1F653}" srcOrd="2" destOrd="0" presId="urn:microsoft.com/office/officeart/2018/2/layout/IconLabelList"/>
    <dgm:cxn modelId="{9B551464-D5FC-4B4A-BDFD-90E2537F738E}" type="presParOf" srcId="{617CE5E8-50D0-4D8B-84F7-3A24E3AF3A44}" destId="{741B2E9D-3D63-481A-898D-0A3EBA91E014}" srcOrd="5" destOrd="0" presId="urn:microsoft.com/office/officeart/2018/2/layout/IconLabelList"/>
    <dgm:cxn modelId="{9EAAC208-7077-41D4-A699-1028769B01A3}" type="presParOf" srcId="{617CE5E8-50D0-4D8B-84F7-3A24E3AF3A44}" destId="{26AD8445-04F4-40E9-AB69-1E81F76DCF4A}" srcOrd="6" destOrd="0" presId="urn:microsoft.com/office/officeart/2018/2/layout/IconLabelList"/>
    <dgm:cxn modelId="{F4A43535-B3E5-4AF2-A82C-76CC7C143D1F}" type="presParOf" srcId="{26AD8445-04F4-40E9-AB69-1E81F76DCF4A}" destId="{3D50C6C8-50E0-4A4E-84D1-229124521A54}" srcOrd="0" destOrd="0" presId="urn:microsoft.com/office/officeart/2018/2/layout/IconLabelList"/>
    <dgm:cxn modelId="{DFB93DFB-833E-4FC8-B0CF-AD995C6A01FF}" type="presParOf" srcId="{26AD8445-04F4-40E9-AB69-1E81F76DCF4A}" destId="{21E5B01C-9AFE-4C63-9D40-A4C6648067E6}" srcOrd="1" destOrd="0" presId="urn:microsoft.com/office/officeart/2018/2/layout/IconLabelList"/>
    <dgm:cxn modelId="{C0F5CF35-1937-4E63-9375-F53BEA6CC8E5}" type="presParOf" srcId="{26AD8445-04F4-40E9-AB69-1E81F76DCF4A}" destId="{D12FB103-8BC1-43DC-8776-D904FD8C8C7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5D91A42-21A0-4D9F-B69E-E163DA827686}"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9BC36100-C69E-4F9D-AE6A-1DC7C7111737}">
      <dgm:prSet/>
      <dgm:spPr/>
      <dgm:t>
        <a:bodyPr/>
        <a:lstStyle/>
        <a:p>
          <a:pPr>
            <a:defRPr cap="all"/>
          </a:pPr>
          <a:r>
            <a:rPr lang="en-GB" dirty="0"/>
            <a:t>Sustainable sourcing</a:t>
          </a:r>
          <a:endParaRPr lang="en-US" dirty="0"/>
        </a:p>
      </dgm:t>
    </dgm:pt>
    <dgm:pt modelId="{9E1D335D-4B71-4EA9-91DF-92722D3D345E}" type="parTrans" cxnId="{B8A3F8F8-BE0D-46F0-8E92-B47FC7AA8075}">
      <dgm:prSet/>
      <dgm:spPr/>
      <dgm:t>
        <a:bodyPr/>
        <a:lstStyle/>
        <a:p>
          <a:endParaRPr lang="en-US"/>
        </a:p>
      </dgm:t>
    </dgm:pt>
    <dgm:pt modelId="{7FBFE11E-9577-4543-BFF2-AADEDAA83ACF}" type="sibTrans" cxnId="{B8A3F8F8-BE0D-46F0-8E92-B47FC7AA8075}">
      <dgm:prSet/>
      <dgm:spPr/>
      <dgm:t>
        <a:bodyPr/>
        <a:lstStyle/>
        <a:p>
          <a:endParaRPr lang="en-US"/>
        </a:p>
      </dgm:t>
    </dgm:pt>
    <dgm:pt modelId="{88CE5E09-2EAE-4A3B-A0C2-644CE3191BBA}">
      <dgm:prSet/>
      <dgm:spPr/>
      <dgm:t>
        <a:bodyPr/>
        <a:lstStyle/>
        <a:p>
          <a:pPr>
            <a:defRPr cap="all"/>
          </a:pPr>
          <a:r>
            <a:rPr lang="en-GB" dirty="0"/>
            <a:t>Fair wages</a:t>
          </a:r>
          <a:endParaRPr lang="en-US" dirty="0"/>
        </a:p>
      </dgm:t>
    </dgm:pt>
    <dgm:pt modelId="{E6728042-75DC-45DA-8DA4-3405FFFAEF8C}" type="parTrans" cxnId="{FCB52445-C25C-4A52-A014-D643C0D8ADE2}">
      <dgm:prSet/>
      <dgm:spPr/>
      <dgm:t>
        <a:bodyPr/>
        <a:lstStyle/>
        <a:p>
          <a:endParaRPr lang="en-US"/>
        </a:p>
      </dgm:t>
    </dgm:pt>
    <dgm:pt modelId="{374941CC-7302-48ED-94A6-C72875222AA7}" type="sibTrans" cxnId="{FCB52445-C25C-4A52-A014-D643C0D8ADE2}">
      <dgm:prSet/>
      <dgm:spPr/>
      <dgm:t>
        <a:bodyPr/>
        <a:lstStyle/>
        <a:p>
          <a:endParaRPr lang="en-US"/>
        </a:p>
      </dgm:t>
    </dgm:pt>
    <dgm:pt modelId="{DD20CBE1-4631-44A9-8994-A7B09D5A4448}">
      <dgm:prSet/>
      <dgm:spPr/>
      <dgm:t>
        <a:bodyPr/>
        <a:lstStyle/>
        <a:p>
          <a:pPr>
            <a:defRPr cap="all"/>
          </a:pPr>
          <a:r>
            <a:rPr lang="en-GB" dirty="0"/>
            <a:t>Honesty</a:t>
          </a:r>
          <a:endParaRPr lang="en-US" dirty="0"/>
        </a:p>
      </dgm:t>
    </dgm:pt>
    <dgm:pt modelId="{2E1E9CC5-1118-495F-9EEF-450699AA6911}" type="parTrans" cxnId="{1403D67C-CE50-4E7E-8E84-F24A6157C659}">
      <dgm:prSet/>
      <dgm:spPr/>
      <dgm:t>
        <a:bodyPr/>
        <a:lstStyle/>
        <a:p>
          <a:endParaRPr lang="en-US"/>
        </a:p>
      </dgm:t>
    </dgm:pt>
    <dgm:pt modelId="{42014D23-5BDD-4CC8-BCDC-F0B163EED065}" type="sibTrans" cxnId="{1403D67C-CE50-4E7E-8E84-F24A6157C659}">
      <dgm:prSet/>
      <dgm:spPr/>
      <dgm:t>
        <a:bodyPr/>
        <a:lstStyle/>
        <a:p>
          <a:endParaRPr lang="en-US"/>
        </a:p>
      </dgm:t>
    </dgm:pt>
    <dgm:pt modelId="{0C9CEF27-59CA-4368-9648-013348D5132A}" type="pres">
      <dgm:prSet presAssocID="{E5D91A42-21A0-4D9F-B69E-E163DA827686}" presName="root" presStyleCnt="0">
        <dgm:presLayoutVars>
          <dgm:dir/>
          <dgm:resizeHandles val="exact"/>
        </dgm:presLayoutVars>
      </dgm:prSet>
      <dgm:spPr/>
    </dgm:pt>
    <dgm:pt modelId="{10C6347E-5BA4-41E1-B594-B231F859A843}" type="pres">
      <dgm:prSet presAssocID="{9BC36100-C69E-4F9D-AE6A-1DC7C7111737}" presName="compNode" presStyleCnt="0"/>
      <dgm:spPr/>
    </dgm:pt>
    <dgm:pt modelId="{DAEBB1EC-845E-4366-A65E-4FD8B052C3C2}" type="pres">
      <dgm:prSet presAssocID="{9BC36100-C69E-4F9D-AE6A-1DC7C7111737}" presName="iconBgRect" presStyleLbl="bgShp" presStyleIdx="0" presStyleCnt="3"/>
      <dgm:spPr/>
    </dgm:pt>
    <dgm:pt modelId="{488DE3F3-1267-441D-9444-082405889178}" type="pres">
      <dgm:prSet presAssocID="{9BC36100-C69E-4F9D-AE6A-1DC7C7111737}"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eciduous tree"/>
        </a:ext>
      </dgm:extLst>
    </dgm:pt>
    <dgm:pt modelId="{C3444DCE-264E-472B-8418-ECA29765AF82}" type="pres">
      <dgm:prSet presAssocID="{9BC36100-C69E-4F9D-AE6A-1DC7C7111737}" presName="spaceRect" presStyleCnt="0"/>
      <dgm:spPr/>
    </dgm:pt>
    <dgm:pt modelId="{4DADBAFC-1FAF-4913-8FD6-3C66DA9DBC31}" type="pres">
      <dgm:prSet presAssocID="{9BC36100-C69E-4F9D-AE6A-1DC7C7111737}" presName="textRect" presStyleLbl="revTx" presStyleIdx="0" presStyleCnt="3">
        <dgm:presLayoutVars>
          <dgm:chMax val="1"/>
          <dgm:chPref val="1"/>
        </dgm:presLayoutVars>
      </dgm:prSet>
      <dgm:spPr/>
    </dgm:pt>
    <dgm:pt modelId="{8CECC8DB-D7CB-440F-A445-EA11BDC14D6F}" type="pres">
      <dgm:prSet presAssocID="{7FBFE11E-9577-4543-BFF2-AADEDAA83ACF}" presName="sibTrans" presStyleCnt="0"/>
      <dgm:spPr/>
    </dgm:pt>
    <dgm:pt modelId="{116ACA2A-3C10-46CE-A8E2-87158C461DD9}" type="pres">
      <dgm:prSet presAssocID="{88CE5E09-2EAE-4A3B-A0C2-644CE3191BBA}" presName="compNode" presStyleCnt="0"/>
      <dgm:spPr/>
    </dgm:pt>
    <dgm:pt modelId="{9989D65F-0587-42FE-B29A-10940E47FB02}" type="pres">
      <dgm:prSet presAssocID="{88CE5E09-2EAE-4A3B-A0C2-644CE3191BBA}" presName="iconBgRect" presStyleLbl="bgShp" presStyleIdx="1" presStyleCnt="3"/>
      <dgm:spPr/>
    </dgm:pt>
    <dgm:pt modelId="{DD8CBB6C-9C1F-47B7-9203-4FA68886314F}" type="pres">
      <dgm:prSet presAssocID="{88CE5E09-2EAE-4A3B-A0C2-644CE3191BBA}"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8633542A-FCA2-4D6A-98E0-BEAA555E9D8D}" type="pres">
      <dgm:prSet presAssocID="{88CE5E09-2EAE-4A3B-A0C2-644CE3191BBA}" presName="spaceRect" presStyleCnt="0"/>
      <dgm:spPr/>
    </dgm:pt>
    <dgm:pt modelId="{49DBE32C-C23D-4168-841D-36BE2B0AD461}" type="pres">
      <dgm:prSet presAssocID="{88CE5E09-2EAE-4A3B-A0C2-644CE3191BBA}" presName="textRect" presStyleLbl="revTx" presStyleIdx="1" presStyleCnt="3">
        <dgm:presLayoutVars>
          <dgm:chMax val="1"/>
          <dgm:chPref val="1"/>
        </dgm:presLayoutVars>
      </dgm:prSet>
      <dgm:spPr/>
    </dgm:pt>
    <dgm:pt modelId="{22204AF9-22B1-4E5B-9264-92BBD1E7A96A}" type="pres">
      <dgm:prSet presAssocID="{374941CC-7302-48ED-94A6-C72875222AA7}" presName="sibTrans" presStyleCnt="0"/>
      <dgm:spPr/>
    </dgm:pt>
    <dgm:pt modelId="{1C7357AB-F791-4125-AAB6-4118B482A00E}" type="pres">
      <dgm:prSet presAssocID="{DD20CBE1-4631-44A9-8994-A7B09D5A4448}" presName="compNode" presStyleCnt="0"/>
      <dgm:spPr/>
    </dgm:pt>
    <dgm:pt modelId="{7E547218-9605-4236-8834-EA4F6DF346EE}" type="pres">
      <dgm:prSet presAssocID="{DD20CBE1-4631-44A9-8994-A7B09D5A4448}" presName="iconBgRect" presStyleLbl="bgShp" presStyleIdx="2" presStyleCnt="3"/>
      <dgm:spPr/>
    </dgm:pt>
    <dgm:pt modelId="{31D6EDE0-F267-46BC-9C2A-9557AE26E84A}" type="pres">
      <dgm:prSet presAssocID="{DD20CBE1-4631-44A9-8994-A7B09D5A4448}"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heckmark"/>
        </a:ext>
      </dgm:extLst>
    </dgm:pt>
    <dgm:pt modelId="{2F4CF0C0-5BD9-4E38-B6FF-4B05D4785EB7}" type="pres">
      <dgm:prSet presAssocID="{DD20CBE1-4631-44A9-8994-A7B09D5A4448}" presName="spaceRect" presStyleCnt="0"/>
      <dgm:spPr/>
    </dgm:pt>
    <dgm:pt modelId="{0EF86A26-23AE-48A6-849E-894283E2D058}" type="pres">
      <dgm:prSet presAssocID="{DD20CBE1-4631-44A9-8994-A7B09D5A4448}" presName="textRect" presStyleLbl="revTx" presStyleIdx="2" presStyleCnt="3">
        <dgm:presLayoutVars>
          <dgm:chMax val="1"/>
          <dgm:chPref val="1"/>
        </dgm:presLayoutVars>
      </dgm:prSet>
      <dgm:spPr/>
    </dgm:pt>
  </dgm:ptLst>
  <dgm:cxnLst>
    <dgm:cxn modelId="{FCB52445-C25C-4A52-A014-D643C0D8ADE2}" srcId="{E5D91A42-21A0-4D9F-B69E-E163DA827686}" destId="{88CE5E09-2EAE-4A3B-A0C2-644CE3191BBA}" srcOrd="1" destOrd="0" parTransId="{E6728042-75DC-45DA-8DA4-3405FFFAEF8C}" sibTransId="{374941CC-7302-48ED-94A6-C72875222AA7}"/>
    <dgm:cxn modelId="{83C94173-8C37-441E-BAA3-2A0A12BC47BB}" type="presOf" srcId="{DD20CBE1-4631-44A9-8994-A7B09D5A4448}" destId="{0EF86A26-23AE-48A6-849E-894283E2D058}" srcOrd="0" destOrd="0" presId="urn:microsoft.com/office/officeart/2018/5/layout/IconCircleLabelList"/>
    <dgm:cxn modelId="{1403D67C-CE50-4E7E-8E84-F24A6157C659}" srcId="{E5D91A42-21A0-4D9F-B69E-E163DA827686}" destId="{DD20CBE1-4631-44A9-8994-A7B09D5A4448}" srcOrd="2" destOrd="0" parTransId="{2E1E9CC5-1118-495F-9EEF-450699AA6911}" sibTransId="{42014D23-5BDD-4CC8-BCDC-F0B163EED065}"/>
    <dgm:cxn modelId="{A3EED887-B098-49EA-B922-D96A7DB7EE06}" type="presOf" srcId="{88CE5E09-2EAE-4A3B-A0C2-644CE3191BBA}" destId="{49DBE32C-C23D-4168-841D-36BE2B0AD461}" srcOrd="0" destOrd="0" presId="urn:microsoft.com/office/officeart/2018/5/layout/IconCircleLabelList"/>
    <dgm:cxn modelId="{2196E8ED-850F-4D44-B580-F6613CB0BDE2}" type="presOf" srcId="{9BC36100-C69E-4F9D-AE6A-1DC7C7111737}" destId="{4DADBAFC-1FAF-4913-8FD6-3C66DA9DBC31}" srcOrd="0" destOrd="0" presId="urn:microsoft.com/office/officeart/2018/5/layout/IconCircleLabelList"/>
    <dgm:cxn modelId="{418916F8-54A7-463E-84AE-5D78946ED735}" type="presOf" srcId="{E5D91A42-21A0-4D9F-B69E-E163DA827686}" destId="{0C9CEF27-59CA-4368-9648-013348D5132A}" srcOrd="0" destOrd="0" presId="urn:microsoft.com/office/officeart/2018/5/layout/IconCircleLabelList"/>
    <dgm:cxn modelId="{B8A3F8F8-BE0D-46F0-8E92-B47FC7AA8075}" srcId="{E5D91A42-21A0-4D9F-B69E-E163DA827686}" destId="{9BC36100-C69E-4F9D-AE6A-1DC7C7111737}" srcOrd="0" destOrd="0" parTransId="{9E1D335D-4B71-4EA9-91DF-92722D3D345E}" sibTransId="{7FBFE11E-9577-4543-BFF2-AADEDAA83ACF}"/>
    <dgm:cxn modelId="{E5BC9F6E-436C-440D-B106-A085212C2CB3}" type="presParOf" srcId="{0C9CEF27-59CA-4368-9648-013348D5132A}" destId="{10C6347E-5BA4-41E1-B594-B231F859A843}" srcOrd="0" destOrd="0" presId="urn:microsoft.com/office/officeart/2018/5/layout/IconCircleLabelList"/>
    <dgm:cxn modelId="{B7B44B97-4380-4420-9FC5-1CD7F9A09594}" type="presParOf" srcId="{10C6347E-5BA4-41E1-B594-B231F859A843}" destId="{DAEBB1EC-845E-4366-A65E-4FD8B052C3C2}" srcOrd="0" destOrd="0" presId="urn:microsoft.com/office/officeart/2018/5/layout/IconCircleLabelList"/>
    <dgm:cxn modelId="{FE7DD399-32BE-4ABF-9178-82EDA136924B}" type="presParOf" srcId="{10C6347E-5BA4-41E1-B594-B231F859A843}" destId="{488DE3F3-1267-441D-9444-082405889178}" srcOrd="1" destOrd="0" presId="urn:microsoft.com/office/officeart/2018/5/layout/IconCircleLabelList"/>
    <dgm:cxn modelId="{6872FE9A-9396-45A9-A13D-7E6700DE4FEC}" type="presParOf" srcId="{10C6347E-5BA4-41E1-B594-B231F859A843}" destId="{C3444DCE-264E-472B-8418-ECA29765AF82}" srcOrd="2" destOrd="0" presId="urn:microsoft.com/office/officeart/2018/5/layout/IconCircleLabelList"/>
    <dgm:cxn modelId="{7EB8ADCA-C033-446F-AFCF-2523FB978D13}" type="presParOf" srcId="{10C6347E-5BA4-41E1-B594-B231F859A843}" destId="{4DADBAFC-1FAF-4913-8FD6-3C66DA9DBC31}" srcOrd="3" destOrd="0" presId="urn:microsoft.com/office/officeart/2018/5/layout/IconCircleLabelList"/>
    <dgm:cxn modelId="{FBE71E90-E2FB-4AFC-8D81-23AB168090E8}" type="presParOf" srcId="{0C9CEF27-59CA-4368-9648-013348D5132A}" destId="{8CECC8DB-D7CB-440F-A445-EA11BDC14D6F}" srcOrd="1" destOrd="0" presId="urn:microsoft.com/office/officeart/2018/5/layout/IconCircleLabelList"/>
    <dgm:cxn modelId="{C5622144-3A24-4F66-BBDB-F479D1392822}" type="presParOf" srcId="{0C9CEF27-59CA-4368-9648-013348D5132A}" destId="{116ACA2A-3C10-46CE-A8E2-87158C461DD9}" srcOrd="2" destOrd="0" presId="urn:microsoft.com/office/officeart/2018/5/layout/IconCircleLabelList"/>
    <dgm:cxn modelId="{C19B4737-1F4C-4027-BDE6-56EF2327DB7F}" type="presParOf" srcId="{116ACA2A-3C10-46CE-A8E2-87158C461DD9}" destId="{9989D65F-0587-42FE-B29A-10940E47FB02}" srcOrd="0" destOrd="0" presId="urn:microsoft.com/office/officeart/2018/5/layout/IconCircleLabelList"/>
    <dgm:cxn modelId="{A1C32FC0-08DD-40F6-9560-5B0C739C6C22}" type="presParOf" srcId="{116ACA2A-3C10-46CE-A8E2-87158C461DD9}" destId="{DD8CBB6C-9C1F-47B7-9203-4FA68886314F}" srcOrd="1" destOrd="0" presId="urn:microsoft.com/office/officeart/2018/5/layout/IconCircleLabelList"/>
    <dgm:cxn modelId="{250CB621-6C05-4F7D-8125-847A01F515A1}" type="presParOf" srcId="{116ACA2A-3C10-46CE-A8E2-87158C461DD9}" destId="{8633542A-FCA2-4D6A-98E0-BEAA555E9D8D}" srcOrd="2" destOrd="0" presId="urn:microsoft.com/office/officeart/2018/5/layout/IconCircleLabelList"/>
    <dgm:cxn modelId="{B9478556-8D90-42EB-A63F-5B447D519EA5}" type="presParOf" srcId="{116ACA2A-3C10-46CE-A8E2-87158C461DD9}" destId="{49DBE32C-C23D-4168-841D-36BE2B0AD461}" srcOrd="3" destOrd="0" presId="urn:microsoft.com/office/officeart/2018/5/layout/IconCircleLabelList"/>
    <dgm:cxn modelId="{6BB678A2-57B2-4AFD-9A70-B728A846FF9D}" type="presParOf" srcId="{0C9CEF27-59CA-4368-9648-013348D5132A}" destId="{22204AF9-22B1-4E5B-9264-92BBD1E7A96A}" srcOrd="3" destOrd="0" presId="urn:microsoft.com/office/officeart/2018/5/layout/IconCircleLabelList"/>
    <dgm:cxn modelId="{82F9430D-1152-4218-9E62-F3E330E0DCD1}" type="presParOf" srcId="{0C9CEF27-59CA-4368-9648-013348D5132A}" destId="{1C7357AB-F791-4125-AAB6-4118B482A00E}" srcOrd="4" destOrd="0" presId="urn:microsoft.com/office/officeart/2018/5/layout/IconCircleLabelList"/>
    <dgm:cxn modelId="{C04B5798-4A17-470F-937C-3B3544C96FC7}" type="presParOf" srcId="{1C7357AB-F791-4125-AAB6-4118B482A00E}" destId="{7E547218-9605-4236-8834-EA4F6DF346EE}" srcOrd="0" destOrd="0" presId="urn:microsoft.com/office/officeart/2018/5/layout/IconCircleLabelList"/>
    <dgm:cxn modelId="{111B8216-74CD-4D50-9716-0C1AD62A9074}" type="presParOf" srcId="{1C7357AB-F791-4125-AAB6-4118B482A00E}" destId="{31D6EDE0-F267-46BC-9C2A-9557AE26E84A}" srcOrd="1" destOrd="0" presId="urn:microsoft.com/office/officeart/2018/5/layout/IconCircleLabelList"/>
    <dgm:cxn modelId="{0C4A02AF-584F-421D-AAA1-2543F3B15BD4}" type="presParOf" srcId="{1C7357AB-F791-4125-AAB6-4118B482A00E}" destId="{2F4CF0C0-5BD9-4E38-B6FF-4B05D4785EB7}" srcOrd="2" destOrd="0" presId="urn:microsoft.com/office/officeart/2018/5/layout/IconCircleLabelList"/>
    <dgm:cxn modelId="{C5ACFDDD-0CFF-4FC3-9617-74220A8DF987}" type="presParOf" srcId="{1C7357AB-F791-4125-AAB6-4118B482A00E}" destId="{0EF86A26-23AE-48A6-849E-894283E2D05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E6F735D-E551-47D2-9CB1-8182221A04DA}"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1A83309F-2892-4FB9-B1E8-9F9118F9B466}">
      <dgm:prSet/>
      <dgm:spPr/>
      <dgm:t>
        <a:bodyPr/>
        <a:lstStyle/>
        <a:p>
          <a:pPr>
            <a:defRPr cap="all"/>
          </a:pPr>
          <a:r>
            <a:rPr lang="en-GB" dirty="0"/>
            <a:t>Legal issues</a:t>
          </a:r>
          <a:endParaRPr lang="en-US" dirty="0"/>
        </a:p>
      </dgm:t>
    </dgm:pt>
    <dgm:pt modelId="{AD08F333-AE63-470F-948C-F4D5E9849C7C}" type="parTrans" cxnId="{2561F1B2-8584-4708-A2B7-58348CEADDE7}">
      <dgm:prSet/>
      <dgm:spPr/>
      <dgm:t>
        <a:bodyPr/>
        <a:lstStyle/>
        <a:p>
          <a:endParaRPr lang="en-US"/>
        </a:p>
      </dgm:t>
    </dgm:pt>
    <dgm:pt modelId="{4B1AA85B-A09C-484E-AC8B-8448E2F75450}" type="sibTrans" cxnId="{2561F1B2-8584-4708-A2B7-58348CEADDE7}">
      <dgm:prSet/>
      <dgm:spPr/>
      <dgm:t>
        <a:bodyPr/>
        <a:lstStyle/>
        <a:p>
          <a:endParaRPr lang="en-US"/>
        </a:p>
      </dgm:t>
    </dgm:pt>
    <dgm:pt modelId="{D6872F00-3683-4DB6-AA95-195E416F144C}">
      <dgm:prSet/>
      <dgm:spPr/>
      <dgm:t>
        <a:bodyPr/>
        <a:lstStyle/>
        <a:p>
          <a:pPr>
            <a:defRPr cap="all"/>
          </a:pPr>
          <a:r>
            <a:rPr lang="en-GB" dirty="0"/>
            <a:t>Reputation damage</a:t>
          </a:r>
          <a:endParaRPr lang="en-US" dirty="0"/>
        </a:p>
      </dgm:t>
    </dgm:pt>
    <dgm:pt modelId="{482D14F3-7537-49FA-992D-F56A53CB0045}" type="parTrans" cxnId="{8B5419E8-D660-4261-B437-BE8B7098478C}">
      <dgm:prSet/>
      <dgm:spPr/>
      <dgm:t>
        <a:bodyPr/>
        <a:lstStyle/>
        <a:p>
          <a:endParaRPr lang="en-US"/>
        </a:p>
      </dgm:t>
    </dgm:pt>
    <dgm:pt modelId="{BD4227CC-A61C-48B0-ABF5-0B8BF162B28B}" type="sibTrans" cxnId="{8B5419E8-D660-4261-B437-BE8B7098478C}">
      <dgm:prSet/>
      <dgm:spPr/>
      <dgm:t>
        <a:bodyPr/>
        <a:lstStyle/>
        <a:p>
          <a:endParaRPr lang="en-US"/>
        </a:p>
      </dgm:t>
    </dgm:pt>
    <dgm:pt modelId="{7811E2AA-52F3-473F-84C7-AB9F28CAD3AB}">
      <dgm:prSet/>
      <dgm:spPr/>
      <dgm:t>
        <a:bodyPr/>
        <a:lstStyle/>
        <a:p>
          <a:pPr>
            <a:defRPr cap="all"/>
          </a:pPr>
          <a:r>
            <a:rPr lang="en-GB" dirty="0"/>
            <a:t>Loss of customers</a:t>
          </a:r>
          <a:endParaRPr lang="en-US" dirty="0"/>
        </a:p>
      </dgm:t>
    </dgm:pt>
    <dgm:pt modelId="{E0B55610-8396-4DFC-83F5-DB79B9A36EDE}" type="parTrans" cxnId="{3AE7E15F-C92E-494B-A3A4-91A0A8002FD8}">
      <dgm:prSet/>
      <dgm:spPr/>
      <dgm:t>
        <a:bodyPr/>
        <a:lstStyle/>
        <a:p>
          <a:endParaRPr lang="en-US"/>
        </a:p>
      </dgm:t>
    </dgm:pt>
    <dgm:pt modelId="{356D4621-100D-43EE-BE38-A1D7F56B9FC6}" type="sibTrans" cxnId="{3AE7E15F-C92E-494B-A3A4-91A0A8002FD8}">
      <dgm:prSet/>
      <dgm:spPr/>
      <dgm:t>
        <a:bodyPr/>
        <a:lstStyle/>
        <a:p>
          <a:endParaRPr lang="en-US"/>
        </a:p>
      </dgm:t>
    </dgm:pt>
    <dgm:pt modelId="{3084BC8C-11C4-458B-94C3-F0FA0830CD2E}" type="pres">
      <dgm:prSet presAssocID="{1E6F735D-E551-47D2-9CB1-8182221A04DA}" presName="root" presStyleCnt="0">
        <dgm:presLayoutVars>
          <dgm:dir/>
          <dgm:resizeHandles val="exact"/>
        </dgm:presLayoutVars>
      </dgm:prSet>
      <dgm:spPr/>
    </dgm:pt>
    <dgm:pt modelId="{0939F9F7-3F82-4F42-BDC2-C037AAFE4A6B}" type="pres">
      <dgm:prSet presAssocID="{1A83309F-2892-4FB9-B1E8-9F9118F9B466}" presName="compNode" presStyleCnt="0"/>
      <dgm:spPr/>
    </dgm:pt>
    <dgm:pt modelId="{545DADCD-2472-4025-80B6-9608B294297B}" type="pres">
      <dgm:prSet presAssocID="{1A83309F-2892-4FB9-B1E8-9F9118F9B466}" presName="iconBgRect" presStyleLbl="bgShp" presStyleIdx="0" presStyleCnt="3"/>
      <dgm:spPr/>
    </dgm:pt>
    <dgm:pt modelId="{27B993FE-784F-45E7-9E2D-E6E40B7B0648}" type="pres">
      <dgm:prSet presAssocID="{1A83309F-2892-4FB9-B1E8-9F9118F9B466}"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cales of Justice"/>
        </a:ext>
      </dgm:extLst>
    </dgm:pt>
    <dgm:pt modelId="{81F5E36A-E792-4778-8E55-70F5340EA565}" type="pres">
      <dgm:prSet presAssocID="{1A83309F-2892-4FB9-B1E8-9F9118F9B466}" presName="spaceRect" presStyleCnt="0"/>
      <dgm:spPr/>
    </dgm:pt>
    <dgm:pt modelId="{5C74A875-3A60-4130-A058-0B6701A06FF4}" type="pres">
      <dgm:prSet presAssocID="{1A83309F-2892-4FB9-B1E8-9F9118F9B466}" presName="textRect" presStyleLbl="revTx" presStyleIdx="0" presStyleCnt="3">
        <dgm:presLayoutVars>
          <dgm:chMax val="1"/>
          <dgm:chPref val="1"/>
        </dgm:presLayoutVars>
      </dgm:prSet>
      <dgm:spPr/>
    </dgm:pt>
    <dgm:pt modelId="{48EB2ACA-A57F-4DD4-8361-6E932D227644}" type="pres">
      <dgm:prSet presAssocID="{4B1AA85B-A09C-484E-AC8B-8448E2F75450}" presName="sibTrans" presStyleCnt="0"/>
      <dgm:spPr/>
    </dgm:pt>
    <dgm:pt modelId="{5EA1F54A-3904-4ED6-9A7A-27ECA0F222E9}" type="pres">
      <dgm:prSet presAssocID="{D6872F00-3683-4DB6-AA95-195E416F144C}" presName="compNode" presStyleCnt="0"/>
      <dgm:spPr/>
    </dgm:pt>
    <dgm:pt modelId="{AC263E23-0850-4EEF-9CA5-3647D7B0F24A}" type="pres">
      <dgm:prSet presAssocID="{D6872F00-3683-4DB6-AA95-195E416F144C}" presName="iconBgRect" presStyleLbl="bgShp" presStyleIdx="1" presStyleCnt="3"/>
      <dgm:spPr/>
    </dgm:pt>
    <dgm:pt modelId="{133B3355-BBCA-4D88-B2FA-65E9F81EAB52}" type="pres">
      <dgm:prSet presAssocID="{D6872F00-3683-4DB6-AA95-195E416F144C}"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rning"/>
        </a:ext>
      </dgm:extLst>
    </dgm:pt>
    <dgm:pt modelId="{C2C103FC-6E1D-4940-9D66-F0807A9E651A}" type="pres">
      <dgm:prSet presAssocID="{D6872F00-3683-4DB6-AA95-195E416F144C}" presName="spaceRect" presStyleCnt="0"/>
      <dgm:spPr/>
    </dgm:pt>
    <dgm:pt modelId="{C3C88DC8-88F7-4625-A2D4-6C0BB07BEB80}" type="pres">
      <dgm:prSet presAssocID="{D6872F00-3683-4DB6-AA95-195E416F144C}" presName="textRect" presStyleLbl="revTx" presStyleIdx="1" presStyleCnt="3">
        <dgm:presLayoutVars>
          <dgm:chMax val="1"/>
          <dgm:chPref val="1"/>
        </dgm:presLayoutVars>
      </dgm:prSet>
      <dgm:spPr/>
    </dgm:pt>
    <dgm:pt modelId="{FBB2B2A9-8794-4614-82DC-F662288A62D1}" type="pres">
      <dgm:prSet presAssocID="{BD4227CC-A61C-48B0-ABF5-0B8BF162B28B}" presName="sibTrans" presStyleCnt="0"/>
      <dgm:spPr/>
    </dgm:pt>
    <dgm:pt modelId="{F473C1B9-E7B5-4181-A078-C08F65120900}" type="pres">
      <dgm:prSet presAssocID="{7811E2AA-52F3-473F-84C7-AB9F28CAD3AB}" presName="compNode" presStyleCnt="0"/>
      <dgm:spPr/>
    </dgm:pt>
    <dgm:pt modelId="{B90BD580-CC0C-43D6-8A10-A46CB8CF0591}" type="pres">
      <dgm:prSet presAssocID="{7811E2AA-52F3-473F-84C7-AB9F28CAD3AB}" presName="iconBgRect" presStyleLbl="bgShp" presStyleIdx="2" presStyleCnt="3"/>
      <dgm:spPr/>
    </dgm:pt>
    <dgm:pt modelId="{04D08F31-9939-46B1-9AE8-27BA696CF3EB}" type="pres">
      <dgm:prSet presAssocID="{7811E2AA-52F3-473F-84C7-AB9F28CAD3AB}"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ownward trend"/>
        </a:ext>
      </dgm:extLst>
    </dgm:pt>
    <dgm:pt modelId="{839ED5BF-7A0A-4761-9376-BA5F3EAA795B}" type="pres">
      <dgm:prSet presAssocID="{7811E2AA-52F3-473F-84C7-AB9F28CAD3AB}" presName="spaceRect" presStyleCnt="0"/>
      <dgm:spPr/>
    </dgm:pt>
    <dgm:pt modelId="{D8A5D486-22B1-4FF7-AABC-047E23BFC5E3}" type="pres">
      <dgm:prSet presAssocID="{7811E2AA-52F3-473F-84C7-AB9F28CAD3AB}" presName="textRect" presStyleLbl="revTx" presStyleIdx="2" presStyleCnt="3">
        <dgm:presLayoutVars>
          <dgm:chMax val="1"/>
          <dgm:chPref val="1"/>
        </dgm:presLayoutVars>
      </dgm:prSet>
      <dgm:spPr/>
    </dgm:pt>
  </dgm:ptLst>
  <dgm:cxnLst>
    <dgm:cxn modelId="{86868019-C95E-4312-B7CA-A6482945F9F7}" type="presOf" srcId="{D6872F00-3683-4DB6-AA95-195E416F144C}" destId="{C3C88DC8-88F7-4625-A2D4-6C0BB07BEB80}" srcOrd="0" destOrd="0" presId="urn:microsoft.com/office/officeart/2018/5/layout/IconCircleLabelList"/>
    <dgm:cxn modelId="{6D92CF38-00CF-412A-9BE1-517B095F48FB}" type="presOf" srcId="{1E6F735D-E551-47D2-9CB1-8182221A04DA}" destId="{3084BC8C-11C4-458B-94C3-F0FA0830CD2E}" srcOrd="0" destOrd="0" presId="urn:microsoft.com/office/officeart/2018/5/layout/IconCircleLabelList"/>
    <dgm:cxn modelId="{3AE7E15F-C92E-494B-A3A4-91A0A8002FD8}" srcId="{1E6F735D-E551-47D2-9CB1-8182221A04DA}" destId="{7811E2AA-52F3-473F-84C7-AB9F28CAD3AB}" srcOrd="2" destOrd="0" parTransId="{E0B55610-8396-4DFC-83F5-DB79B9A36EDE}" sibTransId="{356D4621-100D-43EE-BE38-A1D7F56B9FC6}"/>
    <dgm:cxn modelId="{4E5EDC6C-5E13-4C75-9320-A2EE893357F5}" type="presOf" srcId="{1A83309F-2892-4FB9-B1E8-9F9118F9B466}" destId="{5C74A875-3A60-4130-A058-0B6701A06FF4}" srcOrd="0" destOrd="0" presId="urn:microsoft.com/office/officeart/2018/5/layout/IconCircleLabelList"/>
    <dgm:cxn modelId="{2561F1B2-8584-4708-A2B7-58348CEADDE7}" srcId="{1E6F735D-E551-47D2-9CB1-8182221A04DA}" destId="{1A83309F-2892-4FB9-B1E8-9F9118F9B466}" srcOrd="0" destOrd="0" parTransId="{AD08F333-AE63-470F-948C-F4D5E9849C7C}" sibTransId="{4B1AA85B-A09C-484E-AC8B-8448E2F75450}"/>
    <dgm:cxn modelId="{8B5419E8-D660-4261-B437-BE8B7098478C}" srcId="{1E6F735D-E551-47D2-9CB1-8182221A04DA}" destId="{D6872F00-3683-4DB6-AA95-195E416F144C}" srcOrd="1" destOrd="0" parTransId="{482D14F3-7537-49FA-992D-F56A53CB0045}" sibTransId="{BD4227CC-A61C-48B0-ABF5-0B8BF162B28B}"/>
    <dgm:cxn modelId="{8A53FDFF-9139-4E0D-A8C5-E87EA7B36956}" type="presOf" srcId="{7811E2AA-52F3-473F-84C7-AB9F28CAD3AB}" destId="{D8A5D486-22B1-4FF7-AABC-047E23BFC5E3}" srcOrd="0" destOrd="0" presId="urn:microsoft.com/office/officeart/2018/5/layout/IconCircleLabelList"/>
    <dgm:cxn modelId="{922602C9-3508-40FB-B259-787BDA0BE255}" type="presParOf" srcId="{3084BC8C-11C4-458B-94C3-F0FA0830CD2E}" destId="{0939F9F7-3F82-4F42-BDC2-C037AAFE4A6B}" srcOrd="0" destOrd="0" presId="urn:microsoft.com/office/officeart/2018/5/layout/IconCircleLabelList"/>
    <dgm:cxn modelId="{597E1DA6-58DC-42A8-9C03-FD5C73FA31E5}" type="presParOf" srcId="{0939F9F7-3F82-4F42-BDC2-C037AAFE4A6B}" destId="{545DADCD-2472-4025-80B6-9608B294297B}" srcOrd="0" destOrd="0" presId="urn:microsoft.com/office/officeart/2018/5/layout/IconCircleLabelList"/>
    <dgm:cxn modelId="{6EDB0E4B-0BD8-4314-A5E1-6F4DEAA1BD78}" type="presParOf" srcId="{0939F9F7-3F82-4F42-BDC2-C037AAFE4A6B}" destId="{27B993FE-784F-45E7-9E2D-E6E40B7B0648}" srcOrd="1" destOrd="0" presId="urn:microsoft.com/office/officeart/2018/5/layout/IconCircleLabelList"/>
    <dgm:cxn modelId="{D0CCAE68-E901-41D6-848B-198F1B6ED287}" type="presParOf" srcId="{0939F9F7-3F82-4F42-BDC2-C037AAFE4A6B}" destId="{81F5E36A-E792-4778-8E55-70F5340EA565}" srcOrd="2" destOrd="0" presId="urn:microsoft.com/office/officeart/2018/5/layout/IconCircleLabelList"/>
    <dgm:cxn modelId="{6AE27E86-F4CA-49F8-9613-E56A5E42BAC5}" type="presParOf" srcId="{0939F9F7-3F82-4F42-BDC2-C037AAFE4A6B}" destId="{5C74A875-3A60-4130-A058-0B6701A06FF4}" srcOrd="3" destOrd="0" presId="urn:microsoft.com/office/officeart/2018/5/layout/IconCircleLabelList"/>
    <dgm:cxn modelId="{B6C89496-AED5-4F78-9B7A-5A69F79A20DD}" type="presParOf" srcId="{3084BC8C-11C4-458B-94C3-F0FA0830CD2E}" destId="{48EB2ACA-A57F-4DD4-8361-6E932D227644}" srcOrd="1" destOrd="0" presId="urn:microsoft.com/office/officeart/2018/5/layout/IconCircleLabelList"/>
    <dgm:cxn modelId="{3B8A53CD-AF33-4934-AA81-39949911CC8A}" type="presParOf" srcId="{3084BC8C-11C4-458B-94C3-F0FA0830CD2E}" destId="{5EA1F54A-3904-4ED6-9A7A-27ECA0F222E9}" srcOrd="2" destOrd="0" presId="urn:microsoft.com/office/officeart/2018/5/layout/IconCircleLabelList"/>
    <dgm:cxn modelId="{A74DFB69-EBFA-4208-8FC0-8E44E61A3DDA}" type="presParOf" srcId="{5EA1F54A-3904-4ED6-9A7A-27ECA0F222E9}" destId="{AC263E23-0850-4EEF-9CA5-3647D7B0F24A}" srcOrd="0" destOrd="0" presId="urn:microsoft.com/office/officeart/2018/5/layout/IconCircleLabelList"/>
    <dgm:cxn modelId="{6DA7D3E6-1D85-4755-B6FC-284F9248B886}" type="presParOf" srcId="{5EA1F54A-3904-4ED6-9A7A-27ECA0F222E9}" destId="{133B3355-BBCA-4D88-B2FA-65E9F81EAB52}" srcOrd="1" destOrd="0" presId="urn:microsoft.com/office/officeart/2018/5/layout/IconCircleLabelList"/>
    <dgm:cxn modelId="{AA2CAD79-B368-48AC-B63C-CB5157A1999A}" type="presParOf" srcId="{5EA1F54A-3904-4ED6-9A7A-27ECA0F222E9}" destId="{C2C103FC-6E1D-4940-9D66-F0807A9E651A}" srcOrd="2" destOrd="0" presId="urn:microsoft.com/office/officeart/2018/5/layout/IconCircleLabelList"/>
    <dgm:cxn modelId="{47F75878-511A-41E4-A65B-F5215DA09BB7}" type="presParOf" srcId="{5EA1F54A-3904-4ED6-9A7A-27ECA0F222E9}" destId="{C3C88DC8-88F7-4625-A2D4-6C0BB07BEB80}" srcOrd="3" destOrd="0" presId="urn:microsoft.com/office/officeart/2018/5/layout/IconCircleLabelList"/>
    <dgm:cxn modelId="{736FC7CD-9CFE-4CCD-88B8-4BB10B52B90C}" type="presParOf" srcId="{3084BC8C-11C4-458B-94C3-F0FA0830CD2E}" destId="{FBB2B2A9-8794-4614-82DC-F662288A62D1}" srcOrd="3" destOrd="0" presId="urn:microsoft.com/office/officeart/2018/5/layout/IconCircleLabelList"/>
    <dgm:cxn modelId="{4C1DC319-2100-49B1-9DB9-7DEEC06820E5}" type="presParOf" srcId="{3084BC8C-11C4-458B-94C3-F0FA0830CD2E}" destId="{F473C1B9-E7B5-4181-A078-C08F65120900}" srcOrd="4" destOrd="0" presId="urn:microsoft.com/office/officeart/2018/5/layout/IconCircleLabelList"/>
    <dgm:cxn modelId="{048B5B5D-673F-49C1-A34A-F1F7401BA1F6}" type="presParOf" srcId="{F473C1B9-E7B5-4181-A078-C08F65120900}" destId="{B90BD580-CC0C-43D6-8A10-A46CB8CF0591}" srcOrd="0" destOrd="0" presId="urn:microsoft.com/office/officeart/2018/5/layout/IconCircleLabelList"/>
    <dgm:cxn modelId="{8D6B6627-A1BD-452F-93CA-DA2627895F2B}" type="presParOf" srcId="{F473C1B9-E7B5-4181-A078-C08F65120900}" destId="{04D08F31-9939-46B1-9AE8-27BA696CF3EB}" srcOrd="1" destOrd="0" presId="urn:microsoft.com/office/officeart/2018/5/layout/IconCircleLabelList"/>
    <dgm:cxn modelId="{D5BE79B8-8DDC-464B-AA4B-0C0904CCC09D}" type="presParOf" srcId="{F473C1B9-E7B5-4181-A078-C08F65120900}" destId="{839ED5BF-7A0A-4761-9376-BA5F3EAA795B}" srcOrd="2" destOrd="0" presId="urn:microsoft.com/office/officeart/2018/5/layout/IconCircleLabelList"/>
    <dgm:cxn modelId="{3CB7327A-8A3B-45F7-876A-F1F6E8B47EB7}" type="presParOf" srcId="{F473C1B9-E7B5-4181-A078-C08F65120900}" destId="{D8A5D486-22B1-4FF7-AABC-047E23BFC5E3}"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FCD196-1D40-4849-ACFF-6908092D7DA7}">
      <dsp:nvSpPr>
        <dsp:cNvPr id="0" name=""/>
        <dsp:cNvSpPr/>
      </dsp:nvSpPr>
      <dsp:spPr>
        <a:xfrm>
          <a:off x="481140" y="942043"/>
          <a:ext cx="783896" cy="7838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D65FA9C-5D28-4FE4-9792-3469F832DB5A}">
      <dsp:nvSpPr>
        <dsp:cNvPr id="0" name=""/>
        <dsp:cNvSpPr/>
      </dsp:nvSpPr>
      <dsp:spPr>
        <a:xfrm>
          <a:off x="2092" y="1987274"/>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GB" sz="2200" kern="1200" dirty="0"/>
            <a:t>Fairness</a:t>
          </a:r>
          <a:endParaRPr lang="en-US" sz="2200" kern="1200" dirty="0"/>
        </a:p>
      </dsp:txBody>
      <dsp:txXfrm>
        <a:off x="2092" y="1987274"/>
        <a:ext cx="1741992" cy="696796"/>
      </dsp:txXfrm>
    </dsp:sp>
    <dsp:sp modelId="{5A607C3F-48AC-446E-98EA-8653637720AD}">
      <dsp:nvSpPr>
        <dsp:cNvPr id="0" name=""/>
        <dsp:cNvSpPr/>
      </dsp:nvSpPr>
      <dsp:spPr>
        <a:xfrm>
          <a:off x="2527981" y="942043"/>
          <a:ext cx="783896" cy="7838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50DE12E-9B81-4D15-9B46-4A5BB2CE8FE0}">
      <dsp:nvSpPr>
        <dsp:cNvPr id="0" name=""/>
        <dsp:cNvSpPr/>
      </dsp:nvSpPr>
      <dsp:spPr>
        <a:xfrm>
          <a:off x="2048933" y="1987274"/>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GB" sz="2200" kern="1200" dirty="0"/>
            <a:t>Environment</a:t>
          </a:r>
          <a:endParaRPr lang="en-US" sz="2200" kern="1200" dirty="0"/>
        </a:p>
      </dsp:txBody>
      <dsp:txXfrm>
        <a:off x="2048933" y="1987274"/>
        <a:ext cx="1741992" cy="696796"/>
      </dsp:txXfrm>
    </dsp:sp>
    <dsp:sp modelId="{D583C9C1-51B6-4952-9563-F22E8531D3B5}">
      <dsp:nvSpPr>
        <dsp:cNvPr id="0" name=""/>
        <dsp:cNvSpPr/>
      </dsp:nvSpPr>
      <dsp:spPr>
        <a:xfrm>
          <a:off x="4574822" y="942043"/>
          <a:ext cx="783896" cy="7838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A25F42-6274-4A88-9E1F-6E59B6D1F653}">
      <dsp:nvSpPr>
        <dsp:cNvPr id="0" name=""/>
        <dsp:cNvSpPr/>
      </dsp:nvSpPr>
      <dsp:spPr>
        <a:xfrm>
          <a:off x="4095774" y="1987274"/>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GB" sz="2200" kern="1200" dirty="0"/>
            <a:t>Legal compliance</a:t>
          </a:r>
          <a:endParaRPr lang="en-US" sz="2200" kern="1200" dirty="0"/>
        </a:p>
      </dsp:txBody>
      <dsp:txXfrm>
        <a:off x="4095774" y="1987274"/>
        <a:ext cx="1741992" cy="696796"/>
      </dsp:txXfrm>
    </dsp:sp>
    <dsp:sp modelId="{3D50C6C8-50E0-4A4E-84D1-229124521A54}">
      <dsp:nvSpPr>
        <dsp:cNvPr id="0" name=""/>
        <dsp:cNvSpPr/>
      </dsp:nvSpPr>
      <dsp:spPr>
        <a:xfrm>
          <a:off x="6621662" y="942043"/>
          <a:ext cx="783896" cy="7838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2FB103-8BC1-43DC-8776-D904FD8C8C70}">
      <dsp:nvSpPr>
        <dsp:cNvPr id="0" name=""/>
        <dsp:cNvSpPr/>
      </dsp:nvSpPr>
      <dsp:spPr>
        <a:xfrm>
          <a:off x="6142615" y="1987274"/>
          <a:ext cx="1741992" cy="696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GB" sz="2200" kern="1200" dirty="0"/>
            <a:t>Transparency</a:t>
          </a:r>
          <a:endParaRPr lang="en-US" sz="2200" kern="1200" dirty="0"/>
        </a:p>
      </dsp:txBody>
      <dsp:txXfrm>
        <a:off x="6142615" y="1987274"/>
        <a:ext cx="1741992" cy="6967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EBB1EC-845E-4366-A65E-4FD8B052C3C2}">
      <dsp:nvSpPr>
        <dsp:cNvPr id="0" name=""/>
        <dsp:cNvSpPr/>
      </dsp:nvSpPr>
      <dsp:spPr>
        <a:xfrm>
          <a:off x="530099" y="530557"/>
          <a:ext cx="1406812" cy="1406812"/>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8DE3F3-1267-441D-9444-082405889178}">
      <dsp:nvSpPr>
        <dsp:cNvPr id="0" name=""/>
        <dsp:cNvSpPr/>
      </dsp:nvSpPr>
      <dsp:spPr>
        <a:xfrm>
          <a:off x="829912" y="830369"/>
          <a:ext cx="807187" cy="807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DADBAFC-1FAF-4913-8FD6-3C66DA9DBC31}">
      <dsp:nvSpPr>
        <dsp:cNvPr id="0" name=""/>
        <dsp:cNvSpPr/>
      </dsp:nvSpPr>
      <dsp:spPr>
        <a:xfrm>
          <a:off x="80381" y="2375557"/>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GB" sz="2500" kern="1200"/>
            <a:t>Sustainable sourcing</a:t>
          </a:r>
          <a:endParaRPr lang="en-US" sz="2500" kern="1200"/>
        </a:p>
      </dsp:txBody>
      <dsp:txXfrm>
        <a:off x="80381" y="2375557"/>
        <a:ext cx="2306250" cy="720000"/>
      </dsp:txXfrm>
    </dsp:sp>
    <dsp:sp modelId="{9989D65F-0587-42FE-B29A-10940E47FB02}">
      <dsp:nvSpPr>
        <dsp:cNvPr id="0" name=""/>
        <dsp:cNvSpPr/>
      </dsp:nvSpPr>
      <dsp:spPr>
        <a:xfrm>
          <a:off x="3239943" y="530557"/>
          <a:ext cx="1406812" cy="1406812"/>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8CBB6C-9C1F-47B7-9203-4FA68886314F}">
      <dsp:nvSpPr>
        <dsp:cNvPr id="0" name=""/>
        <dsp:cNvSpPr/>
      </dsp:nvSpPr>
      <dsp:spPr>
        <a:xfrm>
          <a:off x="3539756" y="830369"/>
          <a:ext cx="807187" cy="807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DBE32C-C23D-4168-841D-36BE2B0AD461}">
      <dsp:nvSpPr>
        <dsp:cNvPr id="0" name=""/>
        <dsp:cNvSpPr/>
      </dsp:nvSpPr>
      <dsp:spPr>
        <a:xfrm>
          <a:off x="2790224" y="2375557"/>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GB" sz="2500" kern="1200"/>
            <a:t>Fair wages</a:t>
          </a:r>
          <a:endParaRPr lang="en-US" sz="2500" kern="1200"/>
        </a:p>
      </dsp:txBody>
      <dsp:txXfrm>
        <a:off x="2790224" y="2375557"/>
        <a:ext cx="2306250" cy="720000"/>
      </dsp:txXfrm>
    </dsp:sp>
    <dsp:sp modelId="{7E547218-9605-4236-8834-EA4F6DF346EE}">
      <dsp:nvSpPr>
        <dsp:cNvPr id="0" name=""/>
        <dsp:cNvSpPr/>
      </dsp:nvSpPr>
      <dsp:spPr>
        <a:xfrm>
          <a:off x="5949787" y="530557"/>
          <a:ext cx="1406812" cy="1406812"/>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D6EDE0-F267-46BC-9C2A-9557AE26E84A}">
      <dsp:nvSpPr>
        <dsp:cNvPr id="0" name=""/>
        <dsp:cNvSpPr/>
      </dsp:nvSpPr>
      <dsp:spPr>
        <a:xfrm>
          <a:off x="6249600" y="830369"/>
          <a:ext cx="807187" cy="807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EF86A26-23AE-48A6-849E-894283E2D058}">
      <dsp:nvSpPr>
        <dsp:cNvPr id="0" name=""/>
        <dsp:cNvSpPr/>
      </dsp:nvSpPr>
      <dsp:spPr>
        <a:xfrm>
          <a:off x="5500068" y="2375557"/>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GB" sz="2500" kern="1200"/>
            <a:t>Honesty</a:t>
          </a:r>
          <a:endParaRPr lang="en-US" sz="2500" kern="1200"/>
        </a:p>
      </dsp:txBody>
      <dsp:txXfrm>
        <a:off x="5500068" y="2375557"/>
        <a:ext cx="230625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5DADCD-2472-4025-80B6-9608B294297B}">
      <dsp:nvSpPr>
        <dsp:cNvPr id="0" name=""/>
        <dsp:cNvSpPr/>
      </dsp:nvSpPr>
      <dsp:spPr>
        <a:xfrm>
          <a:off x="472950" y="432000"/>
          <a:ext cx="1406812" cy="140681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B993FE-784F-45E7-9E2D-E6E40B7B0648}">
      <dsp:nvSpPr>
        <dsp:cNvPr id="0" name=""/>
        <dsp:cNvSpPr/>
      </dsp:nvSpPr>
      <dsp:spPr>
        <a:xfrm>
          <a:off x="772762" y="731812"/>
          <a:ext cx="807187" cy="807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74A875-3A60-4130-A058-0B6701A06FF4}">
      <dsp:nvSpPr>
        <dsp:cNvPr id="0" name=""/>
        <dsp:cNvSpPr/>
      </dsp:nvSpPr>
      <dsp:spPr>
        <a:xfrm>
          <a:off x="23231" y="2277000"/>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GB" sz="2500" kern="1200"/>
            <a:t>Legal issues</a:t>
          </a:r>
          <a:endParaRPr lang="en-US" sz="2500" kern="1200"/>
        </a:p>
      </dsp:txBody>
      <dsp:txXfrm>
        <a:off x="23231" y="2277000"/>
        <a:ext cx="2306250" cy="720000"/>
      </dsp:txXfrm>
    </dsp:sp>
    <dsp:sp modelId="{AC263E23-0850-4EEF-9CA5-3647D7B0F24A}">
      <dsp:nvSpPr>
        <dsp:cNvPr id="0" name=""/>
        <dsp:cNvSpPr/>
      </dsp:nvSpPr>
      <dsp:spPr>
        <a:xfrm>
          <a:off x="3182793" y="432000"/>
          <a:ext cx="1406812" cy="140681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3B3355-BBCA-4D88-B2FA-65E9F81EAB52}">
      <dsp:nvSpPr>
        <dsp:cNvPr id="0" name=""/>
        <dsp:cNvSpPr/>
      </dsp:nvSpPr>
      <dsp:spPr>
        <a:xfrm>
          <a:off x="3482606" y="731812"/>
          <a:ext cx="807187" cy="807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C88DC8-88F7-4625-A2D4-6C0BB07BEB80}">
      <dsp:nvSpPr>
        <dsp:cNvPr id="0" name=""/>
        <dsp:cNvSpPr/>
      </dsp:nvSpPr>
      <dsp:spPr>
        <a:xfrm>
          <a:off x="2733075" y="2277000"/>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GB" sz="2500" kern="1200"/>
            <a:t>Reputation damage</a:t>
          </a:r>
          <a:endParaRPr lang="en-US" sz="2500" kern="1200"/>
        </a:p>
      </dsp:txBody>
      <dsp:txXfrm>
        <a:off x="2733075" y="2277000"/>
        <a:ext cx="2306250" cy="720000"/>
      </dsp:txXfrm>
    </dsp:sp>
    <dsp:sp modelId="{B90BD580-CC0C-43D6-8A10-A46CB8CF0591}">
      <dsp:nvSpPr>
        <dsp:cNvPr id="0" name=""/>
        <dsp:cNvSpPr/>
      </dsp:nvSpPr>
      <dsp:spPr>
        <a:xfrm>
          <a:off x="5892637" y="432000"/>
          <a:ext cx="1406812" cy="140681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D08F31-9939-46B1-9AE8-27BA696CF3EB}">
      <dsp:nvSpPr>
        <dsp:cNvPr id="0" name=""/>
        <dsp:cNvSpPr/>
      </dsp:nvSpPr>
      <dsp:spPr>
        <a:xfrm>
          <a:off x="6192449" y="731812"/>
          <a:ext cx="807187" cy="807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A5D486-22B1-4FF7-AABC-047E23BFC5E3}">
      <dsp:nvSpPr>
        <dsp:cNvPr id="0" name=""/>
        <dsp:cNvSpPr/>
      </dsp:nvSpPr>
      <dsp:spPr>
        <a:xfrm>
          <a:off x="5442918" y="2277000"/>
          <a:ext cx="23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GB" sz="2500" kern="1200"/>
            <a:t>Loss of customers</a:t>
          </a:r>
          <a:endParaRPr lang="en-US" sz="2500" kern="1200"/>
        </a:p>
      </dsp:txBody>
      <dsp:txXfrm>
        <a:off x="5442918" y="2277000"/>
        <a:ext cx="230625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836208CD-0383-6649-A012-BD250FF3A379}" type="datetimeFigureOut">
              <a:rPr lang="en-US" smtClean="0"/>
              <a:t>4/21/2026</a:t>
            </a:fld>
            <a:endParaRPr lang="en-US" dirty="0"/>
          </a:p>
        </p:txBody>
      </p:sp>
      <p:sp>
        <p:nvSpPr>
          <p:cNvPr id="4" name="Footer Placeholder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695A2950-94D6-1244-8EEB-60D45A15CD50}" type="slidenum">
              <a:rPr lang="en-US" smtClean="0"/>
              <a:t>‹#›</a:t>
            </a:fld>
            <a:endParaRPr lang="en-US" dirty="0"/>
          </a:p>
        </p:txBody>
      </p:sp>
    </p:spTree>
    <p:extLst>
      <p:ext uri="{BB962C8B-B14F-4D97-AF65-F5344CB8AC3E}">
        <p14:creationId xmlns:p14="http://schemas.microsoft.com/office/powerpoint/2010/main" val="3911838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7F357469-C70E-4B56-987B-0082086F0B8C}" type="datetimeFigureOut">
              <a:rPr lang="en-GB" smtClean="0"/>
              <a:t>21/04/2026</a:t>
            </a:fld>
            <a:endParaRPr lang="en-GB" dirty="0"/>
          </a:p>
        </p:txBody>
      </p:sp>
      <p:sp>
        <p:nvSpPr>
          <p:cNvPr id="4" name="Slide Image Placeholder 3"/>
          <p:cNvSpPr>
            <a:spLocks noGrp="1" noRot="1" noChangeAspect="1"/>
          </p:cNvSpPr>
          <p:nvPr>
            <p:ph type="sldImg" idx="2"/>
          </p:nvPr>
        </p:nvSpPr>
        <p:spPr>
          <a:xfrm>
            <a:off x="719138" y="1241425"/>
            <a:ext cx="5359400" cy="3349625"/>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3C2141A1-FA70-4217-A960-49FE662E2A30}" type="slidenum">
              <a:rPr lang="en-GB" smtClean="0"/>
              <a:t>‹#›</a:t>
            </a:fld>
            <a:endParaRPr lang="en-GB" dirty="0"/>
          </a:p>
        </p:txBody>
      </p:sp>
    </p:spTree>
    <p:extLst>
      <p:ext uri="{BB962C8B-B14F-4D97-AF65-F5344CB8AC3E}">
        <p14:creationId xmlns:p14="http://schemas.microsoft.com/office/powerpoint/2010/main" val="2974684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kanbanize.com/lean-management/what-is-lean-management/"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www.clearpointstrategy.com/hoshin-planning-how-to-use-it/"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3" Type="http://schemas.openxmlformats.org/officeDocument/2006/relationships/hyperlink" Target="https://en.wikipedia.org/w/index.php?title=Capability_management&amp;action=edit&amp;section=8" TargetMode="External"/><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C2141A1-FA70-4217-A960-49FE662E2A30}" type="slidenum">
              <a:rPr lang="en-GB" smtClean="0"/>
              <a:t>1</a:t>
            </a:fld>
            <a:endParaRPr lang="en-GB" dirty="0"/>
          </a:p>
        </p:txBody>
      </p:sp>
    </p:spTree>
    <p:extLst>
      <p:ext uri="{BB962C8B-B14F-4D97-AF65-F5344CB8AC3E}">
        <p14:creationId xmlns:p14="http://schemas.microsoft.com/office/powerpoint/2010/main" val="3190674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sz="1200" b="1" i="0" u="none" strike="noStrike" kern="1200" baseline="0" dirty="0">
                <a:solidFill>
                  <a:schemeClr val="tx1"/>
                </a:solidFill>
                <a:latin typeface="+mn-lt"/>
                <a:ea typeface="+mn-ea"/>
                <a:cs typeface="+mn-cs"/>
              </a:rPr>
              <a:t>Introduction</a:t>
            </a:r>
          </a:p>
          <a:p>
            <a:r>
              <a:rPr lang="en-GB" sz="1200" b="0" i="0" u="none" strike="noStrike" kern="1200" baseline="0" dirty="0">
                <a:solidFill>
                  <a:schemeClr val="tx1"/>
                </a:solidFill>
                <a:latin typeface="+mn-lt"/>
                <a:ea typeface="+mn-ea"/>
                <a:cs typeface="+mn-cs"/>
              </a:rPr>
              <a:t>An organisational strategy sets out the organisation’s vision and purpose, upon which future, long term developments will be based. It provides a framework for managers that informs the way they plan and deliver products and services, and how they manage their teams and departments.</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The organisational strategy sets out the broad picture and will often cover several years. The details about resources, activities and performance measurements that will be needed to achieve the objectives set out in the strategy are contained within the operational plans for each team and department. These will include all aspects of the day-to-day running as well as how team and departmental objectives tie in with the overall goals for the organisation.</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Long-term goals set out in an organisation’s strategy could include, for example:</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 becoming one of the top three supermarket chains in the UK in the next three years</a:t>
            </a:r>
          </a:p>
          <a:p>
            <a:r>
              <a:rPr lang="en-GB" sz="1200" b="0" i="0" u="none" strike="noStrike" kern="1200" baseline="0" dirty="0">
                <a:solidFill>
                  <a:schemeClr val="tx1"/>
                </a:solidFill>
                <a:latin typeface="+mn-lt"/>
                <a:ea typeface="+mn-ea"/>
                <a:cs typeface="+mn-cs"/>
              </a:rPr>
              <a:t>• setting up new stores and offices outside Europe in the next five years</a:t>
            </a:r>
          </a:p>
          <a:p>
            <a:r>
              <a:rPr lang="en-GB" sz="1200" b="0" i="0" u="none" strike="noStrike" kern="1200" baseline="0" dirty="0">
                <a:solidFill>
                  <a:schemeClr val="tx1"/>
                </a:solidFill>
                <a:latin typeface="+mn-lt"/>
                <a:ea typeface="+mn-ea"/>
                <a:cs typeface="+mn-cs"/>
              </a:rPr>
              <a:t>• regaining a reputation for being the best UK employer</a:t>
            </a:r>
          </a:p>
          <a:p>
            <a:r>
              <a:rPr lang="en-GB" sz="1200" b="0" i="0" u="none" strike="noStrike" kern="1200" baseline="0" dirty="0">
                <a:solidFill>
                  <a:schemeClr val="tx1"/>
                </a:solidFill>
                <a:latin typeface="+mn-lt"/>
                <a:ea typeface="+mn-ea"/>
                <a:cs typeface="+mn-cs"/>
              </a:rPr>
              <a:t>• to maintain the highest standards of teaching and research opportunities for students</a:t>
            </a:r>
          </a:p>
          <a:p>
            <a:r>
              <a:rPr lang="en-GB" sz="1200" b="0" i="0" u="none" strike="noStrike" kern="1200" baseline="0" dirty="0">
                <a:solidFill>
                  <a:schemeClr val="tx1"/>
                </a:solidFill>
                <a:latin typeface="+mn-lt"/>
                <a:ea typeface="+mn-ea"/>
                <a:cs typeface="+mn-cs"/>
              </a:rPr>
              <a:t>• to invest in projects that will have long-term value for the local community</a:t>
            </a:r>
          </a:p>
          <a:p>
            <a:r>
              <a:rPr lang="en-GB" sz="1200" b="0" i="0" u="none" strike="noStrike" kern="1200" baseline="0" dirty="0">
                <a:solidFill>
                  <a:schemeClr val="tx1"/>
                </a:solidFill>
                <a:latin typeface="+mn-lt"/>
                <a:ea typeface="+mn-ea"/>
                <a:cs typeface="+mn-cs"/>
              </a:rPr>
              <a:t>• to recruit and retain high-calibre staff from across the world</a:t>
            </a:r>
          </a:p>
          <a:p>
            <a:r>
              <a:rPr lang="en-GB" sz="1200" b="0" i="0" u="none" strike="noStrike" kern="1200" baseline="0" dirty="0">
                <a:solidFill>
                  <a:schemeClr val="tx1"/>
                </a:solidFill>
                <a:latin typeface="+mn-lt"/>
                <a:ea typeface="+mn-ea"/>
                <a:cs typeface="+mn-cs"/>
              </a:rPr>
              <a:t>• to reduce waste of energy and resources by 25% over three years</a:t>
            </a:r>
          </a:p>
        </p:txBody>
      </p:sp>
      <p:sp>
        <p:nvSpPr>
          <p:cNvPr id="4" name="Slide Number Placeholder 3"/>
          <p:cNvSpPr>
            <a:spLocks noGrp="1"/>
          </p:cNvSpPr>
          <p:nvPr>
            <p:ph type="sldNum" sz="quarter" idx="10"/>
          </p:nvPr>
        </p:nvSpPr>
        <p:spPr/>
        <p:txBody>
          <a:bodyPr/>
          <a:lstStyle/>
          <a:p>
            <a:fld id="{3C2141A1-FA70-4217-A960-49FE662E2A30}" type="slidenum">
              <a:rPr lang="en-GB" smtClean="0"/>
              <a:t>2</a:t>
            </a:fld>
            <a:endParaRPr lang="en-GB" dirty="0"/>
          </a:p>
        </p:txBody>
      </p:sp>
    </p:spTree>
    <p:extLst>
      <p:ext uri="{BB962C8B-B14F-4D97-AF65-F5344CB8AC3E}">
        <p14:creationId xmlns:p14="http://schemas.microsoft.com/office/powerpoint/2010/main" val="32771318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98E96EA1-36E1-4572-9E6B-75288E19BF57}"/>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F464128-39E6-4678-9DBF-63F818E4BFDD}" type="slidenum">
              <a:rPr lang="en-GB" altLang="en-US" sz="1200"/>
              <a:pPr/>
              <a:t>3</a:t>
            </a:fld>
            <a:endParaRPr lang="en-GB" altLang="en-US" sz="1200" dirty="0"/>
          </a:p>
        </p:txBody>
      </p:sp>
      <p:sp>
        <p:nvSpPr>
          <p:cNvPr id="14339" name="Rectangle 2">
            <a:extLst>
              <a:ext uri="{FF2B5EF4-FFF2-40B4-BE49-F238E27FC236}">
                <a16:creationId xmlns:a16="http://schemas.microsoft.com/office/drawing/2014/main" id="{2D19EACC-06E9-457F-BC76-3F648A402794}"/>
              </a:ext>
            </a:extLst>
          </p:cNvPr>
          <p:cNvSpPr>
            <a:spLocks noGrp="1" noRot="1" noChangeAspect="1" noChangeArrowheads="1" noTextEdit="1"/>
          </p:cNvSpPr>
          <p:nvPr>
            <p:ph type="sldImg"/>
          </p:nvPr>
        </p:nvSpPr>
        <p:spPr>
          <a:ln/>
        </p:spPr>
        <p:txBody>
          <a:bodyPr/>
          <a:lstStyle/>
          <a:p>
            <a:endParaRPr lang="en-GB"/>
          </a:p>
        </p:txBody>
      </p:sp>
      <p:sp>
        <p:nvSpPr>
          <p:cNvPr id="14340" name="Rectangle 3">
            <a:extLst>
              <a:ext uri="{FF2B5EF4-FFF2-40B4-BE49-F238E27FC236}">
                <a16:creationId xmlns:a16="http://schemas.microsoft.com/office/drawing/2014/main" id="{8A0DA057-8762-4B22-AFC7-987008BB1452}"/>
              </a:ext>
            </a:extLst>
          </p:cNvPr>
          <p:cNvSpPr>
            <a:spLocks noGrp="1" noChangeArrowheads="1"/>
          </p:cNvSpPr>
          <p:nvPr>
            <p:ph type="body" idx="1"/>
          </p:nvPr>
        </p:nvSpPr>
        <p:spPr>
          <a:noFill/>
        </p:spPr>
        <p:txBody>
          <a:bodyPr/>
          <a:lstStyle/>
          <a:p>
            <a:r>
              <a:rPr lang="en-GB" altLang="en-US" dirty="0"/>
              <a:t>X - Q</a:t>
            </a:r>
            <a:r>
              <a:rPr lang="en-GB" altLang="en-US" baseline="0" dirty="0"/>
              <a:t> – What is Operational Management? (Discuss as group and then cover the below)</a:t>
            </a:r>
          </a:p>
          <a:p>
            <a:endParaRPr lang="en-GB" altLang="en-US" baseline="0" dirty="0"/>
          </a:p>
          <a:p>
            <a:r>
              <a:rPr lang="en-GB" altLang="en-US" baseline="0" dirty="0"/>
              <a:t>A - </a:t>
            </a:r>
            <a:r>
              <a:rPr lang="en-GB" sz="1200" b="0" i="0" u="none" strike="noStrike" kern="1200" baseline="0" dirty="0">
                <a:solidFill>
                  <a:schemeClr val="tx1"/>
                </a:solidFill>
                <a:latin typeface="+mn-lt"/>
                <a:ea typeface="+mn-ea"/>
                <a:cs typeface="+mn-cs"/>
              </a:rPr>
              <a:t>According to the online dictionary, operations management is defined as:</a:t>
            </a:r>
          </a:p>
          <a:p>
            <a:r>
              <a:rPr lang="en-GB" sz="1200" b="0" i="0" u="none" strike="noStrike" kern="1200" baseline="0" dirty="0">
                <a:solidFill>
                  <a:schemeClr val="tx1"/>
                </a:solidFill>
                <a:latin typeface="+mn-lt"/>
                <a:ea typeface="+mn-ea"/>
                <a:cs typeface="+mn-cs"/>
              </a:rPr>
              <a:t>‘The design, execution and control of operations that convert resources into desired good sand services, and implement a company’s business strategy’</a:t>
            </a:r>
          </a:p>
          <a:p>
            <a:endParaRPr lang="en-GB" altLang="en-US" sz="1200" b="0" i="0" u="none" strike="noStrike" kern="1200" baseline="0" dirty="0">
              <a:solidFill>
                <a:schemeClr val="tx1"/>
              </a:solidFill>
              <a:latin typeface="+mn-lt"/>
              <a:ea typeface="+mn-ea"/>
              <a:cs typeface="+mn-cs"/>
            </a:endParaRPr>
          </a:p>
          <a:p>
            <a:endParaRPr lang="en-GB" altLang="en-US" dirty="0"/>
          </a:p>
        </p:txBody>
      </p:sp>
    </p:spTree>
    <p:extLst>
      <p:ext uri="{BB962C8B-B14F-4D97-AF65-F5344CB8AC3E}">
        <p14:creationId xmlns:p14="http://schemas.microsoft.com/office/powerpoint/2010/main" val="19155128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78BE3C5E-BFA2-4550-AC73-51263E9F6EF5}"/>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0CE45F7-C40A-4FDF-A9EB-E14A06E1918A}" type="slidenum">
              <a:rPr lang="en-GB" altLang="en-US" sz="1200"/>
              <a:pPr/>
              <a:t>4</a:t>
            </a:fld>
            <a:endParaRPr lang="en-GB" altLang="en-US" sz="1200" dirty="0"/>
          </a:p>
        </p:txBody>
      </p:sp>
      <p:sp>
        <p:nvSpPr>
          <p:cNvPr id="21507" name="Rectangle 2">
            <a:extLst>
              <a:ext uri="{FF2B5EF4-FFF2-40B4-BE49-F238E27FC236}">
                <a16:creationId xmlns:a16="http://schemas.microsoft.com/office/drawing/2014/main" id="{AA886933-DACD-4083-AFCA-70319455921F}"/>
              </a:ext>
            </a:extLst>
          </p:cNvPr>
          <p:cNvSpPr>
            <a:spLocks noGrp="1" noRot="1" noChangeAspect="1" noChangeArrowheads="1" noTextEdit="1"/>
          </p:cNvSpPr>
          <p:nvPr>
            <p:ph type="sldImg"/>
          </p:nvPr>
        </p:nvSpPr>
        <p:spPr>
          <a:ln/>
        </p:spPr>
        <p:txBody>
          <a:bodyPr/>
          <a:lstStyle/>
          <a:p>
            <a:endParaRPr lang="en-GB"/>
          </a:p>
        </p:txBody>
      </p:sp>
      <p:sp>
        <p:nvSpPr>
          <p:cNvPr id="21508" name="Rectangle 3">
            <a:extLst>
              <a:ext uri="{FF2B5EF4-FFF2-40B4-BE49-F238E27FC236}">
                <a16:creationId xmlns:a16="http://schemas.microsoft.com/office/drawing/2014/main" id="{3BA19DB6-A71F-4162-A157-C85BC0B7AAE7}"/>
              </a:ext>
            </a:extLst>
          </p:cNvPr>
          <p:cNvSpPr>
            <a:spLocks noGrp="1" noChangeArrowheads="1"/>
          </p:cNvSpPr>
          <p:nvPr>
            <p:ph type="body" idx="1"/>
          </p:nvPr>
        </p:nvSpPr>
        <p:spPr>
          <a:noFill/>
        </p:spPr>
        <p:txBody>
          <a:bodyPr/>
          <a:lstStyle/>
          <a:p>
            <a:r>
              <a:rPr lang="en-GB" altLang="en-US" dirty="0"/>
              <a:t>Just</a:t>
            </a:r>
            <a:r>
              <a:rPr lang="en-GB" altLang="en-US" baseline="0" dirty="0"/>
              <a:t> read slide</a:t>
            </a:r>
            <a:endParaRPr lang="en-GB" altLang="en-US" dirty="0"/>
          </a:p>
        </p:txBody>
      </p:sp>
    </p:spTree>
    <p:extLst>
      <p:ext uri="{BB962C8B-B14F-4D97-AF65-F5344CB8AC3E}">
        <p14:creationId xmlns:p14="http://schemas.microsoft.com/office/powerpoint/2010/main" val="3120841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E5D6D260-7894-47CE-848E-11D282E5FB5B}"/>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C7C350B-17E5-498F-BB11-F6C0552224E3}" type="slidenum">
              <a:rPr lang="en-GB" altLang="en-US" sz="1200"/>
              <a:pPr/>
              <a:t>5</a:t>
            </a:fld>
            <a:endParaRPr lang="en-GB" altLang="en-US" sz="1200" dirty="0"/>
          </a:p>
        </p:txBody>
      </p:sp>
      <p:sp>
        <p:nvSpPr>
          <p:cNvPr id="19459" name="Rectangle 2">
            <a:extLst>
              <a:ext uri="{FF2B5EF4-FFF2-40B4-BE49-F238E27FC236}">
                <a16:creationId xmlns:a16="http://schemas.microsoft.com/office/drawing/2014/main" id="{2702B71B-EA78-425A-AC68-E9E45E151801}"/>
              </a:ext>
            </a:extLst>
          </p:cNvPr>
          <p:cNvSpPr>
            <a:spLocks noGrp="1" noRot="1" noChangeAspect="1" noChangeArrowheads="1" noTextEdit="1"/>
          </p:cNvSpPr>
          <p:nvPr>
            <p:ph type="sldImg"/>
          </p:nvPr>
        </p:nvSpPr>
        <p:spPr>
          <a:ln/>
        </p:spPr>
        <p:txBody>
          <a:bodyPr/>
          <a:lstStyle/>
          <a:p>
            <a:endParaRPr lang="en-GB"/>
          </a:p>
        </p:txBody>
      </p:sp>
      <p:sp>
        <p:nvSpPr>
          <p:cNvPr id="19460" name="Rectangle 3">
            <a:extLst>
              <a:ext uri="{FF2B5EF4-FFF2-40B4-BE49-F238E27FC236}">
                <a16:creationId xmlns:a16="http://schemas.microsoft.com/office/drawing/2014/main" id="{C8106386-4456-4B6F-B1F4-79AC811C5900}"/>
              </a:ext>
            </a:extLst>
          </p:cNvPr>
          <p:cNvSpPr>
            <a:spLocks noGrp="1" noChangeArrowheads="1"/>
          </p:cNvSpPr>
          <p:nvPr>
            <p:ph type="body" idx="1"/>
          </p:nvPr>
        </p:nvSpPr>
        <p:spPr>
          <a:noFill/>
        </p:spPr>
        <p:txBody>
          <a:bodyPr/>
          <a:lstStyle/>
          <a:p>
            <a:pPr>
              <a:spcBef>
                <a:spcPct val="100000"/>
              </a:spcBef>
            </a:pPr>
            <a:r>
              <a:rPr lang="en-GB" altLang="en-US" sz="1800" b="1" dirty="0"/>
              <a:t>X - An organisation’s statement of purpose should ideally say three things, preferably in one short sentence – a mission statement</a:t>
            </a:r>
          </a:p>
          <a:p>
            <a:pPr lvl="1">
              <a:spcBef>
                <a:spcPct val="100000"/>
              </a:spcBef>
            </a:pPr>
            <a:r>
              <a:rPr lang="en-GB" altLang="en-US" b="1" dirty="0"/>
              <a:t>Who we are</a:t>
            </a:r>
          </a:p>
          <a:p>
            <a:pPr lvl="1">
              <a:spcBef>
                <a:spcPct val="100000"/>
              </a:spcBef>
            </a:pPr>
            <a:r>
              <a:rPr lang="en-GB" altLang="en-US" b="1" dirty="0"/>
              <a:t>Who our customers are</a:t>
            </a:r>
          </a:p>
          <a:p>
            <a:pPr lvl="1">
              <a:spcBef>
                <a:spcPct val="100000"/>
              </a:spcBef>
            </a:pPr>
            <a:r>
              <a:rPr lang="en-GB" altLang="en-US" b="1" dirty="0"/>
              <a:t>What we do for them</a:t>
            </a:r>
          </a:p>
          <a:p>
            <a:pPr lvl="1">
              <a:spcBef>
                <a:spcPct val="100000"/>
              </a:spcBef>
            </a:pPr>
            <a:endParaRPr lang="en-GB" altLang="en-US" b="1" dirty="0"/>
          </a:p>
          <a:p>
            <a:r>
              <a:rPr lang="en-GB" altLang="en-US" dirty="0"/>
              <a:t>Give out the handout on Mission statement</a:t>
            </a:r>
            <a:r>
              <a:rPr lang="en-GB" altLang="en-US" baseline="0" dirty="0"/>
              <a:t> examples – discuss what makes them good. Which is your favourite and why. (15 of the very best mission statements)</a:t>
            </a:r>
          </a:p>
          <a:p>
            <a:r>
              <a:rPr lang="en-GB" altLang="en-US" baseline="0" dirty="0"/>
              <a:t>15 minutes to look at them and 5 minutes to discuss</a:t>
            </a:r>
          </a:p>
          <a:p>
            <a:endParaRPr lang="en-GB" altLang="en-US" dirty="0"/>
          </a:p>
          <a:p>
            <a:endParaRPr lang="en-GB" altLang="en-US" dirty="0"/>
          </a:p>
          <a:p>
            <a:r>
              <a:rPr lang="en-GB" altLang="en-US" dirty="0"/>
              <a:t>Often a mission statement also includes a company’s vision and values.</a:t>
            </a:r>
          </a:p>
          <a:p>
            <a:endParaRPr lang="en-GB" altLang="en-US" dirty="0"/>
          </a:p>
          <a:p>
            <a:r>
              <a:rPr lang="en-GB" altLang="en-US" dirty="0"/>
              <a:t>Q – Do</a:t>
            </a:r>
            <a:r>
              <a:rPr lang="en-GB" altLang="en-US" baseline="0" dirty="0"/>
              <a:t> you know w</a:t>
            </a:r>
            <a:r>
              <a:rPr lang="en-GB" altLang="en-US" dirty="0"/>
              <a:t>hat Weston</a:t>
            </a:r>
            <a:r>
              <a:rPr lang="en-GB" altLang="en-US" baseline="0" dirty="0"/>
              <a:t> College’s</a:t>
            </a:r>
            <a:r>
              <a:rPr lang="en-GB" altLang="en-US" dirty="0"/>
              <a:t> mission statement is? </a:t>
            </a:r>
          </a:p>
          <a:p>
            <a:r>
              <a:rPr lang="en-GB" altLang="en-US" dirty="0"/>
              <a:t>Get group to research</a:t>
            </a:r>
            <a:r>
              <a:rPr lang="en-GB" altLang="en-US" baseline="0" dirty="0"/>
              <a:t> what it is if answer not given.</a:t>
            </a:r>
            <a:endParaRPr lang="en-GB" altLang="en-US" dirty="0"/>
          </a:p>
          <a:p>
            <a:endParaRPr lang="en-GB" altLang="en-US" dirty="0"/>
          </a:p>
          <a:p>
            <a:r>
              <a:rPr lang="en-GB" sz="1200" kern="1200" dirty="0">
                <a:solidFill>
                  <a:schemeClr val="tx1"/>
                </a:solidFill>
                <a:effectLst/>
                <a:latin typeface="+mn-lt"/>
                <a:ea typeface="+mn-ea"/>
                <a:cs typeface="+mn-cs"/>
              </a:rPr>
              <a:t>Mission statement:</a:t>
            </a:r>
          </a:p>
          <a:p>
            <a:pPr lvl="0"/>
            <a:r>
              <a:rPr lang="en-GB" sz="1200" b="0" i="0" u="none" strike="noStrike" kern="1200" dirty="0">
                <a:solidFill>
                  <a:schemeClr val="tx1"/>
                </a:solidFill>
                <a:effectLst/>
                <a:latin typeface="+mn-lt"/>
                <a:ea typeface="+mn-ea"/>
                <a:cs typeface="+mn-cs"/>
              </a:rPr>
              <a:t>“</a:t>
            </a:r>
            <a:r>
              <a:rPr lang="en-GB" sz="1200" b="0" i="1" u="none" strike="noStrike" kern="1200" dirty="0">
                <a:solidFill>
                  <a:schemeClr val="tx1"/>
                </a:solidFill>
                <a:effectLst/>
                <a:latin typeface="+mn-lt"/>
                <a:ea typeface="+mn-ea"/>
                <a:cs typeface="+mn-cs"/>
              </a:rPr>
              <a:t>To deliver an outstanding higher education experience, enabling success and inspiring ambition.”</a:t>
            </a:r>
            <a:endParaRPr lang="en-GB" sz="1200" kern="1200" dirty="0">
              <a:solidFill>
                <a:schemeClr val="tx1"/>
              </a:solidFill>
              <a:effectLst/>
              <a:latin typeface="+mn-lt"/>
              <a:ea typeface="+mn-ea"/>
              <a:cs typeface="+mn-cs"/>
            </a:endParaRPr>
          </a:p>
          <a:p>
            <a:endParaRPr lang="en-GB" altLang="en-US" dirty="0"/>
          </a:p>
          <a:p>
            <a:endParaRPr lang="en-GB" altLang="en-US" sz="1200" b="0" i="0" u="none" strike="noStrike" kern="1200" baseline="0" dirty="0">
              <a:solidFill>
                <a:schemeClr val="tx1"/>
              </a:solidFill>
              <a:latin typeface="+mn-lt"/>
              <a:ea typeface="+mn-ea"/>
              <a:cs typeface="+mn-cs"/>
            </a:endParaRPr>
          </a:p>
          <a:p>
            <a:endParaRPr lang="en-GB" altLang="en-US" dirty="0"/>
          </a:p>
        </p:txBody>
      </p:sp>
    </p:spTree>
    <p:extLst>
      <p:ext uri="{BB962C8B-B14F-4D97-AF65-F5344CB8AC3E}">
        <p14:creationId xmlns:p14="http://schemas.microsoft.com/office/powerpoint/2010/main" val="1318860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9B3FACF9-3A1B-4018-82AE-9841A58523D3}"/>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989DF87A-8DC1-474C-9A1A-558BCC1936F1}" type="slidenum">
              <a:rPr lang="en-GB" altLang="en-US" sz="1200"/>
              <a:pPr/>
              <a:t>6</a:t>
            </a:fld>
            <a:endParaRPr lang="en-GB" altLang="en-US" sz="1200" dirty="0"/>
          </a:p>
        </p:txBody>
      </p:sp>
      <p:sp>
        <p:nvSpPr>
          <p:cNvPr id="16387" name="Rectangle 2">
            <a:extLst>
              <a:ext uri="{FF2B5EF4-FFF2-40B4-BE49-F238E27FC236}">
                <a16:creationId xmlns:a16="http://schemas.microsoft.com/office/drawing/2014/main" id="{3058C19C-4459-424C-975B-62A613E23A40}"/>
              </a:ext>
            </a:extLst>
          </p:cNvPr>
          <p:cNvSpPr>
            <a:spLocks noGrp="1" noRot="1" noChangeAspect="1" noChangeArrowheads="1" noTextEdit="1"/>
          </p:cNvSpPr>
          <p:nvPr>
            <p:ph type="sldImg"/>
          </p:nvPr>
        </p:nvSpPr>
        <p:spPr>
          <a:ln/>
        </p:spPr>
        <p:txBody>
          <a:bodyPr/>
          <a:lstStyle/>
          <a:p>
            <a:endParaRPr lang="en-GB"/>
          </a:p>
        </p:txBody>
      </p:sp>
      <p:sp>
        <p:nvSpPr>
          <p:cNvPr id="16388" name="Rectangle 3">
            <a:extLst>
              <a:ext uri="{FF2B5EF4-FFF2-40B4-BE49-F238E27FC236}">
                <a16:creationId xmlns:a16="http://schemas.microsoft.com/office/drawing/2014/main" id="{6D4EFC9F-D3D2-4BCA-9DB3-E5AA370B1DDA}"/>
              </a:ext>
            </a:extLst>
          </p:cNvPr>
          <p:cNvSpPr>
            <a:spLocks noGrp="1" noChangeArrowheads="1"/>
          </p:cNvSpPr>
          <p:nvPr>
            <p:ph type="body" idx="1"/>
          </p:nvPr>
        </p:nvSpPr>
        <p:spPr>
          <a:noFill/>
        </p:spPr>
        <p:txBody>
          <a:bodyPr/>
          <a:lstStyle/>
          <a:p>
            <a:r>
              <a:rPr lang="en-GB" altLang="en-US" dirty="0"/>
              <a:t>Just read slide</a:t>
            </a:r>
          </a:p>
          <a:p>
            <a:endParaRPr lang="en-GB" altLang="en-US" dirty="0"/>
          </a:p>
        </p:txBody>
      </p:sp>
    </p:spTree>
    <p:extLst>
      <p:ext uri="{BB962C8B-B14F-4D97-AF65-F5344CB8AC3E}">
        <p14:creationId xmlns:p14="http://schemas.microsoft.com/office/powerpoint/2010/main" val="3618819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indent="0">
              <a:buNone/>
            </a:pPr>
            <a:r>
              <a:rPr lang="en-GB" sz="1400" b="0" dirty="0"/>
              <a:t>Q - What are the internal factors that come under each</a:t>
            </a:r>
            <a:r>
              <a:rPr lang="en-GB" sz="1400" b="0" baseline="0" dirty="0"/>
              <a:t> of the following titles - </a:t>
            </a:r>
            <a:endParaRPr lang="en-GB" sz="1400" b="0" dirty="0"/>
          </a:p>
          <a:p>
            <a:pPr marL="0" indent="0">
              <a:buNone/>
            </a:pPr>
            <a:endParaRPr lang="en-GB" sz="1400" b="1" dirty="0"/>
          </a:p>
          <a:p>
            <a:pPr marL="0" indent="0">
              <a:buNone/>
            </a:pPr>
            <a:r>
              <a:rPr lang="en-GB" sz="1400" b="1" dirty="0"/>
              <a:t>physical resources </a:t>
            </a:r>
            <a:r>
              <a:rPr lang="en-GB" sz="1200" dirty="0"/>
              <a:t>– materials, equipment, machinery or premises </a:t>
            </a:r>
          </a:p>
          <a:p>
            <a:pPr marL="0" indent="0">
              <a:buNone/>
            </a:pPr>
            <a:endParaRPr lang="en-GB" sz="1200" dirty="0"/>
          </a:p>
          <a:p>
            <a:pPr marL="0" indent="0">
              <a:buNone/>
            </a:pPr>
            <a:r>
              <a:rPr lang="en-GB" sz="1400" b="1" dirty="0"/>
              <a:t>human resources </a:t>
            </a:r>
            <a:r>
              <a:rPr lang="en-GB" sz="1200" dirty="0"/>
              <a:t>– team members, team leaders, supervisors, managers and directors; employees, contractors, agency workers or volunteers </a:t>
            </a:r>
          </a:p>
          <a:p>
            <a:pPr marL="0" indent="0">
              <a:buNone/>
            </a:pPr>
            <a:endParaRPr lang="en-GB" sz="1200" dirty="0"/>
          </a:p>
          <a:p>
            <a:pPr marL="0" indent="0">
              <a:buNone/>
            </a:pPr>
            <a:r>
              <a:rPr lang="en-GB" sz="1400" b="1" dirty="0"/>
              <a:t>time</a:t>
            </a:r>
            <a:r>
              <a:rPr lang="en-GB" sz="1200" dirty="0"/>
              <a:t> – working hours, opening hours, delivery times or production deadlines </a:t>
            </a:r>
          </a:p>
          <a:p>
            <a:pPr marL="0" indent="0">
              <a:buNone/>
            </a:pPr>
            <a:endParaRPr lang="en-GB" sz="1200" dirty="0"/>
          </a:p>
          <a:p>
            <a:pPr marL="0" indent="0">
              <a:buNone/>
            </a:pPr>
            <a:r>
              <a:rPr lang="en-GB" sz="1400" b="1" dirty="0"/>
              <a:t>stakeholders</a:t>
            </a:r>
            <a:r>
              <a:rPr lang="en-GB" sz="1200" dirty="0"/>
              <a:t> – shareholders or investors or an</a:t>
            </a:r>
            <a:r>
              <a:rPr lang="en-GB" sz="1200" baseline="0" dirty="0"/>
              <a:t> interested party</a:t>
            </a:r>
            <a:endParaRPr lang="en-GB" sz="1200" dirty="0"/>
          </a:p>
          <a:p>
            <a:endParaRPr lang="en-GB" dirty="0"/>
          </a:p>
        </p:txBody>
      </p:sp>
      <p:sp>
        <p:nvSpPr>
          <p:cNvPr id="4" name="Slide Number Placeholder 3"/>
          <p:cNvSpPr>
            <a:spLocks noGrp="1"/>
          </p:cNvSpPr>
          <p:nvPr>
            <p:ph type="sldNum" sz="quarter" idx="10"/>
          </p:nvPr>
        </p:nvSpPr>
        <p:spPr/>
        <p:txBody>
          <a:bodyPr/>
          <a:lstStyle/>
          <a:p>
            <a:pPr>
              <a:defRPr/>
            </a:pPr>
            <a:fld id="{DF46281F-D299-4A04-9513-830281BB2160}" type="slidenum">
              <a:rPr lang="en-GB" altLang="en-US" smtClean="0"/>
              <a:pPr>
                <a:defRPr/>
              </a:pPr>
              <a:t>7</a:t>
            </a:fld>
            <a:endParaRPr lang="en-GB" altLang="en-US" dirty="0"/>
          </a:p>
        </p:txBody>
      </p:sp>
    </p:spTree>
    <p:extLst>
      <p:ext uri="{BB962C8B-B14F-4D97-AF65-F5344CB8AC3E}">
        <p14:creationId xmlns:p14="http://schemas.microsoft.com/office/powerpoint/2010/main" val="25005029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dirty="0"/>
              <a:t>Q - What are the external factors that come under each</a:t>
            </a:r>
            <a:r>
              <a:rPr lang="en-GB" sz="1200" b="0" baseline="0" dirty="0"/>
              <a:t> of the following titles –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dirty="0"/>
          </a:p>
          <a:p>
            <a:pPr marL="0" indent="0">
              <a:buNone/>
            </a:pPr>
            <a:r>
              <a:rPr lang="en-GB" sz="1200" dirty="0"/>
              <a:t>• </a:t>
            </a:r>
            <a:r>
              <a:rPr lang="en-GB" sz="1200" b="1" dirty="0"/>
              <a:t>external customers</a:t>
            </a:r>
            <a:r>
              <a:rPr lang="en-GB" sz="1200" dirty="0"/>
              <a:t> – people who use or buy the products or services </a:t>
            </a:r>
          </a:p>
          <a:p>
            <a:pPr marL="0" indent="0">
              <a:buNone/>
            </a:pPr>
            <a:r>
              <a:rPr lang="en-GB" sz="1200" dirty="0"/>
              <a:t>• </a:t>
            </a:r>
            <a:r>
              <a:rPr lang="en-GB" sz="1200" b="1" dirty="0"/>
              <a:t>suppliers</a:t>
            </a:r>
            <a:r>
              <a:rPr lang="en-GB" sz="1200" dirty="0"/>
              <a:t> – offering different products or delivery options </a:t>
            </a:r>
          </a:p>
          <a:p>
            <a:pPr marL="0" indent="0">
              <a:buNone/>
            </a:pPr>
            <a:r>
              <a:rPr lang="en-GB" sz="1200" dirty="0"/>
              <a:t>• </a:t>
            </a:r>
            <a:r>
              <a:rPr lang="en-GB" sz="1200" b="1" dirty="0"/>
              <a:t>world prices </a:t>
            </a:r>
            <a:r>
              <a:rPr lang="en-GB" sz="1200" dirty="0"/>
              <a:t>– in oil, metal or minerals </a:t>
            </a:r>
          </a:p>
          <a:p>
            <a:pPr marL="0" indent="0">
              <a:buNone/>
            </a:pPr>
            <a:r>
              <a:rPr lang="en-GB" sz="1200" dirty="0"/>
              <a:t>• </a:t>
            </a:r>
            <a:r>
              <a:rPr lang="en-GB" sz="1200" b="1" dirty="0"/>
              <a:t>external stakeholders </a:t>
            </a:r>
            <a:r>
              <a:rPr lang="en-GB" sz="1200" dirty="0"/>
              <a:t>– government agencies or local councils</a:t>
            </a:r>
          </a:p>
          <a:p>
            <a:pPr marL="0" indent="0">
              <a:buNone/>
            </a:pPr>
            <a:r>
              <a:rPr lang="en-GB" sz="1200" dirty="0"/>
              <a:t>• </a:t>
            </a:r>
            <a:r>
              <a:rPr lang="en-GB" sz="1200" b="1" dirty="0"/>
              <a:t>competitors</a:t>
            </a:r>
            <a:r>
              <a:rPr lang="en-GB" sz="1200" dirty="0"/>
              <a:t> – e.g. offering different technology, working practices, customer service or special offers </a:t>
            </a:r>
          </a:p>
          <a:p>
            <a:pPr marL="0" indent="0">
              <a:buNone/>
            </a:pPr>
            <a:r>
              <a:rPr lang="en-GB" sz="1200" dirty="0"/>
              <a:t>• </a:t>
            </a:r>
            <a:r>
              <a:rPr lang="en-GB" sz="1200" b="1" dirty="0"/>
              <a:t>legislation and regulations </a:t>
            </a:r>
            <a:r>
              <a:rPr lang="en-GB" sz="1200" dirty="0"/>
              <a:t>– about waste management or landfill tax </a:t>
            </a:r>
          </a:p>
          <a:p>
            <a:pPr marL="0" indent="0">
              <a:buNone/>
            </a:pPr>
            <a:r>
              <a:rPr lang="en-GB" sz="1200" dirty="0"/>
              <a:t>• </a:t>
            </a:r>
            <a:r>
              <a:rPr lang="en-GB" sz="1200" b="1" dirty="0"/>
              <a:t>natural occurrences </a:t>
            </a:r>
            <a:r>
              <a:rPr lang="en-GB" sz="1200" dirty="0"/>
              <a:t>– floods or high winds that affect supplies and deliveries </a:t>
            </a:r>
          </a:p>
          <a:p>
            <a:pPr marL="0" indent="0">
              <a:buNone/>
            </a:pPr>
            <a:r>
              <a:rPr lang="en-GB" sz="1200" dirty="0"/>
              <a:t>• </a:t>
            </a:r>
            <a:r>
              <a:rPr lang="en-GB" sz="1200" b="1" dirty="0"/>
              <a:t>economic, political or social issues -</a:t>
            </a:r>
            <a:r>
              <a:rPr lang="en-GB" sz="1200" dirty="0"/>
              <a:t> inflation and personal spending power, military action abroad, taxation and fiscal policies</a:t>
            </a:r>
          </a:p>
          <a:p>
            <a:endParaRPr lang="en-GB" dirty="0"/>
          </a:p>
        </p:txBody>
      </p:sp>
      <p:sp>
        <p:nvSpPr>
          <p:cNvPr id="4" name="Slide Number Placeholder 3"/>
          <p:cNvSpPr>
            <a:spLocks noGrp="1"/>
          </p:cNvSpPr>
          <p:nvPr>
            <p:ph type="sldNum" sz="quarter" idx="10"/>
          </p:nvPr>
        </p:nvSpPr>
        <p:spPr/>
        <p:txBody>
          <a:bodyPr/>
          <a:lstStyle/>
          <a:p>
            <a:pPr>
              <a:defRPr/>
            </a:pPr>
            <a:fld id="{DF46281F-D299-4A04-9513-830281BB2160}" type="slidenum">
              <a:rPr lang="en-GB" altLang="en-US" smtClean="0"/>
              <a:pPr>
                <a:defRPr/>
              </a:pPr>
              <a:t>8</a:t>
            </a:fld>
            <a:endParaRPr lang="en-GB" altLang="en-US" dirty="0"/>
          </a:p>
        </p:txBody>
      </p:sp>
    </p:spTree>
    <p:extLst>
      <p:ext uri="{BB962C8B-B14F-4D97-AF65-F5344CB8AC3E}">
        <p14:creationId xmlns:p14="http://schemas.microsoft.com/office/powerpoint/2010/main" val="26817353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In your groups discuss what external</a:t>
            </a:r>
            <a:r>
              <a:rPr lang="en-GB" baseline="0" dirty="0"/>
              <a:t> factors impact your organisation and how they cascade down to your teams. (10 minutes)</a:t>
            </a:r>
          </a:p>
          <a:p>
            <a:endParaRPr lang="en-GB" baseline="0" dirty="0"/>
          </a:p>
          <a:p>
            <a:r>
              <a:rPr lang="en-GB" baseline="0" dirty="0"/>
              <a:t>We will then discuss as a whole group. (5 minutes)</a:t>
            </a:r>
          </a:p>
          <a:p>
            <a:endParaRPr lang="en-GB" baseline="0" dirty="0"/>
          </a:p>
          <a:p>
            <a:r>
              <a:rPr lang="en-GB" sz="1200" b="0" i="0" u="none" strike="noStrike" kern="1200" baseline="0" dirty="0">
                <a:solidFill>
                  <a:schemeClr val="tx1"/>
                </a:solidFill>
                <a:latin typeface="+mn-lt"/>
                <a:ea typeface="+mn-ea"/>
                <a:cs typeface="+mn-cs"/>
              </a:rPr>
              <a:t>The table on page 6 of the work book shows the types of influence covered by a PESTLE analysis with some examples:</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Another is STEEPLE which is all of these and Ethical. When using PESTLE the Ethical is often grouped with Environmental so both are really the same. </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When thinking about each of the external factors think about the following:</a:t>
            </a:r>
          </a:p>
          <a:p>
            <a:endParaRPr lang="en-GB" sz="1200" b="0" i="0" u="none" strike="noStrike" kern="1200" baseline="0" dirty="0">
              <a:solidFill>
                <a:schemeClr val="tx1"/>
              </a:solidFill>
              <a:latin typeface="+mn-lt"/>
              <a:ea typeface="+mn-ea"/>
              <a:cs typeface="+mn-cs"/>
            </a:endParaRPr>
          </a:p>
          <a:p>
            <a:r>
              <a:rPr lang="en-GB" sz="1200" b="0" kern="1200" dirty="0">
                <a:solidFill>
                  <a:schemeClr val="tx1"/>
                </a:solidFill>
                <a:effectLst/>
                <a:latin typeface="+mn-lt"/>
                <a:ea typeface="+mn-ea"/>
                <a:cs typeface="+mn-cs"/>
              </a:rPr>
              <a:t>Possible factors – what are the possible factors</a:t>
            </a:r>
            <a:r>
              <a:rPr lang="en-GB" sz="1200" b="0" kern="1200" baseline="0" dirty="0">
                <a:solidFill>
                  <a:schemeClr val="tx1"/>
                </a:solidFill>
                <a:effectLst/>
                <a:latin typeface="+mn-lt"/>
                <a:ea typeface="+mn-ea"/>
                <a:cs typeface="+mn-cs"/>
              </a:rPr>
              <a:t> for each title</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Business impact – what will the impact of the issue be on your</a:t>
            </a:r>
            <a:r>
              <a:rPr lang="en-GB" sz="1200" b="0" kern="1200" baseline="0" dirty="0">
                <a:solidFill>
                  <a:schemeClr val="tx1"/>
                </a:solidFill>
                <a:effectLst/>
                <a:latin typeface="+mn-lt"/>
                <a:ea typeface="+mn-ea"/>
                <a:cs typeface="+mn-cs"/>
              </a:rPr>
              <a:t> business</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Time frame – is this known</a:t>
            </a:r>
            <a:r>
              <a:rPr lang="en-GB" sz="1200" b="0" kern="1200" baseline="0" dirty="0">
                <a:solidFill>
                  <a:schemeClr val="tx1"/>
                </a:solidFill>
                <a:effectLst/>
                <a:latin typeface="+mn-lt"/>
                <a:ea typeface="+mn-ea"/>
                <a:cs typeface="+mn-cs"/>
              </a:rPr>
              <a:t> or unknown, if known is it less than 6 months, over 6 months, over a year etc.</a:t>
            </a:r>
            <a:endParaRPr lang="en-GB" sz="1200" b="0" kern="1200" dirty="0">
              <a:solidFill>
                <a:schemeClr val="tx1"/>
              </a:solidFill>
              <a:effectLst/>
              <a:latin typeface="+mn-lt"/>
              <a:ea typeface="+mn-ea"/>
              <a:cs typeface="+mn-cs"/>
            </a:endParaRPr>
          </a:p>
          <a:p>
            <a:r>
              <a:rPr lang="en-GB" sz="1200" b="0" kern="1200" dirty="0">
                <a:solidFill>
                  <a:schemeClr val="tx1"/>
                </a:solidFill>
                <a:effectLst/>
                <a:latin typeface="+mn-lt"/>
                <a:ea typeface="+mn-ea"/>
                <a:cs typeface="+mn-cs"/>
              </a:rPr>
              <a:t>Type of impact – negative, positive or unknown</a:t>
            </a:r>
          </a:p>
          <a:p>
            <a:r>
              <a:rPr lang="en-GB" sz="1200" b="0" kern="1200" dirty="0">
                <a:solidFill>
                  <a:schemeClr val="tx1"/>
                </a:solidFill>
                <a:effectLst/>
                <a:latin typeface="+mn-lt"/>
                <a:ea typeface="+mn-ea"/>
                <a:cs typeface="+mn-cs"/>
              </a:rPr>
              <a:t>Rate of impact – increasing, decreasing, unknown or unchanged</a:t>
            </a:r>
          </a:p>
          <a:p>
            <a:r>
              <a:rPr lang="en-GB" sz="1200" b="0" kern="1200" dirty="0">
                <a:solidFill>
                  <a:schemeClr val="tx1"/>
                </a:solidFill>
                <a:effectLst/>
                <a:latin typeface="+mn-lt"/>
                <a:ea typeface="+mn-ea"/>
                <a:cs typeface="+mn-cs"/>
              </a:rPr>
              <a:t>Importance – unknown, important, critical</a:t>
            </a:r>
          </a:p>
          <a:p>
            <a:endParaRPr lang="en-GB" sz="1200" b="0" i="0" u="none" strike="noStrike" kern="1200" baseline="0" dirty="0">
              <a:solidFill>
                <a:schemeClr val="tx1"/>
              </a:solidFill>
              <a:effectLst/>
              <a:latin typeface="+mn-lt"/>
              <a:ea typeface="+mn-ea"/>
              <a:cs typeface="+mn-cs"/>
            </a:endParaRPr>
          </a:p>
          <a:p>
            <a:r>
              <a:rPr lang="en-GB" sz="1200" b="0" i="0" u="none" strike="noStrike" kern="1200" baseline="0" dirty="0">
                <a:solidFill>
                  <a:schemeClr val="tx1"/>
                </a:solidFill>
                <a:effectLst/>
                <a:latin typeface="+mn-lt"/>
                <a:ea typeface="+mn-ea"/>
                <a:cs typeface="+mn-cs"/>
              </a:rPr>
              <a:t>This can then be used to link in with your SWOT analysis of these factors and how you are likely to be impacted. </a:t>
            </a:r>
          </a:p>
          <a:p>
            <a:endParaRPr lang="en-GB" sz="1200" b="0" i="0" u="none" strike="noStrike" kern="1200" baseline="0" dirty="0">
              <a:solidFill>
                <a:schemeClr val="tx1"/>
              </a:solidFill>
              <a:latin typeface="+mn-lt"/>
              <a:ea typeface="+mn-ea"/>
              <a:cs typeface="+mn-cs"/>
            </a:endParaRPr>
          </a:p>
          <a:p>
            <a:endParaRPr lang="en-GB"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3C2141A1-FA70-4217-A960-49FE662E2A30}" type="slidenum">
              <a:rPr lang="en-GB" smtClean="0"/>
              <a:t>9</a:t>
            </a:fld>
            <a:endParaRPr lang="en-GB" dirty="0"/>
          </a:p>
        </p:txBody>
      </p:sp>
    </p:spTree>
    <p:extLst>
      <p:ext uri="{BB962C8B-B14F-4D97-AF65-F5344CB8AC3E}">
        <p14:creationId xmlns:p14="http://schemas.microsoft.com/office/powerpoint/2010/main" val="15371312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indent="0">
              <a:buNone/>
            </a:pPr>
            <a:r>
              <a:rPr lang="en-GB" b="1" dirty="0"/>
              <a:t>Knowledge Activity 1: Do an informal PESTLE analysis of your organisation.</a:t>
            </a:r>
          </a:p>
          <a:p>
            <a:endParaRPr lang="en-GB" b="1" dirty="0"/>
          </a:p>
          <a:p>
            <a:pPr marL="0" indent="0">
              <a:buNone/>
            </a:pPr>
            <a:r>
              <a:rPr lang="en-GB" b="1" dirty="0"/>
              <a:t>Make some notes about which influence could have the biggest impact, and why.</a:t>
            </a:r>
            <a:endParaRPr lang="en-GB" dirty="0"/>
          </a:p>
          <a:p>
            <a:endParaRPr lang="en-GB" dirty="0"/>
          </a:p>
        </p:txBody>
      </p:sp>
      <p:sp>
        <p:nvSpPr>
          <p:cNvPr id="4" name="Slide Number Placeholder 3"/>
          <p:cNvSpPr>
            <a:spLocks noGrp="1"/>
          </p:cNvSpPr>
          <p:nvPr>
            <p:ph type="sldNum" sz="quarter" idx="10"/>
          </p:nvPr>
        </p:nvSpPr>
        <p:spPr/>
        <p:txBody>
          <a:bodyPr/>
          <a:lstStyle/>
          <a:p>
            <a:fld id="{3C2141A1-FA70-4217-A960-49FE662E2A30}" type="slidenum">
              <a:rPr lang="en-GB" smtClean="0"/>
              <a:t>10</a:t>
            </a:fld>
            <a:endParaRPr lang="en-GB" dirty="0"/>
          </a:p>
        </p:txBody>
      </p:sp>
    </p:spTree>
    <p:extLst>
      <p:ext uri="{BB962C8B-B14F-4D97-AF65-F5344CB8AC3E}">
        <p14:creationId xmlns:p14="http://schemas.microsoft.com/office/powerpoint/2010/main" val="15449497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C2141A1-FA70-4217-A960-49FE662E2A30}" type="slidenum">
              <a:rPr lang="en-GB" smtClean="0"/>
              <a:t>11</a:t>
            </a:fld>
            <a:endParaRPr lang="en-GB" dirty="0"/>
          </a:p>
        </p:txBody>
      </p:sp>
    </p:spTree>
    <p:extLst>
      <p:ext uri="{BB962C8B-B14F-4D97-AF65-F5344CB8AC3E}">
        <p14:creationId xmlns:p14="http://schemas.microsoft.com/office/powerpoint/2010/main" val="41778654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98E96EA1-36E1-4572-9E6B-75288E19BF57}"/>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F464128-39E6-4678-9DBF-63F818E4BFDD}" type="slidenum">
              <a:rPr lang="en-GB" altLang="en-US" sz="1200"/>
              <a:pPr/>
              <a:t>14</a:t>
            </a:fld>
            <a:endParaRPr lang="en-GB" altLang="en-US" sz="1200" dirty="0"/>
          </a:p>
        </p:txBody>
      </p:sp>
      <p:sp>
        <p:nvSpPr>
          <p:cNvPr id="14339" name="Rectangle 2">
            <a:extLst>
              <a:ext uri="{FF2B5EF4-FFF2-40B4-BE49-F238E27FC236}">
                <a16:creationId xmlns:a16="http://schemas.microsoft.com/office/drawing/2014/main" id="{2D19EACC-06E9-457F-BC76-3F648A402794}"/>
              </a:ext>
            </a:extLst>
          </p:cNvPr>
          <p:cNvSpPr>
            <a:spLocks noGrp="1" noRot="1" noChangeAspect="1" noChangeArrowheads="1" noTextEdit="1"/>
          </p:cNvSpPr>
          <p:nvPr>
            <p:ph type="sldImg"/>
          </p:nvPr>
        </p:nvSpPr>
        <p:spPr>
          <a:ln/>
        </p:spPr>
        <p:txBody>
          <a:bodyPr/>
          <a:lstStyle/>
          <a:p>
            <a:endParaRPr lang="en-GB"/>
          </a:p>
        </p:txBody>
      </p:sp>
      <p:sp>
        <p:nvSpPr>
          <p:cNvPr id="14340" name="Rectangle 3">
            <a:extLst>
              <a:ext uri="{FF2B5EF4-FFF2-40B4-BE49-F238E27FC236}">
                <a16:creationId xmlns:a16="http://schemas.microsoft.com/office/drawing/2014/main" id="{8A0DA057-8762-4B22-AFC7-987008BB1452}"/>
              </a:ext>
            </a:extLst>
          </p:cNvPr>
          <p:cNvSpPr>
            <a:spLocks noGrp="1" noChangeArrowheads="1"/>
          </p:cNvSpPr>
          <p:nvPr>
            <p:ph type="body" idx="1"/>
          </p:nvPr>
        </p:nvSpPr>
        <p:spPr>
          <a:noFill/>
        </p:spPr>
        <p:txBody>
          <a:bodyPr/>
          <a:lstStyle/>
          <a:p>
            <a:r>
              <a:rPr lang="en-GB" altLang="en-US" baseline="0" dirty="0"/>
              <a:t>Earlier we discussed What is Operational Management? </a:t>
            </a:r>
          </a:p>
          <a:p>
            <a:endParaRPr lang="en-GB" altLang="en-US" baseline="0" dirty="0"/>
          </a:p>
          <a:p>
            <a:r>
              <a:rPr lang="en-GB" altLang="en-US" baseline="0" dirty="0"/>
              <a:t>A - </a:t>
            </a:r>
            <a:r>
              <a:rPr lang="en-GB" sz="1200" b="0" i="0" u="none" strike="noStrike" kern="1200" baseline="0" dirty="0">
                <a:solidFill>
                  <a:schemeClr val="tx1"/>
                </a:solidFill>
                <a:latin typeface="+mn-lt"/>
                <a:ea typeface="+mn-ea"/>
                <a:cs typeface="+mn-cs"/>
              </a:rPr>
              <a:t>According to the online dictionary, operations management is defined as:</a:t>
            </a:r>
          </a:p>
          <a:p>
            <a:r>
              <a:rPr lang="en-GB" sz="1200" b="0" i="0" u="none" strike="noStrike" kern="1200" baseline="0" dirty="0">
                <a:solidFill>
                  <a:schemeClr val="tx1"/>
                </a:solidFill>
                <a:latin typeface="+mn-lt"/>
                <a:ea typeface="+mn-ea"/>
                <a:cs typeface="+mn-cs"/>
              </a:rPr>
              <a:t>‘The design, execution and control of operations that convert resources into desired good sand services, and implement a company’s business strategy’</a:t>
            </a:r>
          </a:p>
          <a:p>
            <a:endParaRPr lang="en-GB" altLang="en-US"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sz="1200" b="0" i="0" u="none" strike="noStrike" kern="1200" baseline="0" dirty="0">
                <a:solidFill>
                  <a:schemeClr val="tx1"/>
                </a:solidFill>
                <a:latin typeface="+mn-lt"/>
                <a:ea typeface="+mn-ea"/>
                <a:cs typeface="+mn-cs"/>
              </a:rPr>
              <a:t>X - Q – What are Organisational Targets? </a:t>
            </a:r>
            <a:r>
              <a:rPr lang="en-GB" altLang="en-US" baseline="0" dirty="0"/>
              <a:t>(Discuss as group and then cover the below if required)</a:t>
            </a:r>
            <a:endParaRPr lang="en-GB" altLang="en-US" sz="1200" b="0" i="0" u="none" strike="noStrike" kern="1200" baseline="0" dirty="0">
              <a:solidFill>
                <a:schemeClr val="tx1"/>
              </a:solidFill>
              <a:latin typeface="+mn-lt"/>
              <a:ea typeface="+mn-ea"/>
              <a:cs typeface="+mn-cs"/>
            </a:endParaRPr>
          </a:p>
          <a:p>
            <a:endParaRPr lang="en-GB" altLang="en-US" dirty="0"/>
          </a:p>
          <a:p>
            <a:r>
              <a:rPr lang="en-GB" sz="1200" b="0" i="0" u="none" strike="noStrike" kern="1200" baseline="0" dirty="0">
                <a:solidFill>
                  <a:schemeClr val="tx1"/>
                </a:solidFill>
                <a:latin typeface="+mn-lt"/>
                <a:ea typeface="+mn-ea"/>
                <a:cs typeface="+mn-cs"/>
              </a:rPr>
              <a:t>Organisational targets could include things such as:</a:t>
            </a:r>
          </a:p>
          <a:p>
            <a:r>
              <a:rPr lang="en-GB" sz="1200" b="0" i="0" u="none" strike="noStrike" kern="1200" baseline="0" dirty="0">
                <a:solidFill>
                  <a:schemeClr val="tx1"/>
                </a:solidFill>
                <a:latin typeface="+mn-lt"/>
                <a:ea typeface="+mn-ea"/>
                <a:cs typeface="+mn-cs"/>
              </a:rPr>
              <a:t>• increasing sales by 20% over two years</a:t>
            </a:r>
          </a:p>
          <a:p>
            <a:r>
              <a:rPr lang="en-GB" sz="1200" b="0" i="0" u="none" strike="noStrike" kern="1200" baseline="0" dirty="0">
                <a:solidFill>
                  <a:schemeClr val="tx1"/>
                </a:solidFill>
                <a:latin typeface="+mn-lt"/>
                <a:ea typeface="+mn-ea"/>
                <a:cs typeface="+mn-cs"/>
              </a:rPr>
              <a:t>• reducing landfill waste by 40% over five years</a:t>
            </a:r>
          </a:p>
          <a:p>
            <a:r>
              <a:rPr lang="en-GB" sz="1200" b="0" i="0" u="none" strike="noStrike" kern="1200" baseline="0" dirty="0">
                <a:solidFill>
                  <a:schemeClr val="tx1"/>
                </a:solidFill>
                <a:latin typeface="+mn-lt"/>
                <a:ea typeface="+mn-ea"/>
                <a:cs typeface="+mn-cs"/>
              </a:rPr>
              <a:t>• being the number one retailer in a specialist area – e.g. clothing, food or holidays</a:t>
            </a:r>
          </a:p>
          <a:p>
            <a:r>
              <a:rPr lang="en-GB" sz="1200" b="0" i="0" u="none" strike="noStrike" kern="1200" baseline="0" dirty="0">
                <a:solidFill>
                  <a:schemeClr val="tx1"/>
                </a:solidFill>
                <a:latin typeface="+mn-lt"/>
                <a:ea typeface="+mn-ea"/>
                <a:cs typeface="+mn-cs"/>
              </a:rPr>
              <a:t>• having excellent customer feedback with at least 95% positive feedback from satisfaction surveys</a:t>
            </a:r>
          </a:p>
          <a:p>
            <a:r>
              <a:rPr lang="en-GB" sz="1200" b="0" i="0" u="none" strike="noStrike" kern="1200" baseline="0" dirty="0">
                <a:solidFill>
                  <a:schemeClr val="tx1"/>
                </a:solidFill>
                <a:latin typeface="+mn-lt"/>
                <a:ea typeface="+mn-ea"/>
                <a:cs typeface="+mn-cs"/>
              </a:rPr>
              <a:t>• introducing new technology and having it tested and fully up and running within three months</a:t>
            </a:r>
          </a:p>
          <a:p>
            <a:r>
              <a:rPr lang="en-GB" sz="1200" b="0" i="0" u="none" strike="noStrike" kern="1200" baseline="0" dirty="0">
                <a:solidFill>
                  <a:schemeClr val="tx1"/>
                </a:solidFill>
                <a:latin typeface="+mn-lt"/>
                <a:ea typeface="+mn-ea"/>
                <a:cs typeface="+mn-cs"/>
              </a:rPr>
              <a:t>• expanding the business into another country</a:t>
            </a:r>
          </a:p>
          <a:p>
            <a:r>
              <a:rPr lang="en-GB" sz="1200" b="0" i="0" u="none" strike="noStrike" kern="1200" baseline="0" dirty="0">
                <a:solidFill>
                  <a:schemeClr val="tx1"/>
                </a:solidFill>
                <a:latin typeface="+mn-lt"/>
                <a:ea typeface="+mn-ea"/>
                <a:cs typeface="+mn-cs"/>
              </a:rPr>
              <a:t>• restructuring the business to make it more efficient and profitable</a:t>
            </a:r>
          </a:p>
          <a:p>
            <a:r>
              <a:rPr lang="en-GB" sz="1200" b="0" i="0" u="none" strike="noStrike" kern="1200" baseline="0" dirty="0">
                <a:solidFill>
                  <a:schemeClr val="tx1"/>
                </a:solidFill>
                <a:latin typeface="+mn-lt"/>
                <a:ea typeface="+mn-ea"/>
                <a:cs typeface="+mn-cs"/>
              </a:rPr>
              <a:t>• working towards bidding for a large government contract</a:t>
            </a:r>
          </a:p>
          <a:p>
            <a:r>
              <a:rPr lang="en-GB" sz="1200" b="0" i="0" u="none" strike="noStrike" kern="1200" baseline="0" dirty="0">
                <a:solidFill>
                  <a:schemeClr val="tx1"/>
                </a:solidFill>
                <a:latin typeface="+mn-lt"/>
                <a:ea typeface="+mn-ea"/>
                <a:cs typeface="+mn-cs"/>
              </a:rPr>
              <a:t>• recruiting and retaining the best staff in the industry</a:t>
            </a:r>
          </a:p>
          <a:p>
            <a:endParaRPr lang="en-GB" altLang="en-US" sz="1200" b="0" i="0" u="none" strike="noStrike" kern="1200" baseline="0" dirty="0">
              <a:solidFill>
                <a:schemeClr val="tx1"/>
              </a:solidFill>
              <a:latin typeface="+mn-lt"/>
              <a:ea typeface="+mn-ea"/>
              <a:cs typeface="+mn-cs"/>
            </a:endParaRPr>
          </a:p>
          <a:p>
            <a:endParaRPr lang="en-GB" altLang="en-US" dirty="0"/>
          </a:p>
        </p:txBody>
      </p:sp>
    </p:spTree>
    <p:extLst>
      <p:ext uri="{BB962C8B-B14F-4D97-AF65-F5344CB8AC3E}">
        <p14:creationId xmlns:p14="http://schemas.microsoft.com/office/powerpoint/2010/main" val="42292179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C2141A1-FA70-4217-A960-49FE662E2A30}" type="slidenum">
              <a:rPr lang="en-GB" smtClean="0"/>
              <a:t>16</a:t>
            </a:fld>
            <a:endParaRPr lang="en-GB" dirty="0"/>
          </a:p>
        </p:txBody>
      </p:sp>
    </p:spTree>
    <p:extLst>
      <p:ext uri="{BB962C8B-B14F-4D97-AF65-F5344CB8AC3E}">
        <p14:creationId xmlns:p14="http://schemas.microsoft.com/office/powerpoint/2010/main" val="8709151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indent="0">
              <a:buNone/>
            </a:pPr>
            <a:r>
              <a:rPr lang="en-GB" b="1" dirty="0"/>
              <a:t>Where are we now? </a:t>
            </a:r>
          </a:p>
          <a:p>
            <a:r>
              <a:rPr lang="en-GB" sz="1200" b="0" i="0" u="none" strike="noStrike" kern="1200" baseline="0" dirty="0">
                <a:solidFill>
                  <a:schemeClr val="tx1"/>
                </a:solidFill>
                <a:latin typeface="+mn-lt"/>
                <a:ea typeface="+mn-ea"/>
                <a:cs typeface="+mn-cs"/>
              </a:rPr>
              <a:t>Q – What sort of questions should we be asking, what areas should we be thinking about here? </a:t>
            </a:r>
          </a:p>
          <a:p>
            <a:r>
              <a:rPr lang="en-GB" sz="1200" b="0" i="0" u="none" strike="noStrike" kern="1200" baseline="0" dirty="0">
                <a:solidFill>
                  <a:schemeClr val="tx1"/>
                </a:solidFill>
                <a:latin typeface="+mn-lt"/>
                <a:ea typeface="+mn-ea"/>
                <a:cs typeface="+mn-cs"/>
              </a:rPr>
              <a:t>When preparing high-level strategy, the first question – where are we now? – needs to be addressed. Senior managers and directors will, for example:</a:t>
            </a:r>
          </a:p>
          <a:p>
            <a:r>
              <a:rPr lang="en-GB" sz="1200" b="0" i="0" u="none" strike="noStrike" kern="1200" baseline="0" dirty="0">
                <a:solidFill>
                  <a:schemeClr val="tx1"/>
                </a:solidFill>
                <a:latin typeface="+mn-lt"/>
                <a:ea typeface="+mn-ea"/>
                <a:cs typeface="+mn-cs"/>
              </a:rPr>
              <a:t>• analyse current and recent operational data – e.g. from accounts, sales figures or feedback comments</a:t>
            </a:r>
          </a:p>
          <a:p>
            <a:r>
              <a:rPr lang="en-GB" sz="1200" b="0" i="0" u="none" strike="noStrike" kern="1200" baseline="0" dirty="0">
                <a:solidFill>
                  <a:schemeClr val="tx1"/>
                </a:solidFill>
                <a:latin typeface="+mn-lt"/>
                <a:ea typeface="+mn-ea"/>
                <a:cs typeface="+mn-cs"/>
              </a:rPr>
              <a:t>• identify influences – e.g. looking at results from the PESTLE analysis</a:t>
            </a:r>
          </a:p>
          <a:p>
            <a:r>
              <a:rPr lang="en-GB" sz="1200" b="0" i="0" u="none" strike="noStrike" kern="1200" baseline="0" dirty="0">
                <a:solidFill>
                  <a:schemeClr val="tx1"/>
                </a:solidFill>
                <a:latin typeface="+mn-lt"/>
                <a:ea typeface="+mn-ea"/>
                <a:cs typeface="+mn-cs"/>
              </a:rPr>
              <a:t>• identify actual and potential problems – e.g. changes in the supply chain; changes in technology; changes in customers’ expectations and spending patterns</a:t>
            </a:r>
          </a:p>
          <a:p>
            <a:r>
              <a:rPr lang="en-GB" sz="1200" b="0" i="0" u="none" strike="noStrike" kern="1200" baseline="0" dirty="0">
                <a:solidFill>
                  <a:schemeClr val="tx1"/>
                </a:solidFill>
                <a:latin typeface="+mn-lt"/>
                <a:ea typeface="+mn-ea"/>
                <a:cs typeface="+mn-cs"/>
              </a:rPr>
              <a:t>• provide evidence to support claims – e.g. providing figures from previous successful projects or competitors’ activities; market research figures to illustrate demand for products and services</a:t>
            </a:r>
            <a:endParaRPr lang="en-GB" b="0" dirty="0"/>
          </a:p>
          <a:p>
            <a:pPr marL="0" indent="0">
              <a:buNone/>
            </a:pPr>
            <a:endParaRPr lang="en-GB" b="1" dirty="0"/>
          </a:p>
          <a:p>
            <a:pPr marL="0" indent="0">
              <a:buNone/>
            </a:pPr>
            <a:endParaRPr lang="en-GB" b="1" dirty="0"/>
          </a:p>
          <a:p>
            <a:pPr marL="0" indent="0">
              <a:buNone/>
            </a:pPr>
            <a:r>
              <a:rPr lang="en-GB" b="1" dirty="0"/>
              <a:t>Where do we want to be?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baseline="0" dirty="0">
                <a:solidFill>
                  <a:schemeClr val="tx1"/>
                </a:solidFill>
                <a:latin typeface="+mn-lt"/>
                <a:ea typeface="+mn-ea"/>
                <a:cs typeface="+mn-cs"/>
              </a:rPr>
              <a:t>Q – What sort of questions should we be asking, what areas should we be thinking about here? </a:t>
            </a:r>
          </a:p>
          <a:p>
            <a:r>
              <a:rPr lang="en-GB" sz="1200" b="0" i="0" u="none" strike="noStrike" kern="1200" baseline="0" dirty="0">
                <a:solidFill>
                  <a:schemeClr val="tx1"/>
                </a:solidFill>
                <a:latin typeface="+mn-lt"/>
                <a:ea typeface="+mn-ea"/>
                <a:cs typeface="+mn-cs"/>
              </a:rPr>
              <a:t>The second question – where do we want and need to be? – helps the organisation to focus on its vision and purpose and senior managers and directors need to consider how they will, for example:</a:t>
            </a:r>
          </a:p>
          <a:p>
            <a:r>
              <a:rPr lang="en-GB" sz="1200" b="0" i="0" u="none" strike="noStrike" kern="1200" baseline="0" dirty="0">
                <a:solidFill>
                  <a:schemeClr val="tx1"/>
                </a:solidFill>
                <a:latin typeface="+mn-lt"/>
                <a:ea typeface="+mn-ea"/>
                <a:cs typeface="+mn-cs"/>
              </a:rPr>
              <a:t>• present the organisation’s vision and purpose – e.g. showing how development plans remain true to the original vision (main goals) and purpose (the reasons for existing and operating); explaining any changes to the original vision and purpose</a:t>
            </a:r>
          </a:p>
          <a:p>
            <a:r>
              <a:rPr lang="en-GB" sz="1200" b="0" i="0" u="none" strike="noStrike" kern="1200" baseline="0" dirty="0">
                <a:solidFill>
                  <a:schemeClr val="tx1"/>
                </a:solidFill>
                <a:latin typeface="+mn-lt"/>
                <a:ea typeface="+mn-ea"/>
                <a:cs typeface="+mn-cs"/>
              </a:rPr>
              <a:t>• clarify the development plans and ideas – e.g. to build a second factory; to set up a new company or department; to change from high-street outlets to online outlets</a:t>
            </a:r>
          </a:p>
          <a:p>
            <a:r>
              <a:rPr lang="en-GB" sz="1200" b="0" i="0" u="none" strike="noStrike" kern="1200" baseline="0" dirty="0">
                <a:solidFill>
                  <a:schemeClr val="tx1"/>
                </a:solidFill>
                <a:latin typeface="+mn-lt"/>
                <a:ea typeface="+mn-ea"/>
                <a:cs typeface="+mn-cs"/>
              </a:rPr>
              <a:t>• set goals – e.g. targets, objectives and deadlines for the coming months and years; projections for sales and other income</a:t>
            </a:r>
          </a:p>
          <a:p>
            <a:endParaRPr lang="en-GB" b="0" dirty="0"/>
          </a:p>
          <a:p>
            <a:pPr marL="0" indent="0">
              <a:buNone/>
            </a:pPr>
            <a:endParaRPr lang="en-GB" b="1" dirty="0"/>
          </a:p>
          <a:p>
            <a:pPr marL="0" indent="0">
              <a:buNone/>
            </a:pPr>
            <a:r>
              <a:rPr lang="en-GB" b="1" dirty="0"/>
              <a:t>How do we get there?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baseline="0" dirty="0">
                <a:solidFill>
                  <a:schemeClr val="tx1"/>
                </a:solidFill>
                <a:latin typeface="+mn-lt"/>
                <a:ea typeface="+mn-ea"/>
                <a:cs typeface="+mn-cs"/>
              </a:rPr>
              <a:t>Q – What sort of questions should we be asking, what areas should we be thinking about here? </a:t>
            </a:r>
          </a:p>
          <a:p>
            <a:r>
              <a:rPr lang="en-GB" sz="1200" b="0" i="0" u="none" strike="noStrike" kern="1200" baseline="0" dirty="0">
                <a:solidFill>
                  <a:schemeClr val="tx1"/>
                </a:solidFill>
                <a:latin typeface="+mn-lt"/>
                <a:ea typeface="+mn-ea"/>
                <a:cs typeface="+mn-cs"/>
              </a:rPr>
              <a:t>The third question – how do we get there? – forms the basis of operational plans of how to achieve functional objectives. Decision-makers need to work out, for example, how they will:</a:t>
            </a:r>
          </a:p>
          <a:p>
            <a:r>
              <a:rPr lang="en-GB" sz="1200" b="0" i="0" u="none" strike="noStrike" kern="1200" baseline="0" dirty="0">
                <a:solidFill>
                  <a:schemeClr val="tx1"/>
                </a:solidFill>
                <a:latin typeface="+mn-lt"/>
                <a:ea typeface="+mn-ea"/>
                <a:cs typeface="+mn-cs"/>
              </a:rPr>
              <a:t>• allocate budgets – e.g. for heads of departments and teams to follow and use when planning their resources and schedules; to show shareholders how funds will be used</a:t>
            </a:r>
          </a:p>
          <a:p>
            <a:r>
              <a:rPr lang="en-GB" sz="1200" b="0" i="0" u="none" strike="noStrike" kern="1200" baseline="0" dirty="0">
                <a:solidFill>
                  <a:schemeClr val="tx1"/>
                </a:solidFill>
                <a:latin typeface="+mn-lt"/>
                <a:ea typeface="+mn-ea"/>
                <a:cs typeface="+mn-cs"/>
              </a:rPr>
              <a:t>• create financial forecasts – e.g. to show the bank when asking for business loans; to illustrate where the organisation expects to be financially at a given time</a:t>
            </a:r>
          </a:p>
          <a:p>
            <a:r>
              <a:rPr lang="en-GB" sz="1200" b="0" i="0" u="none" strike="noStrike" kern="1200" baseline="0" dirty="0">
                <a:solidFill>
                  <a:schemeClr val="tx1"/>
                </a:solidFill>
                <a:latin typeface="+mn-lt"/>
                <a:ea typeface="+mn-ea"/>
                <a:cs typeface="+mn-cs"/>
              </a:rPr>
              <a:t>• convince people to support the organisation – e.g. customers, suppliers, shareholders or potential employees</a:t>
            </a:r>
          </a:p>
          <a:p>
            <a:r>
              <a:rPr lang="en-GB" sz="1200" b="0" i="0" u="none" strike="noStrike" kern="1200" baseline="0" dirty="0">
                <a:solidFill>
                  <a:schemeClr val="tx1"/>
                </a:solidFill>
                <a:latin typeface="+mn-lt"/>
                <a:ea typeface="+mn-ea"/>
                <a:cs typeface="+mn-cs"/>
              </a:rPr>
              <a:t>• allocate physical resources – e.g. the current supply chain, costs, reliability and sustainability; physical assets owned by the organisation</a:t>
            </a:r>
          </a:p>
          <a:p>
            <a:r>
              <a:rPr lang="en-GB" sz="1200" b="0" i="0" u="none" strike="noStrike" kern="1200" baseline="0" dirty="0">
                <a:solidFill>
                  <a:schemeClr val="tx1"/>
                </a:solidFill>
                <a:latin typeface="+mn-lt"/>
                <a:ea typeface="+mn-ea"/>
                <a:cs typeface="+mn-cs"/>
              </a:rPr>
              <a:t>• assess human resources needed – e.g. the current workforce and scope to recruit and train new staff</a:t>
            </a:r>
          </a:p>
          <a:p>
            <a:r>
              <a:rPr lang="en-GB" sz="1200" b="0" i="0" u="none" strike="noStrike" kern="1200" baseline="0" dirty="0">
                <a:solidFill>
                  <a:schemeClr val="tx1"/>
                </a:solidFill>
                <a:latin typeface="+mn-lt"/>
                <a:ea typeface="+mn-ea"/>
                <a:cs typeface="+mn-cs"/>
              </a:rPr>
              <a:t>• set timescales for achieving the main goals – e.g. for different key stages of development</a:t>
            </a:r>
            <a:endParaRPr lang="en-GB" b="0" dirty="0"/>
          </a:p>
          <a:p>
            <a:pPr marL="0" indent="0">
              <a:buNone/>
            </a:pPr>
            <a:endParaRPr lang="en-GB" b="1" dirty="0"/>
          </a:p>
          <a:p>
            <a:pPr marL="0" indent="0">
              <a:buNone/>
            </a:pPr>
            <a:endParaRPr lang="en-GB" b="1" dirty="0"/>
          </a:p>
          <a:p>
            <a:pPr marL="0" indent="0">
              <a:buNone/>
            </a:pPr>
            <a:r>
              <a:rPr lang="en-GB" b="1" dirty="0"/>
              <a:t>How do we measure progress and success?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baseline="0" dirty="0">
                <a:solidFill>
                  <a:schemeClr val="tx1"/>
                </a:solidFill>
                <a:latin typeface="+mn-lt"/>
                <a:ea typeface="+mn-ea"/>
                <a:cs typeface="+mn-cs"/>
              </a:rPr>
              <a:t>Q – What sort of questions should we be asking, what areas should we be thinking about here? </a:t>
            </a:r>
            <a:endParaRPr lang="en-GB" sz="1200" b="1"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The final question – how do we measure progress and success? – covers how the high-level strategy will compare the actual progress with targets set out in plans by using, for example:</a:t>
            </a:r>
          </a:p>
          <a:p>
            <a:r>
              <a:rPr lang="en-GB" sz="1200" b="0" i="0" u="none" strike="noStrike" kern="1200" baseline="0" dirty="0">
                <a:solidFill>
                  <a:schemeClr val="tx1"/>
                </a:solidFill>
                <a:latin typeface="+mn-lt"/>
                <a:ea typeface="+mn-ea"/>
                <a:cs typeface="+mn-cs"/>
              </a:rPr>
              <a:t>• timescales, deadlines and targets</a:t>
            </a:r>
          </a:p>
          <a:p>
            <a:r>
              <a:rPr lang="en-GB" sz="1200" b="0" i="0" u="none" strike="noStrike" kern="1200" baseline="0" dirty="0">
                <a:solidFill>
                  <a:schemeClr val="tx1"/>
                </a:solidFill>
                <a:latin typeface="+mn-lt"/>
                <a:ea typeface="+mn-ea"/>
                <a:cs typeface="+mn-cs"/>
              </a:rPr>
              <a:t>• critical review points – e.g. at the end of different stages to make sure that everything is on track</a:t>
            </a:r>
          </a:p>
          <a:p>
            <a:r>
              <a:rPr lang="en-GB" sz="1200" b="0" i="0" u="none" strike="noStrike" kern="1200" baseline="0" dirty="0">
                <a:solidFill>
                  <a:schemeClr val="tx1"/>
                </a:solidFill>
                <a:latin typeface="+mn-lt"/>
                <a:ea typeface="+mn-ea"/>
                <a:cs typeface="+mn-cs"/>
              </a:rPr>
              <a:t>• monitoring techniques – e.g. against key performance indicators (KPIs); using Gantt charts</a:t>
            </a:r>
          </a:p>
          <a:p>
            <a:r>
              <a:rPr lang="en-GB" sz="1200" b="0" i="0" u="none" strike="noStrike" kern="1200" baseline="0" dirty="0">
                <a:solidFill>
                  <a:schemeClr val="tx1"/>
                </a:solidFill>
                <a:latin typeface="+mn-lt"/>
                <a:ea typeface="+mn-ea"/>
                <a:cs typeface="+mn-cs"/>
              </a:rPr>
              <a:t>• measuring increased income, sales or numbers of customers</a:t>
            </a:r>
          </a:p>
          <a:p>
            <a:r>
              <a:rPr lang="en-GB" sz="1200" b="0" i="0" u="none" strike="noStrike" kern="1200" baseline="0" dirty="0">
                <a:solidFill>
                  <a:schemeClr val="tx1"/>
                </a:solidFill>
                <a:latin typeface="+mn-lt"/>
                <a:ea typeface="+mn-ea"/>
                <a:cs typeface="+mn-cs"/>
              </a:rPr>
              <a:t>• customer feedback, loyalty and retention</a:t>
            </a:r>
          </a:p>
          <a:p>
            <a:r>
              <a:rPr lang="en-GB" sz="1200" b="0" i="0" u="none" strike="noStrike" kern="1200" baseline="0" dirty="0">
                <a:solidFill>
                  <a:schemeClr val="tx1"/>
                </a:solidFill>
                <a:latin typeface="+mn-lt"/>
                <a:ea typeface="+mn-ea"/>
                <a:cs typeface="+mn-cs"/>
              </a:rPr>
              <a:t>• public and media reactions</a:t>
            </a:r>
            <a:endParaRPr lang="en-GB" b="1" dirty="0"/>
          </a:p>
          <a:p>
            <a:endParaRPr lang="en-GB" dirty="0"/>
          </a:p>
        </p:txBody>
      </p:sp>
      <p:sp>
        <p:nvSpPr>
          <p:cNvPr id="4" name="Slide Number Placeholder 3"/>
          <p:cNvSpPr>
            <a:spLocks noGrp="1"/>
          </p:cNvSpPr>
          <p:nvPr>
            <p:ph type="sldNum" sz="quarter" idx="10"/>
          </p:nvPr>
        </p:nvSpPr>
        <p:spPr/>
        <p:txBody>
          <a:bodyPr/>
          <a:lstStyle/>
          <a:p>
            <a:fld id="{3C2141A1-FA70-4217-A960-49FE662E2A30}" type="slidenum">
              <a:rPr lang="en-GB" smtClean="0"/>
              <a:t>17</a:t>
            </a:fld>
            <a:endParaRPr lang="en-GB" dirty="0"/>
          </a:p>
        </p:txBody>
      </p:sp>
    </p:spTree>
    <p:extLst>
      <p:ext uri="{BB962C8B-B14F-4D97-AF65-F5344CB8AC3E}">
        <p14:creationId xmlns:p14="http://schemas.microsoft.com/office/powerpoint/2010/main" val="13296374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indent="0">
              <a:buNone/>
            </a:pPr>
            <a:r>
              <a:rPr lang="en-GB" b="1" dirty="0"/>
              <a:t>The components of an operational plan</a:t>
            </a:r>
          </a:p>
          <a:p>
            <a:pPr marL="0" indent="0">
              <a:buNone/>
            </a:pPr>
            <a:r>
              <a:rPr lang="en-GB" dirty="0"/>
              <a:t>An effective operational plan will include the following key components:</a:t>
            </a:r>
          </a:p>
          <a:p>
            <a:endParaRPr lang="en-GB" dirty="0"/>
          </a:p>
          <a:p>
            <a:pPr marL="0" indent="0">
              <a:buNone/>
            </a:pPr>
            <a:r>
              <a:rPr lang="en-GB" dirty="0"/>
              <a:t>• objectives</a:t>
            </a:r>
          </a:p>
          <a:p>
            <a:pPr marL="0" indent="0">
              <a:buNone/>
            </a:pPr>
            <a:r>
              <a:rPr lang="en-GB" dirty="0"/>
              <a:t>• key performance indicators</a:t>
            </a:r>
          </a:p>
          <a:p>
            <a:pPr marL="0" indent="0">
              <a:buNone/>
            </a:pPr>
            <a:r>
              <a:rPr lang="en-GB" dirty="0"/>
              <a:t>• resources</a:t>
            </a:r>
          </a:p>
          <a:p>
            <a:pPr marL="0" indent="0">
              <a:buNone/>
            </a:pPr>
            <a:r>
              <a:rPr lang="en-GB" dirty="0"/>
              <a:t>• timescales</a:t>
            </a:r>
          </a:p>
          <a:p>
            <a:pPr marL="0" indent="0">
              <a:buNone/>
            </a:pPr>
            <a:r>
              <a:rPr lang="en-GB" dirty="0"/>
              <a:t>• budgets</a:t>
            </a:r>
          </a:p>
          <a:p>
            <a:pPr marL="0" indent="0">
              <a:buNone/>
            </a:pPr>
            <a:r>
              <a:rPr lang="en-GB" dirty="0"/>
              <a:t>• accountabilities and responsibilities</a:t>
            </a:r>
          </a:p>
          <a:p>
            <a:pPr marL="0" indent="0">
              <a:buNone/>
            </a:pPr>
            <a:r>
              <a:rPr lang="en-GB" dirty="0"/>
              <a:t>• tasks</a:t>
            </a:r>
          </a:p>
          <a:p>
            <a:pPr marL="0" indent="0">
              <a:buNone/>
            </a:pPr>
            <a:r>
              <a:rPr lang="en-GB" dirty="0"/>
              <a:t>• reporting lines and mechanisms</a:t>
            </a:r>
          </a:p>
          <a:p>
            <a:pPr marL="0" indent="0">
              <a:buNone/>
            </a:pPr>
            <a:endParaRPr lang="en-GB" dirty="0"/>
          </a:p>
          <a:p>
            <a:pPr marL="0" indent="0">
              <a:buNone/>
            </a:pPr>
            <a:r>
              <a:rPr lang="en-GB" dirty="0"/>
              <a:t>Lets look at some of these</a:t>
            </a:r>
            <a:r>
              <a:rPr lang="en-GB" baseline="0" dirty="0"/>
              <a:t> in more detail now.</a:t>
            </a:r>
            <a:endParaRPr lang="en-GB" dirty="0"/>
          </a:p>
          <a:p>
            <a:endParaRPr lang="en-GB" dirty="0"/>
          </a:p>
        </p:txBody>
      </p:sp>
      <p:sp>
        <p:nvSpPr>
          <p:cNvPr id="4" name="Slide Number Placeholder 3"/>
          <p:cNvSpPr>
            <a:spLocks noGrp="1"/>
          </p:cNvSpPr>
          <p:nvPr>
            <p:ph type="sldNum" sz="quarter" idx="10"/>
          </p:nvPr>
        </p:nvSpPr>
        <p:spPr/>
        <p:txBody>
          <a:bodyPr/>
          <a:lstStyle/>
          <a:p>
            <a:fld id="{3C2141A1-FA70-4217-A960-49FE662E2A30}" type="slidenum">
              <a:rPr lang="en-GB" smtClean="0"/>
              <a:t>18</a:t>
            </a:fld>
            <a:endParaRPr lang="en-GB" dirty="0"/>
          </a:p>
        </p:txBody>
      </p:sp>
    </p:spTree>
    <p:extLst>
      <p:ext uri="{BB962C8B-B14F-4D97-AF65-F5344CB8AC3E}">
        <p14:creationId xmlns:p14="http://schemas.microsoft.com/office/powerpoint/2010/main" val="38289792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Before we start lets consider that an aim is (Q</a:t>
            </a:r>
            <a:r>
              <a:rPr lang="en-GB" baseline="0" dirty="0"/>
              <a:t> – how do you think we can define an Aim?)</a:t>
            </a:r>
            <a:endParaRPr lang="en-GB" dirty="0"/>
          </a:p>
          <a:p>
            <a:endParaRPr lang="en-GB" dirty="0"/>
          </a:p>
          <a:p>
            <a:r>
              <a:rPr lang="en-GB" dirty="0"/>
              <a:t>X – Picture – An</a:t>
            </a:r>
            <a:r>
              <a:rPr lang="en-GB" baseline="0" dirty="0"/>
              <a:t> aim is a long term statement of intent</a:t>
            </a:r>
            <a:endParaRPr lang="en-GB" dirty="0"/>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(Q</a:t>
            </a:r>
            <a:r>
              <a:rPr lang="en-GB" baseline="0" dirty="0"/>
              <a:t> – how do you think we can define an Objective?)</a:t>
            </a:r>
            <a:endParaRPr lang="en-GB" dirty="0"/>
          </a:p>
          <a:p>
            <a:r>
              <a:rPr lang="en-GB" dirty="0"/>
              <a:t>And</a:t>
            </a:r>
            <a:r>
              <a:rPr lang="en-GB" baseline="0" dirty="0"/>
              <a:t> an objective is</a:t>
            </a:r>
          </a:p>
          <a:p>
            <a:endParaRPr lang="en-GB" baseline="0" dirty="0"/>
          </a:p>
          <a:p>
            <a:r>
              <a:rPr lang="en-GB" baseline="0" dirty="0"/>
              <a:t>X – Picture – An objective is a short term outcome which can be measures</a:t>
            </a:r>
            <a:endParaRPr lang="en-GB" dirty="0"/>
          </a:p>
        </p:txBody>
      </p:sp>
      <p:sp>
        <p:nvSpPr>
          <p:cNvPr id="4" name="Slide Number Placeholder 3"/>
          <p:cNvSpPr>
            <a:spLocks noGrp="1"/>
          </p:cNvSpPr>
          <p:nvPr>
            <p:ph type="sldNum" sz="quarter" idx="10"/>
          </p:nvPr>
        </p:nvSpPr>
        <p:spPr/>
        <p:txBody>
          <a:bodyPr/>
          <a:lstStyle/>
          <a:p>
            <a:fld id="{3C2141A1-FA70-4217-A960-49FE662E2A30}" type="slidenum">
              <a:rPr lang="en-GB" smtClean="0"/>
              <a:t>19</a:t>
            </a:fld>
            <a:endParaRPr lang="en-GB" dirty="0"/>
          </a:p>
        </p:txBody>
      </p:sp>
    </p:spTree>
    <p:extLst>
      <p:ext uri="{BB962C8B-B14F-4D97-AF65-F5344CB8AC3E}">
        <p14:creationId xmlns:p14="http://schemas.microsoft.com/office/powerpoint/2010/main" val="1166398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Q</a:t>
            </a:r>
            <a:r>
              <a:rPr lang="en-GB" baseline="0" dirty="0"/>
              <a:t> - </a:t>
            </a:r>
            <a:r>
              <a:rPr lang="en-GB" dirty="0"/>
              <a:t>What are SMARTER objectives? </a:t>
            </a:r>
          </a:p>
          <a:p>
            <a:endParaRPr lang="en-GB" dirty="0"/>
          </a:p>
          <a:p>
            <a:pPr>
              <a:defRPr/>
            </a:pPr>
            <a:r>
              <a:rPr lang="en-GB" altLang="en-US" sz="1200" b="1" dirty="0">
                <a:solidFill>
                  <a:schemeClr val="accent1"/>
                </a:solidFill>
                <a:ea typeface="+mn-ea"/>
              </a:rPr>
              <a:t>X –</a:t>
            </a:r>
          </a:p>
          <a:p>
            <a:pPr>
              <a:defRPr/>
            </a:pPr>
            <a:r>
              <a:rPr lang="en-GB" altLang="en-US" sz="1200" b="1" dirty="0">
                <a:solidFill>
                  <a:schemeClr val="accent1"/>
                </a:solidFill>
                <a:ea typeface="+mn-ea"/>
              </a:rPr>
              <a:t>S</a:t>
            </a:r>
            <a:r>
              <a:rPr lang="en-GB" altLang="en-US" sz="1200" b="1" dirty="0">
                <a:ea typeface="+mn-ea"/>
              </a:rPr>
              <a:t>pecific</a:t>
            </a:r>
          </a:p>
          <a:p>
            <a:pPr>
              <a:defRPr/>
            </a:pPr>
            <a:r>
              <a:rPr lang="en-GB" altLang="en-US" sz="1200" b="1" dirty="0">
                <a:solidFill>
                  <a:schemeClr val="accent1"/>
                </a:solidFill>
                <a:ea typeface="+mn-ea"/>
              </a:rPr>
              <a:t>M</a:t>
            </a:r>
            <a:r>
              <a:rPr lang="en-GB" altLang="en-US" sz="1200" b="1" dirty="0">
                <a:ea typeface="+mn-ea"/>
              </a:rPr>
              <a:t>easurable</a:t>
            </a:r>
          </a:p>
          <a:p>
            <a:pPr>
              <a:defRPr/>
            </a:pPr>
            <a:r>
              <a:rPr lang="en-GB" altLang="en-US" sz="1200" b="1" dirty="0">
                <a:solidFill>
                  <a:schemeClr val="accent1"/>
                </a:solidFill>
                <a:ea typeface="+mn-ea"/>
              </a:rPr>
              <a:t>A</a:t>
            </a:r>
            <a:r>
              <a:rPr lang="en-GB" altLang="en-US" sz="1200" b="1" dirty="0">
                <a:ea typeface="+mn-ea"/>
              </a:rPr>
              <a:t>chievable</a:t>
            </a:r>
          </a:p>
          <a:p>
            <a:pPr>
              <a:defRPr/>
            </a:pPr>
            <a:r>
              <a:rPr lang="en-GB" altLang="en-US" sz="1200" b="1" dirty="0">
                <a:solidFill>
                  <a:schemeClr val="accent1"/>
                </a:solidFill>
                <a:ea typeface="+mn-ea"/>
              </a:rPr>
              <a:t>R</a:t>
            </a:r>
            <a:r>
              <a:rPr lang="en-GB" altLang="en-US" sz="1200" b="1" dirty="0">
                <a:ea typeface="+mn-ea"/>
              </a:rPr>
              <a:t>ealistic</a:t>
            </a:r>
          </a:p>
          <a:p>
            <a:pPr>
              <a:defRPr/>
            </a:pPr>
            <a:r>
              <a:rPr lang="en-GB" altLang="en-US" sz="1200" b="1" dirty="0">
                <a:solidFill>
                  <a:schemeClr val="accent1"/>
                </a:solidFill>
                <a:ea typeface="+mn-ea"/>
              </a:rPr>
              <a:t>T</a:t>
            </a:r>
            <a:r>
              <a:rPr lang="en-GB" altLang="en-US" sz="1200" b="1" dirty="0">
                <a:ea typeface="+mn-ea"/>
              </a:rPr>
              <a:t>ime-bound</a:t>
            </a:r>
          </a:p>
          <a:p>
            <a:pPr>
              <a:defRPr/>
            </a:pPr>
            <a:r>
              <a:rPr lang="en-GB" altLang="en-US" sz="1200" b="1" dirty="0">
                <a:solidFill>
                  <a:schemeClr val="accent1"/>
                </a:solidFill>
                <a:ea typeface="+mn-ea"/>
              </a:rPr>
              <a:t>E</a:t>
            </a:r>
            <a:r>
              <a:rPr lang="en-GB" altLang="en-US" sz="1200" b="1" dirty="0">
                <a:ea typeface="+mn-ea"/>
              </a:rPr>
              <a:t>valuated</a:t>
            </a:r>
          </a:p>
          <a:p>
            <a:pPr>
              <a:defRPr/>
            </a:pPr>
            <a:r>
              <a:rPr lang="en-GB" altLang="en-US" sz="1200" b="1" dirty="0">
                <a:solidFill>
                  <a:schemeClr val="accent1"/>
                </a:solidFill>
                <a:ea typeface="+mn-ea"/>
              </a:rPr>
              <a:t>R</a:t>
            </a:r>
            <a:r>
              <a:rPr lang="en-GB" altLang="en-US" sz="1200" b="1" dirty="0">
                <a:ea typeface="+mn-ea"/>
              </a:rPr>
              <a:t>eviewed or Recognised or Rewarded</a:t>
            </a:r>
          </a:p>
          <a:p>
            <a:pPr>
              <a:defRPr/>
            </a:pPr>
            <a:endParaRPr lang="en-GB" altLang="en-US" sz="1200" b="1" dirty="0">
              <a:ea typeface="+mn-ea"/>
            </a:endParaRPr>
          </a:p>
          <a:p>
            <a:pPr>
              <a:defRPr/>
            </a:pPr>
            <a:r>
              <a:rPr lang="en-GB" altLang="en-US" sz="1200" b="0" dirty="0">
                <a:ea typeface="+mn-ea"/>
              </a:rPr>
              <a:t>Or have you heard of the 3</a:t>
            </a:r>
            <a:r>
              <a:rPr lang="en-GB" altLang="en-US" sz="1200" b="0" baseline="0" dirty="0">
                <a:ea typeface="+mn-ea"/>
              </a:rPr>
              <a:t> Ms for setting objectives? </a:t>
            </a:r>
          </a:p>
          <a:p>
            <a:pPr>
              <a:defRPr/>
            </a:pPr>
            <a:endParaRPr lang="en-GB" altLang="en-US" sz="1200" b="1" baseline="0" dirty="0">
              <a:ea typeface="+mn-ea"/>
            </a:endParaRPr>
          </a:p>
          <a:p>
            <a:pPr>
              <a:defRPr/>
            </a:pPr>
            <a:r>
              <a:rPr lang="en-GB" altLang="en-US" sz="1200" b="0" baseline="0" dirty="0">
                <a:ea typeface="+mn-ea"/>
              </a:rPr>
              <a:t>Q – What do you think the 3 Ms might stand for?</a:t>
            </a:r>
          </a:p>
          <a:p>
            <a:pPr>
              <a:defRPr/>
            </a:pPr>
            <a:endParaRPr lang="en-GB" altLang="en-US" sz="1200" b="0" baseline="0" dirty="0">
              <a:ea typeface="+mn-ea"/>
            </a:endParaRPr>
          </a:p>
          <a:p>
            <a:pPr>
              <a:defRPr/>
            </a:pPr>
            <a:r>
              <a:rPr lang="en-GB" altLang="en-US" sz="1200" b="1" baseline="0" dirty="0">
                <a:ea typeface="+mn-ea"/>
              </a:rPr>
              <a:t>X - </a:t>
            </a:r>
          </a:p>
          <a:p>
            <a:r>
              <a:rPr lang="en-GB" sz="1200" b="1" dirty="0">
                <a:solidFill>
                  <a:schemeClr val="accent1"/>
                </a:solidFill>
              </a:rPr>
              <a:t>M</a:t>
            </a:r>
            <a:r>
              <a:rPr lang="en-GB" sz="1200" b="1" dirty="0"/>
              <a:t>otivational</a:t>
            </a:r>
          </a:p>
          <a:p>
            <a:r>
              <a:rPr lang="en-GB" sz="1200" b="1" dirty="0">
                <a:solidFill>
                  <a:schemeClr val="accent1"/>
                </a:solidFill>
              </a:rPr>
              <a:t>M</a:t>
            </a:r>
            <a:r>
              <a:rPr lang="en-GB" sz="1200" b="1" dirty="0"/>
              <a:t>anageable</a:t>
            </a:r>
          </a:p>
          <a:p>
            <a:r>
              <a:rPr lang="en-GB" sz="1200" b="1" dirty="0">
                <a:solidFill>
                  <a:schemeClr val="accent1"/>
                </a:solidFill>
              </a:rPr>
              <a:t>M</a:t>
            </a:r>
            <a:r>
              <a:rPr lang="en-GB" sz="1200" b="1" dirty="0"/>
              <a:t>easurable</a:t>
            </a:r>
          </a:p>
          <a:p>
            <a:pPr>
              <a:defRPr/>
            </a:pPr>
            <a:endParaRPr lang="en-GB" altLang="en-US" sz="1200" b="1" baseline="0" dirty="0">
              <a:ea typeface="+mn-ea"/>
            </a:endParaRPr>
          </a:p>
          <a:p>
            <a:pPr>
              <a:defRPr/>
            </a:pPr>
            <a:endParaRPr lang="en-GB" altLang="en-US" sz="1200" b="1" baseline="0" dirty="0">
              <a:ea typeface="+mn-ea"/>
            </a:endParaRPr>
          </a:p>
          <a:p>
            <a:pPr>
              <a:defRPr/>
            </a:pPr>
            <a:endParaRPr lang="en-GB" altLang="en-US" sz="1200" b="1" dirty="0">
              <a:ea typeface="+mn-ea"/>
            </a:endParaRPr>
          </a:p>
          <a:p>
            <a:pPr>
              <a:defRPr/>
            </a:pPr>
            <a:endParaRPr lang="en-GB" altLang="en-US" sz="1200" b="1" dirty="0">
              <a:ea typeface="+mn-ea"/>
            </a:endParaRPr>
          </a:p>
          <a:p>
            <a:pPr>
              <a:defRPr/>
            </a:pPr>
            <a:endParaRPr lang="en-GB" altLang="en-US" sz="1200" b="1" dirty="0">
              <a:ea typeface="+mn-ea"/>
            </a:endParaRPr>
          </a:p>
          <a:p>
            <a:endParaRPr lang="en-GB" dirty="0"/>
          </a:p>
          <a:p>
            <a:endParaRPr lang="en-GB" dirty="0"/>
          </a:p>
        </p:txBody>
      </p:sp>
      <p:sp>
        <p:nvSpPr>
          <p:cNvPr id="4" name="Slide Number Placeholder 3"/>
          <p:cNvSpPr>
            <a:spLocks noGrp="1"/>
          </p:cNvSpPr>
          <p:nvPr>
            <p:ph type="sldNum" sz="quarter" idx="10"/>
          </p:nvPr>
        </p:nvSpPr>
        <p:spPr/>
        <p:txBody>
          <a:bodyPr/>
          <a:lstStyle/>
          <a:p>
            <a:fld id="{3C2141A1-FA70-4217-A960-49FE662E2A30}" type="slidenum">
              <a:rPr lang="en-GB" smtClean="0"/>
              <a:t>20</a:t>
            </a:fld>
            <a:endParaRPr lang="en-GB" dirty="0"/>
          </a:p>
        </p:txBody>
      </p:sp>
    </p:spTree>
    <p:extLst>
      <p:ext uri="{BB962C8B-B14F-4D97-AF65-F5344CB8AC3E}">
        <p14:creationId xmlns:p14="http://schemas.microsoft.com/office/powerpoint/2010/main" val="4208355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So here are some examples of objectives. </a:t>
            </a:r>
          </a:p>
        </p:txBody>
      </p:sp>
      <p:sp>
        <p:nvSpPr>
          <p:cNvPr id="4" name="Slide Number Placeholder 3"/>
          <p:cNvSpPr>
            <a:spLocks noGrp="1"/>
          </p:cNvSpPr>
          <p:nvPr>
            <p:ph type="sldNum" sz="quarter" idx="10"/>
          </p:nvPr>
        </p:nvSpPr>
        <p:spPr/>
        <p:txBody>
          <a:bodyPr/>
          <a:lstStyle/>
          <a:p>
            <a:fld id="{3C2141A1-FA70-4217-A960-49FE662E2A30}" type="slidenum">
              <a:rPr lang="en-GB" smtClean="0"/>
              <a:t>21</a:t>
            </a:fld>
            <a:endParaRPr lang="en-GB" dirty="0"/>
          </a:p>
        </p:txBody>
      </p:sp>
    </p:spTree>
    <p:extLst>
      <p:ext uri="{BB962C8B-B14F-4D97-AF65-F5344CB8AC3E}">
        <p14:creationId xmlns:p14="http://schemas.microsoft.com/office/powerpoint/2010/main" val="13334354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a:lnSpc>
                <a:spcPct val="90000"/>
              </a:lnSpc>
              <a:defRPr/>
            </a:pPr>
            <a:r>
              <a:rPr lang="en-GB" altLang="en-US" b="1" dirty="0">
                <a:ea typeface="+mn-ea"/>
              </a:rPr>
              <a:t>In pairs write</a:t>
            </a:r>
            <a:r>
              <a:rPr lang="en-GB" altLang="en-US" b="1" dirty="0"/>
              <a:t> </a:t>
            </a:r>
            <a:r>
              <a:rPr lang="en-GB" altLang="en-US" b="1" dirty="0">
                <a:ea typeface="+mn-ea"/>
              </a:rPr>
              <a:t>3 smarter objectives for your role or </a:t>
            </a:r>
            <a:r>
              <a:rPr lang="en-GB" altLang="en-US" b="1" dirty="0"/>
              <a:t>for a member of your team</a:t>
            </a:r>
            <a:endParaRPr lang="en-GB" altLang="en-US" b="1" dirty="0">
              <a:ea typeface="+mn-ea"/>
            </a:endParaRPr>
          </a:p>
          <a:p>
            <a:pPr>
              <a:lnSpc>
                <a:spcPct val="90000"/>
              </a:lnSpc>
              <a:defRPr/>
            </a:pPr>
            <a:endParaRPr lang="en-GB" altLang="en-US" b="1" dirty="0">
              <a:ea typeface="+mn-ea"/>
            </a:endParaRPr>
          </a:p>
          <a:p>
            <a:pPr>
              <a:lnSpc>
                <a:spcPct val="90000"/>
              </a:lnSpc>
              <a:defRPr/>
            </a:pPr>
            <a:r>
              <a:rPr lang="en-GB" altLang="en-US" b="1" dirty="0">
                <a:ea typeface="+mn-ea"/>
              </a:rPr>
              <a:t>In pairs discuss whether they are SMART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Timing – write and discuss 3 objectives – 10 minutes</a:t>
            </a:r>
          </a:p>
          <a:p>
            <a:endParaRPr lang="en-GB" dirty="0"/>
          </a:p>
          <a:p>
            <a:endParaRPr lang="en-GB" baseline="0" dirty="0"/>
          </a:p>
          <a:p>
            <a:pPr>
              <a:defRPr/>
            </a:pPr>
            <a:r>
              <a:rPr lang="en-GB" altLang="en-US" sz="1200" b="1" dirty="0">
                <a:solidFill>
                  <a:schemeClr val="accent1"/>
                </a:solidFill>
                <a:ea typeface="+mn-ea"/>
              </a:rPr>
              <a:t>X –</a:t>
            </a:r>
          </a:p>
          <a:p>
            <a:pPr>
              <a:defRPr/>
            </a:pPr>
            <a:r>
              <a:rPr lang="en-GB" altLang="en-US" sz="1200" b="1" dirty="0">
                <a:solidFill>
                  <a:schemeClr val="accent1"/>
                </a:solidFill>
                <a:ea typeface="+mn-ea"/>
              </a:rPr>
              <a:t>S</a:t>
            </a:r>
            <a:r>
              <a:rPr lang="en-GB" altLang="en-US" sz="1200" b="1" dirty="0">
                <a:ea typeface="+mn-ea"/>
              </a:rPr>
              <a:t>pecific</a:t>
            </a:r>
          </a:p>
          <a:p>
            <a:pPr>
              <a:defRPr/>
            </a:pPr>
            <a:r>
              <a:rPr lang="en-GB" altLang="en-US" sz="1200" b="1" dirty="0">
                <a:solidFill>
                  <a:schemeClr val="accent1"/>
                </a:solidFill>
                <a:ea typeface="+mn-ea"/>
              </a:rPr>
              <a:t>M</a:t>
            </a:r>
            <a:r>
              <a:rPr lang="en-GB" altLang="en-US" sz="1200" b="1" dirty="0">
                <a:ea typeface="+mn-ea"/>
              </a:rPr>
              <a:t>easurable</a:t>
            </a:r>
          </a:p>
          <a:p>
            <a:pPr>
              <a:defRPr/>
            </a:pPr>
            <a:r>
              <a:rPr lang="en-GB" altLang="en-US" sz="1200" b="1" dirty="0">
                <a:solidFill>
                  <a:schemeClr val="accent1"/>
                </a:solidFill>
                <a:ea typeface="+mn-ea"/>
              </a:rPr>
              <a:t>A</a:t>
            </a:r>
            <a:r>
              <a:rPr lang="en-GB" altLang="en-US" sz="1200" b="1" dirty="0">
                <a:ea typeface="+mn-ea"/>
              </a:rPr>
              <a:t>chievable</a:t>
            </a:r>
          </a:p>
          <a:p>
            <a:pPr>
              <a:defRPr/>
            </a:pPr>
            <a:r>
              <a:rPr lang="en-GB" altLang="en-US" sz="1200" b="1" dirty="0">
                <a:solidFill>
                  <a:schemeClr val="accent1"/>
                </a:solidFill>
                <a:ea typeface="+mn-ea"/>
              </a:rPr>
              <a:t>R</a:t>
            </a:r>
            <a:r>
              <a:rPr lang="en-GB" altLang="en-US" sz="1200" b="1" dirty="0">
                <a:ea typeface="+mn-ea"/>
              </a:rPr>
              <a:t>ealistic</a:t>
            </a:r>
          </a:p>
          <a:p>
            <a:pPr>
              <a:defRPr/>
            </a:pPr>
            <a:r>
              <a:rPr lang="en-GB" altLang="en-US" sz="1200" b="1" dirty="0">
                <a:solidFill>
                  <a:schemeClr val="accent1"/>
                </a:solidFill>
                <a:ea typeface="+mn-ea"/>
              </a:rPr>
              <a:t>T</a:t>
            </a:r>
            <a:r>
              <a:rPr lang="en-GB" altLang="en-US" sz="1200" b="1" dirty="0">
                <a:ea typeface="+mn-ea"/>
              </a:rPr>
              <a:t>ime-bound</a:t>
            </a:r>
          </a:p>
          <a:p>
            <a:pPr>
              <a:defRPr/>
            </a:pPr>
            <a:r>
              <a:rPr lang="en-GB" altLang="en-US" sz="1200" b="1" dirty="0">
                <a:solidFill>
                  <a:schemeClr val="accent1"/>
                </a:solidFill>
                <a:ea typeface="+mn-ea"/>
              </a:rPr>
              <a:t>E</a:t>
            </a:r>
            <a:r>
              <a:rPr lang="en-GB" altLang="en-US" sz="1200" b="1" dirty="0">
                <a:ea typeface="+mn-ea"/>
              </a:rPr>
              <a:t>valuated</a:t>
            </a:r>
          </a:p>
          <a:p>
            <a:pPr>
              <a:defRPr/>
            </a:pPr>
            <a:r>
              <a:rPr lang="en-GB" altLang="en-US" sz="1200" b="1" dirty="0">
                <a:solidFill>
                  <a:schemeClr val="accent1"/>
                </a:solidFill>
                <a:ea typeface="+mn-ea"/>
              </a:rPr>
              <a:t>R</a:t>
            </a:r>
            <a:r>
              <a:rPr lang="en-GB" altLang="en-US" sz="1200" b="1" dirty="0">
                <a:ea typeface="+mn-ea"/>
              </a:rPr>
              <a:t>eviewed or Recognised or Rewarded</a:t>
            </a:r>
          </a:p>
          <a:p>
            <a:pPr>
              <a:defRPr/>
            </a:pPr>
            <a:endParaRPr lang="en-GB" altLang="en-US" sz="1200" b="1" dirty="0">
              <a:ea typeface="+mn-ea"/>
            </a:endParaRPr>
          </a:p>
          <a:p>
            <a:pPr>
              <a:defRPr/>
            </a:pPr>
            <a:endParaRPr lang="en-GB" altLang="en-US" sz="1200" b="0" baseline="0" dirty="0">
              <a:ea typeface="+mn-ea"/>
            </a:endParaRPr>
          </a:p>
          <a:p>
            <a:pPr>
              <a:defRPr/>
            </a:pPr>
            <a:r>
              <a:rPr lang="en-GB" altLang="en-US" sz="1200" b="1" baseline="0" dirty="0">
                <a:ea typeface="+mn-ea"/>
              </a:rPr>
              <a:t>X - </a:t>
            </a:r>
          </a:p>
          <a:p>
            <a:r>
              <a:rPr lang="en-GB" sz="1200" b="1" dirty="0">
                <a:solidFill>
                  <a:schemeClr val="accent1"/>
                </a:solidFill>
              </a:rPr>
              <a:t>M</a:t>
            </a:r>
            <a:r>
              <a:rPr lang="en-GB" sz="1200" b="1" dirty="0"/>
              <a:t>otivational</a:t>
            </a:r>
          </a:p>
          <a:p>
            <a:r>
              <a:rPr lang="en-GB" sz="1200" b="1" dirty="0">
                <a:solidFill>
                  <a:schemeClr val="accent1"/>
                </a:solidFill>
              </a:rPr>
              <a:t>M</a:t>
            </a:r>
            <a:r>
              <a:rPr lang="en-GB" sz="1200" b="1" dirty="0"/>
              <a:t>anageable</a:t>
            </a:r>
          </a:p>
          <a:p>
            <a:r>
              <a:rPr lang="en-GB" sz="1200" b="1" dirty="0">
                <a:solidFill>
                  <a:schemeClr val="accent1"/>
                </a:solidFill>
              </a:rPr>
              <a:t>M</a:t>
            </a:r>
            <a:r>
              <a:rPr lang="en-GB" sz="1200" b="1" dirty="0"/>
              <a:t>easurable</a:t>
            </a:r>
          </a:p>
          <a:p>
            <a:pPr>
              <a:defRPr/>
            </a:pPr>
            <a:endParaRPr lang="en-GB" altLang="en-US" sz="1200" b="1" baseline="0" dirty="0">
              <a:ea typeface="+mn-ea"/>
            </a:endParaRPr>
          </a:p>
          <a:p>
            <a:endParaRPr lang="en-GB" dirty="0"/>
          </a:p>
          <a:p>
            <a:r>
              <a:rPr lang="en-GB" altLang="en-US" b="1" dirty="0">
                <a:ea typeface="+mn-ea"/>
              </a:rPr>
              <a:t>X - Now look to see if you can incorporate the 3 Ms within your objectives.</a:t>
            </a:r>
            <a:endParaRPr lang="en-GB" b="1" dirty="0"/>
          </a:p>
          <a:p>
            <a:r>
              <a:rPr lang="en-GB" dirty="0"/>
              <a:t>Timing</a:t>
            </a:r>
            <a:r>
              <a:rPr lang="en-GB" baseline="0" dirty="0"/>
              <a:t> – allow another 5 minutes</a:t>
            </a:r>
          </a:p>
          <a:p>
            <a:endParaRPr lang="en-GB" baseline="0" dirty="0"/>
          </a:p>
          <a:p>
            <a:r>
              <a:rPr lang="en-GB" baseline="0" dirty="0"/>
              <a:t>Now each pair present one of their SMARTER objectives to the group</a:t>
            </a:r>
          </a:p>
          <a:p>
            <a:r>
              <a:rPr lang="en-GB" baseline="0" dirty="0"/>
              <a:t>Timing – 10 minutes</a:t>
            </a:r>
            <a:endParaRPr lang="en-GB" dirty="0"/>
          </a:p>
          <a:p>
            <a:endParaRPr lang="en-GB" dirty="0"/>
          </a:p>
        </p:txBody>
      </p:sp>
      <p:sp>
        <p:nvSpPr>
          <p:cNvPr id="4" name="Slide Number Placeholder 3"/>
          <p:cNvSpPr>
            <a:spLocks noGrp="1"/>
          </p:cNvSpPr>
          <p:nvPr>
            <p:ph type="sldNum" sz="quarter" idx="10"/>
          </p:nvPr>
        </p:nvSpPr>
        <p:spPr/>
        <p:txBody>
          <a:bodyPr/>
          <a:lstStyle/>
          <a:p>
            <a:fld id="{3C2141A1-FA70-4217-A960-49FE662E2A30}" type="slidenum">
              <a:rPr lang="en-GB" smtClean="0"/>
              <a:t>22</a:t>
            </a:fld>
            <a:endParaRPr lang="en-GB" dirty="0"/>
          </a:p>
        </p:txBody>
      </p:sp>
    </p:spTree>
    <p:extLst>
      <p:ext uri="{BB962C8B-B14F-4D97-AF65-F5344CB8AC3E}">
        <p14:creationId xmlns:p14="http://schemas.microsoft.com/office/powerpoint/2010/main" val="29025111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Think about your current or previous employer and make a few notes about the organisational targets that have involved your team.</a:t>
            </a:r>
          </a:p>
          <a:p>
            <a:endParaRPr lang="en-GB" dirty="0"/>
          </a:p>
        </p:txBody>
      </p:sp>
      <p:sp>
        <p:nvSpPr>
          <p:cNvPr id="4" name="Slide Number Placeholder 3"/>
          <p:cNvSpPr>
            <a:spLocks noGrp="1"/>
          </p:cNvSpPr>
          <p:nvPr>
            <p:ph type="sldNum" sz="quarter" idx="10"/>
          </p:nvPr>
        </p:nvSpPr>
        <p:spPr/>
        <p:txBody>
          <a:bodyPr/>
          <a:lstStyle/>
          <a:p>
            <a:pPr marL="0" marR="0" lvl="0" indent="0" algn="r" defTabSz="713232" rtl="0" eaLnBrk="1" fontAlgn="auto" latinLnBrk="0" hangingPunct="1">
              <a:lnSpc>
                <a:spcPct val="100000"/>
              </a:lnSpc>
              <a:spcBef>
                <a:spcPts val="0"/>
              </a:spcBef>
              <a:spcAft>
                <a:spcPts val="0"/>
              </a:spcAft>
              <a:buClrTx/>
              <a:buSzTx/>
              <a:buFontTx/>
              <a:buNone/>
              <a:tabLst/>
              <a:defRPr/>
            </a:pPr>
            <a:fld id="{3C2141A1-FA70-4217-A960-49FE662E2A3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713232"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32006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sz="1200" b="1" i="0" u="none" strike="noStrike" kern="1200" baseline="0" dirty="0">
                <a:solidFill>
                  <a:schemeClr val="tx1"/>
                </a:solidFill>
                <a:latin typeface="+mn-lt"/>
                <a:ea typeface="+mn-ea"/>
                <a:cs typeface="+mn-cs"/>
              </a:rPr>
              <a:t>According to the online Business Dictionary:</a:t>
            </a:r>
          </a:p>
          <a:p>
            <a:r>
              <a:rPr lang="en-GB" sz="1200" b="1" i="0" u="none" strike="noStrike" kern="1200" baseline="0" dirty="0">
                <a:solidFill>
                  <a:schemeClr val="tx1"/>
                </a:solidFill>
                <a:latin typeface="+mn-lt"/>
                <a:ea typeface="+mn-ea"/>
                <a:cs typeface="+mn-cs"/>
              </a:rPr>
              <a:t>‘…KPIs show the progress (or lack of it) toward realizing the firm’s objectives or strategic plan by monitoring activities, which (if not properly performed), would likely cause severe losses or outright failure.’</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Many KPIs tend to focus on outputs for example sales volumes and revenues, customer service response times and delivery or distribution speeds.</a:t>
            </a:r>
          </a:p>
          <a:p>
            <a:r>
              <a:rPr lang="en-GB" sz="1200" b="0" i="0" u="none" strike="noStrike" kern="1200" baseline="0" dirty="0">
                <a:solidFill>
                  <a:schemeClr val="tx1"/>
                </a:solidFill>
                <a:latin typeface="+mn-lt"/>
                <a:ea typeface="+mn-ea"/>
                <a:cs typeface="+mn-cs"/>
              </a:rPr>
              <a:t>KPIs are specific in nature and whether they have been achieved or not should be easily measurable.</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Think of the KPIs that you have and discuss the following in your groups: (5 minutes)</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What do you do to ensure that KPIs are met?</a:t>
            </a:r>
          </a:p>
          <a:p>
            <a:r>
              <a:rPr lang="en-GB" sz="1200" b="0" i="0" u="none" strike="noStrike" kern="1200" baseline="0" dirty="0">
                <a:solidFill>
                  <a:schemeClr val="tx1"/>
                </a:solidFill>
                <a:latin typeface="+mn-lt"/>
                <a:ea typeface="+mn-ea"/>
                <a:cs typeface="+mn-cs"/>
              </a:rPr>
              <a:t>How do you monitor performance against KPI?</a:t>
            </a:r>
          </a:p>
          <a:p>
            <a:r>
              <a:rPr lang="en-GB" sz="1200" b="0" i="0" u="none" strike="noStrike" kern="1200" baseline="0" dirty="0">
                <a:solidFill>
                  <a:schemeClr val="tx1"/>
                </a:solidFill>
                <a:latin typeface="+mn-lt"/>
                <a:ea typeface="+mn-ea"/>
                <a:cs typeface="+mn-cs"/>
              </a:rPr>
              <a:t>What corrective actions can you take if KPI targets are being impacted?</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Are there different approaches in different areas to ensure that KPIs are met? </a:t>
            </a:r>
          </a:p>
          <a:p>
            <a:r>
              <a:rPr lang="en-GB" sz="1200" b="0" i="0" u="none" strike="noStrike" kern="1200" baseline="0" dirty="0">
                <a:solidFill>
                  <a:schemeClr val="tx1"/>
                </a:solidFill>
                <a:latin typeface="+mn-lt"/>
                <a:ea typeface="+mn-ea"/>
                <a:cs typeface="+mn-cs"/>
              </a:rPr>
              <a:t>Is there anything discussed that could support your team in ensuring that KPI are met?</a:t>
            </a:r>
          </a:p>
          <a:p>
            <a:endParaRPr lang="en-GB" sz="1200" b="0" i="0" u="none" strike="noStrike" kern="1200" baseline="0" dirty="0">
              <a:solidFill>
                <a:schemeClr val="tx1"/>
              </a:solidFill>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3C2141A1-FA70-4217-A960-49FE662E2A30}" type="slidenum">
              <a:rPr lang="en-GB" smtClean="0"/>
              <a:t>24</a:t>
            </a:fld>
            <a:endParaRPr lang="en-GB" dirty="0"/>
          </a:p>
        </p:txBody>
      </p:sp>
    </p:spTree>
    <p:extLst>
      <p:ext uri="{BB962C8B-B14F-4D97-AF65-F5344CB8AC3E}">
        <p14:creationId xmlns:p14="http://schemas.microsoft.com/office/powerpoint/2010/main" val="17878599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indent="0">
              <a:buNone/>
            </a:pPr>
            <a:r>
              <a:rPr lang="en-GB" sz="1200" dirty="0"/>
              <a:t>The strategic aims are the key elements making up the overall strategy for HE development.</a:t>
            </a:r>
          </a:p>
          <a:p>
            <a:pPr marL="0" indent="0">
              <a:buNone/>
            </a:pPr>
            <a:r>
              <a:rPr lang="en-GB" sz="1200" dirty="0"/>
              <a:t>KPIs show the progress (or lack of it) toward realizing the firm’s objectives or strategic plan by monitoring activities, which (if not properly performed), would likely cause severe losses or outright failure.</a:t>
            </a:r>
          </a:p>
          <a:p>
            <a:pPr marL="0" indent="0">
              <a:buNone/>
            </a:pPr>
            <a:endParaRPr lang="en-GB" sz="1200" dirty="0"/>
          </a:p>
          <a:p>
            <a:pPr marL="0" indent="0">
              <a:buNone/>
            </a:pPr>
            <a:r>
              <a:rPr lang="en-GB" sz="1200" dirty="0"/>
              <a:t>X - Strategic Aim - To recruit high calibre students in sufficient numbers to ensure the ongoing financial viability of HE programmes. To have a total of 893 FTE HE students studying at Weston College by 2016-17. </a:t>
            </a:r>
          </a:p>
          <a:p>
            <a:pPr marL="0" indent="0">
              <a:buNone/>
            </a:pPr>
            <a:r>
              <a:rPr lang="en-GB" sz="1200" dirty="0"/>
              <a:t>X - KPI - Overall student numbers to increase by a minimum of 5% annually. </a:t>
            </a:r>
          </a:p>
          <a:p>
            <a:pPr marL="0" indent="0">
              <a:buNone/>
            </a:pPr>
            <a:endParaRPr lang="en-GB" sz="1200" dirty="0"/>
          </a:p>
          <a:p>
            <a:pPr marL="0" indent="0">
              <a:buNone/>
            </a:pPr>
            <a:r>
              <a:rPr lang="en-GB" sz="1200" dirty="0"/>
              <a:t>Any questions so far? </a:t>
            </a:r>
          </a:p>
          <a:p>
            <a:endParaRPr lang="en-GB" dirty="0"/>
          </a:p>
        </p:txBody>
      </p:sp>
      <p:sp>
        <p:nvSpPr>
          <p:cNvPr id="4" name="Slide Number Placeholder 3"/>
          <p:cNvSpPr>
            <a:spLocks noGrp="1"/>
          </p:cNvSpPr>
          <p:nvPr>
            <p:ph type="sldNum" sz="quarter" idx="10"/>
          </p:nvPr>
        </p:nvSpPr>
        <p:spPr/>
        <p:txBody>
          <a:bodyPr/>
          <a:lstStyle/>
          <a:p>
            <a:fld id="{3C2141A1-FA70-4217-A960-49FE662E2A30}" type="slidenum">
              <a:rPr lang="en-GB" smtClean="0"/>
              <a:t>25</a:t>
            </a:fld>
            <a:endParaRPr lang="en-GB" dirty="0"/>
          </a:p>
        </p:txBody>
      </p:sp>
    </p:spTree>
    <p:extLst>
      <p:ext uri="{BB962C8B-B14F-4D97-AF65-F5344CB8AC3E}">
        <p14:creationId xmlns:p14="http://schemas.microsoft.com/office/powerpoint/2010/main" val="8700923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The Hoshin Kanri X matrix template is a single-page document that includes goals, strategies, strategic projects (initiatives), and owners.</a:t>
            </a:r>
          </a:p>
          <a:p>
            <a:r>
              <a:rPr lang="en-US" dirty="0"/>
              <a:t>In </a:t>
            </a:r>
            <a:r>
              <a:rPr lang="en-US" dirty="0">
                <a:hlinkClick r:id="rId3"/>
              </a:rPr>
              <a:t>Lean management</a:t>
            </a:r>
            <a:r>
              <a:rPr lang="en-US" dirty="0"/>
              <a:t>, the goal of applying the X matrix is to align the long-term needs with strategic initiatives, identify the most important activities along the way, and list the metrics that you need to improve.</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pPr marL="0" marR="0" lvl="0" indent="0" algn="r" defTabSz="713232" rtl="0" eaLnBrk="1" fontAlgn="auto" latinLnBrk="0" hangingPunct="1">
              <a:lnSpc>
                <a:spcPct val="100000"/>
              </a:lnSpc>
              <a:spcBef>
                <a:spcPts val="0"/>
              </a:spcBef>
              <a:spcAft>
                <a:spcPts val="0"/>
              </a:spcAft>
              <a:buClrTx/>
              <a:buSzTx/>
              <a:buFontTx/>
              <a:buNone/>
              <a:tabLst/>
              <a:defRPr/>
            </a:pPr>
            <a:fld id="{3C2141A1-FA70-4217-A960-49FE662E2A3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713232"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74364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b="1" dirty="0"/>
              <a:t>To the north are your action items or “top-level improvement priorities”: </a:t>
            </a:r>
            <a:r>
              <a:rPr lang="en-US" dirty="0"/>
              <a:t>These make up the high-level to-do list for your team. In other words, they are the top priorities to achieve over the next few months.</a:t>
            </a:r>
          </a:p>
          <a:p>
            <a:r>
              <a:rPr lang="en-US" b="1" dirty="0"/>
              <a:t>To the east are your action programs, initiatives, or “targets to improve”:</a:t>
            </a:r>
            <a:r>
              <a:rPr lang="en-US" dirty="0"/>
              <a:t> Your initiatives will help you take the next step toward where you want to be at the end of the year and, ultimately, at the end of five years. Different teams may have different targets to improve upon and may want to focus on something that is important to their team’s objectives. But keep in mind, some team members may become frustrated during this process if their project isn’t deemed necessary to the Hoshin planning process. That’s where the Hoshin-specific concept of “catchball” becomes important. (</a:t>
            </a:r>
            <a:r>
              <a:rPr lang="en-US" dirty="0">
                <a:hlinkClick r:id="rId3"/>
              </a:rPr>
              <a:t>Check out this article if you’re unfamiliar with the term</a:t>
            </a:r>
            <a:r>
              <a:rPr lang="en-US" dirty="0"/>
              <a:t>.)</a:t>
            </a:r>
            <a:endParaRPr lang="en-US" dirty="0">
              <a:cs typeface="Calibri"/>
            </a:endParaRPr>
          </a:p>
          <a:p>
            <a:r>
              <a:rPr lang="en-US" b="1" dirty="0"/>
              <a:t>To the west are your measures or “annual objectives”: </a:t>
            </a:r>
            <a:r>
              <a:rPr lang="en-US" dirty="0"/>
              <a:t>Three to five years is pretty far away—and it can be easy to let a year or so go without doing much to help with your five-year plan. Hoshin planning helps you break down your big objectives into yearly outcomes for your teams. To create these, you’ll want to consider what you need to accomplish first to keep you on track—and then build out from there. Perhaps one of your breakthrough objectives is to achieve a certain number of sales in five years—that means your annual number may be a fifth of that (or whatever number your organization thinks is achievable for year one).</a:t>
            </a:r>
            <a:endParaRPr lang="en-US" dirty="0">
              <a:cs typeface="Calibri"/>
            </a:endParaRPr>
          </a:p>
          <a:p>
            <a:r>
              <a:rPr lang="en-US" b="1" dirty="0"/>
              <a:t>To the south are your “breakthrough objectives”:</a:t>
            </a:r>
            <a:r>
              <a:rPr lang="en-US" dirty="0"/>
              <a:t> These are major, top-level goals that the senior leadership team has created. All of your annual objectives, targets, and action items should stack on top of one another to help you reach these lofty organizational objectives.</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pPr marL="0" marR="0" lvl="0" indent="0" algn="r" defTabSz="713232" rtl="0" eaLnBrk="1" fontAlgn="auto" latinLnBrk="0" hangingPunct="1">
              <a:lnSpc>
                <a:spcPct val="100000"/>
              </a:lnSpc>
              <a:spcBef>
                <a:spcPts val="0"/>
              </a:spcBef>
              <a:spcAft>
                <a:spcPts val="0"/>
              </a:spcAft>
              <a:buClrTx/>
              <a:buSzTx/>
              <a:buFontTx/>
              <a:buNone/>
              <a:tabLst/>
              <a:defRPr/>
            </a:pPr>
            <a:fld id="{3C2141A1-FA70-4217-A960-49FE662E2A3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713232"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369546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US" dirty="0"/>
              <a:t>What is a RACI matrix? The RACI matrix is a responsibility assignment chart that maps out every task, milestone or key decision involved in completing a project and assigns which roles are Responsible for each action item, which personnel are Accountable, and, where appropriate, who needs to be Consulted or Informed.</a:t>
            </a:r>
          </a:p>
        </p:txBody>
      </p:sp>
      <p:sp>
        <p:nvSpPr>
          <p:cNvPr id="4" name="Slide Number Placeholder 3"/>
          <p:cNvSpPr>
            <a:spLocks noGrp="1"/>
          </p:cNvSpPr>
          <p:nvPr>
            <p:ph type="sldNum" sz="quarter" idx="5"/>
          </p:nvPr>
        </p:nvSpPr>
        <p:spPr/>
        <p:txBody>
          <a:bodyPr/>
          <a:lstStyle/>
          <a:p>
            <a:pPr marL="0" marR="0" lvl="0" indent="0" algn="r" defTabSz="713232" rtl="0" eaLnBrk="1" fontAlgn="auto" latinLnBrk="0" hangingPunct="1">
              <a:lnSpc>
                <a:spcPct val="100000"/>
              </a:lnSpc>
              <a:spcBef>
                <a:spcPts val="0"/>
              </a:spcBef>
              <a:spcAft>
                <a:spcPts val="0"/>
              </a:spcAft>
              <a:buClrTx/>
              <a:buSzTx/>
              <a:buFontTx/>
              <a:buNone/>
              <a:tabLst/>
              <a:defRPr/>
            </a:pPr>
            <a:fld id="{3C2141A1-FA70-4217-A960-49FE662E2A3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713232"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99780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US" dirty="0"/>
              <a:t>KPI stands for key performance indicator, a quantifiable measure of performance over time for a specific objective. KPIs provide targets for teams to shoot for, milestones to gauge progress, and insights that help people across the organization make better decisions.</a:t>
            </a:r>
          </a:p>
          <a:p>
            <a:endParaRPr lang="en-US" dirty="0">
              <a:cs typeface="Calibri"/>
            </a:endParaRPr>
          </a:p>
          <a:p>
            <a:r>
              <a:rPr lang="en-US" dirty="0"/>
              <a:t>KPIs are specific measurements that are used to track progress toward specific goals. On the other hand, metrics can be any type of data collected as part of routine business operations</a:t>
            </a:r>
            <a:endParaRPr lang="en-US" dirty="0">
              <a:cs typeface="Calibri"/>
            </a:endParaRPr>
          </a:p>
        </p:txBody>
      </p:sp>
      <p:sp>
        <p:nvSpPr>
          <p:cNvPr id="4" name="Slide Number Placeholder 3"/>
          <p:cNvSpPr>
            <a:spLocks noGrp="1"/>
          </p:cNvSpPr>
          <p:nvPr>
            <p:ph type="sldNum" sz="quarter" idx="5"/>
          </p:nvPr>
        </p:nvSpPr>
        <p:spPr/>
        <p:txBody>
          <a:bodyPr/>
          <a:lstStyle/>
          <a:p>
            <a:pPr marL="0" marR="0" lvl="0" indent="0" algn="r" defTabSz="713232" rtl="0" eaLnBrk="1" fontAlgn="auto" latinLnBrk="0" hangingPunct="1">
              <a:lnSpc>
                <a:spcPct val="100000"/>
              </a:lnSpc>
              <a:spcBef>
                <a:spcPts val="0"/>
              </a:spcBef>
              <a:spcAft>
                <a:spcPts val="0"/>
              </a:spcAft>
              <a:buClrTx/>
              <a:buSzTx/>
              <a:buFontTx/>
              <a:buNone/>
              <a:tabLst/>
              <a:defRPr/>
            </a:pPr>
            <a:fld id="{3C2141A1-FA70-4217-A960-49FE662E2A3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713232"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27500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gn="just"/>
            <a:r>
              <a:rPr lang="en-GB" dirty="0"/>
              <a:t>An organisation’s culture can directly influence its response to organisational change. This is significant, with the CIPD pointing out that an “effective approach to managing change is vital because evidence indicates that few change initiatives are successful. This failure can have a great impact on an organisation, both in their market position and the engagement and retention of employees.”</a:t>
            </a:r>
            <a:endParaRPr lang="en-US" dirty="0"/>
          </a:p>
          <a:p>
            <a:pPr algn="just"/>
            <a:r>
              <a:rPr lang="en-GB" dirty="0"/>
              <a:t>With people and culture being the single biggest drivers of organisational change success, it’s obvious that a dynamic, change-receptive culture is key to ensuring the success of any organisational change programmes</a:t>
            </a:r>
          </a:p>
          <a:p>
            <a:endParaRPr lang="en-GB" dirty="0">
              <a:cs typeface="Calibri"/>
            </a:endParaRPr>
          </a:p>
        </p:txBody>
      </p:sp>
      <p:sp>
        <p:nvSpPr>
          <p:cNvPr id="4" name="Slide Number Placeholder 3"/>
          <p:cNvSpPr>
            <a:spLocks noGrp="1"/>
          </p:cNvSpPr>
          <p:nvPr>
            <p:ph type="sldNum" sz="quarter" idx="10"/>
          </p:nvPr>
        </p:nvSpPr>
        <p:spPr/>
        <p:txBody>
          <a:bodyPr/>
          <a:lstStyle/>
          <a:p>
            <a:pPr marL="0" marR="0" lvl="0" indent="0" algn="r" defTabSz="713232" rtl="0" eaLnBrk="1" fontAlgn="auto" latinLnBrk="0" hangingPunct="1">
              <a:lnSpc>
                <a:spcPct val="100000"/>
              </a:lnSpc>
              <a:spcBef>
                <a:spcPts val="0"/>
              </a:spcBef>
              <a:spcAft>
                <a:spcPts val="0"/>
              </a:spcAft>
              <a:buClrTx/>
              <a:buSzTx/>
              <a:buFontTx/>
              <a:buNone/>
              <a:tabLst/>
              <a:defRPr/>
            </a:pPr>
            <a:fld id="{03FDA5D2-4089-4907-AAA7-80E6387A956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713232" rtl="0" eaLnBrk="1" fontAlgn="auto" latinLnBrk="0" hangingPunct="1">
                <a:lnSpc>
                  <a:spcPct val="100000"/>
                </a:lnSpc>
                <a:spcBef>
                  <a:spcPts val="0"/>
                </a:spcBef>
                <a:spcAft>
                  <a:spcPts val="0"/>
                </a:spcAft>
                <a:buClrTx/>
                <a:buSzTx/>
                <a:buFontTx/>
                <a:buNone/>
                <a:tabLst/>
                <a:defRPr/>
              </a:pPr>
              <a:t>36</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22925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dirty="0">
                <a:cs typeface="Calibri"/>
              </a:rPr>
              <a:t>Refresh Revise</a:t>
            </a:r>
          </a:p>
          <a:p>
            <a:endParaRPr lang="en-GB" dirty="0">
              <a:cs typeface="Calibri"/>
            </a:endParaRPr>
          </a:p>
          <a:p>
            <a:r>
              <a:rPr lang="en-GB" dirty="0">
                <a:cs typeface="Calibri"/>
              </a:rPr>
              <a:t>Johnson &amp; Scoles</a:t>
            </a:r>
          </a:p>
          <a:p>
            <a:r>
              <a:rPr lang="en-GB" dirty="0">
                <a:cs typeface="Calibri"/>
              </a:rPr>
              <a:t>Handy </a:t>
            </a:r>
          </a:p>
          <a:p>
            <a:r>
              <a:rPr lang="en-GB" dirty="0">
                <a:cs typeface="Calibri"/>
              </a:rPr>
              <a:t>Schein</a:t>
            </a:r>
          </a:p>
        </p:txBody>
      </p:sp>
      <p:sp>
        <p:nvSpPr>
          <p:cNvPr id="4" name="Slide Number Placeholder 3"/>
          <p:cNvSpPr>
            <a:spLocks noGrp="1"/>
          </p:cNvSpPr>
          <p:nvPr>
            <p:ph type="sldNum" sz="quarter" idx="10"/>
          </p:nvPr>
        </p:nvSpPr>
        <p:spPr/>
        <p:txBody>
          <a:bodyPr/>
          <a:lstStyle/>
          <a:p>
            <a:pPr marL="0" marR="0" lvl="0" indent="0" algn="r" defTabSz="713232" rtl="0" eaLnBrk="1" fontAlgn="auto" latinLnBrk="0" hangingPunct="1">
              <a:lnSpc>
                <a:spcPct val="100000"/>
              </a:lnSpc>
              <a:spcBef>
                <a:spcPts val="0"/>
              </a:spcBef>
              <a:spcAft>
                <a:spcPts val="0"/>
              </a:spcAft>
              <a:buClrTx/>
              <a:buSzTx/>
              <a:buFontTx/>
              <a:buNone/>
              <a:tabLst/>
              <a:defRPr/>
            </a:pPr>
            <a:fld id="{03FDA5D2-4089-4907-AAA7-80E6387A956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713232" rtl="0" eaLnBrk="1" fontAlgn="auto" latinLnBrk="0" hangingPunct="1">
                <a:lnSpc>
                  <a:spcPct val="100000"/>
                </a:lnSpc>
                <a:spcBef>
                  <a:spcPts val="0"/>
                </a:spcBef>
                <a:spcAft>
                  <a:spcPts val="0"/>
                </a:spcAft>
                <a:buClrTx/>
                <a:buSzTx/>
                <a:buFontTx/>
                <a:buNone/>
                <a:tabLst/>
                <a:defRPr/>
              </a:pPr>
              <a:t>37</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18517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In the workplace, we need to take active steps to attract, develop and promote people from</a:t>
            </a:r>
          </a:p>
          <a:p>
            <a:r>
              <a:rPr lang="en-GB" sz="1200" b="0" i="0" u="none" strike="noStrike" kern="1200" baseline="0" dirty="0">
                <a:solidFill>
                  <a:schemeClr val="tx1"/>
                </a:solidFill>
                <a:latin typeface="+mn-lt"/>
                <a:ea typeface="+mn-ea"/>
                <a:cs typeface="+mn-cs"/>
              </a:rPr>
              <a:t>diverse backgrounds. For example, we can:</a:t>
            </a:r>
          </a:p>
          <a:p>
            <a:r>
              <a:rPr lang="en-GB" sz="1200" b="0" i="0" u="none" strike="noStrike" kern="1200" baseline="0" dirty="0">
                <a:solidFill>
                  <a:schemeClr val="tx1"/>
                </a:solidFill>
                <a:latin typeface="+mn-lt"/>
                <a:ea typeface="+mn-ea"/>
                <a:cs typeface="+mn-cs"/>
              </a:rPr>
              <a:t>• make sure that we appoint people from diverse backgrounds</a:t>
            </a:r>
          </a:p>
          <a:p>
            <a:r>
              <a:rPr lang="en-GB" sz="1200" b="0" i="0" u="none" strike="noStrike" kern="1200" baseline="0" dirty="0">
                <a:solidFill>
                  <a:schemeClr val="tx1"/>
                </a:solidFill>
                <a:latin typeface="+mn-lt"/>
                <a:ea typeface="+mn-ea"/>
                <a:cs typeface="+mn-cs"/>
              </a:rPr>
              <a:t>• avoid asking the same people all the time when we allocate extra duties or responsibilities</a:t>
            </a:r>
          </a:p>
          <a:p>
            <a:r>
              <a:rPr lang="en-GB" sz="1200" b="0" i="0" u="none" strike="noStrike" kern="1200" baseline="0" dirty="0">
                <a:solidFill>
                  <a:schemeClr val="tx1"/>
                </a:solidFill>
                <a:latin typeface="+mn-lt"/>
                <a:ea typeface="+mn-ea"/>
                <a:cs typeface="+mn-cs"/>
              </a:rPr>
              <a:t>• invite people to join a group that might help them and the organisation – e.g. when meeting</a:t>
            </a:r>
          </a:p>
          <a:p>
            <a:r>
              <a:rPr lang="en-GB" sz="1200" b="0" i="0" u="none" strike="noStrike" kern="1200" baseline="0" dirty="0">
                <a:solidFill>
                  <a:schemeClr val="tx1"/>
                </a:solidFill>
                <a:latin typeface="+mn-lt"/>
                <a:ea typeface="+mn-ea"/>
                <a:cs typeface="+mn-cs"/>
              </a:rPr>
              <a:t>colleagues for lunch; when there is a conference or presentation that would be of benefit or</a:t>
            </a:r>
          </a:p>
          <a:p>
            <a:r>
              <a:rPr lang="en-GB" sz="1200" b="0" i="0" u="none" strike="noStrike" kern="1200" baseline="0" dirty="0">
                <a:solidFill>
                  <a:schemeClr val="tx1"/>
                </a:solidFill>
                <a:latin typeface="+mn-lt"/>
                <a:ea typeface="+mn-ea"/>
                <a:cs typeface="+mn-cs"/>
              </a:rPr>
              <a:t>interest to them</a:t>
            </a:r>
          </a:p>
          <a:p>
            <a:r>
              <a:rPr lang="en-GB" sz="1200" b="0" i="0" u="none" strike="noStrike" kern="1200" baseline="0" dirty="0">
                <a:solidFill>
                  <a:schemeClr val="tx1"/>
                </a:solidFill>
                <a:latin typeface="+mn-lt"/>
                <a:ea typeface="+mn-ea"/>
                <a:cs typeface="+mn-cs"/>
              </a:rPr>
              <a:t>• get to know team members as well as individuals – e.g. to find out about their strengths,</a:t>
            </a:r>
          </a:p>
          <a:p>
            <a:r>
              <a:rPr lang="en-GB" sz="1200" b="0" i="0" u="none" strike="noStrike" kern="1200" baseline="0" dirty="0">
                <a:solidFill>
                  <a:schemeClr val="tx1"/>
                </a:solidFill>
                <a:latin typeface="+mn-lt"/>
                <a:ea typeface="+mn-ea"/>
                <a:cs typeface="+mn-cs"/>
              </a:rPr>
              <a:t>expectations and ambitions</a:t>
            </a:r>
            <a:endParaRPr lang="en-GB" dirty="0"/>
          </a:p>
        </p:txBody>
      </p:sp>
      <p:sp>
        <p:nvSpPr>
          <p:cNvPr id="4" name="Slide Number Placeholder 3"/>
          <p:cNvSpPr>
            <a:spLocks noGrp="1"/>
          </p:cNvSpPr>
          <p:nvPr>
            <p:ph type="sldNum" sz="quarter" idx="10"/>
          </p:nvPr>
        </p:nvSpPr>
        <p:spPr/>
        <p:txBody>
          <a:bodyPr/>
          <a:lstStyle/>
          <a:p>
            <a:pPr marL="0" marR="0" lvl="0" indent="0" algn="r" defTabSz="713232" rtl="0" eaLnBrk="1" fontAlgn="auto" latinLnBrk="0" hangingPunct="1">
              <a:lnSpc>
                <a:spcPct val="100000"/>
              </a:lnSpc>
              <a:spcBef>
                <a:spcPts val="0"/>
              </a:spcBef>
              <a:spcAft>
                <a:spcPts val="0"/>
              </a:spcAft>
              <a:buClrTx/>
              <a:buSzTx/>
              <a:buFontTx/>
              <a:buNone/>
              <a:tabLst/>
              <a:defRPr/>
            </a:pPr>
            <a:fld id="{03FDA5D2-4089-4907-AAA7-80E6387A956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713232" rtl="0" eaLnBrk="1" fontAlgn="auto" latinLnBrk="0" hangingPunct="1">
                <a:lnSpc>
                  <a:spcPct val="100000"/>
                </a:lnSpc>
                <a:spcBef>
                  <a:spcPts val="0"/>
                </a:spcBef>
                <a:spcAft>
                  <a:spcPts val="0"/>
                </a:spcAft>
                <a:buClrTx/>
                <a:buSzTx/>
                <a:buFontTx/>
                <a:buNone/>
                <a:tabLst/>
                <a:defRPr/>
              </a:pPr>
              <a:t>39</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91031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Protected characteristics</a:t>
            </a:r>
          </a:p>
          <a:p>
            <a:r>
              <a:rPr lang="en-GB" sz="1200" b="0" i="0" u="none" strike="noStrike" kern="1200" baseline="0" dirty="0">
                <a:solidFill>
                  <a:schemeClr val="tx1"/>
                </a:solidFill>
                <a:latin typeface="+mn-lt"/>
                <a:ea typeface="+mn-ea"/>
                <a:cs typeface="+mn-cs"/>
              </a:rPr>
              <a:t>The Equality Act 2010 means that all people are now protected from discrimination due to their:</a:t>
            </a:r>
          </a:p>
          <a:p>
            <a:r>
              <a:rPr lang="en-GB" sz="1200" b="0" i="0" u="none" strike="noStrike" kern="1200" baseline="0" dirty="0">
                <a:solidFill>
                  <a:schemeClr val="tx1"/>
                </a:solidFill>
                <a:latin typeface="+mn-lt"/>
                <a:ea typeface="+mn-ea"/>
                <a:cs typeface="+mn-cs"/>
              </a:rPr>
              <a:t>• </a:t>
            </a:r>
            <a:r>
              <a:rPr lang="en-GB" sz="1200" b="1" i="0" u="none" strike="noStrike" kern="1200" baseline="0" dirty="0">
                <a:solidFill>
                  <a:schemeClr val="tx1"/>
                </a:solidFill>
                <a:latin typeface="+mn-lt"/>
                <a:ea typeface="+mn-ea"/>
                <a:cs typeface="+mn-cs"/>
              </a:rPr>
              <a:t>age</a:t>
            </a:r>
            <a:r>
              <a:rPr lang="en-GB" sz="1200" b="0" i="0" u="none" strike="noStrike" kern="1200" baseline="0" dirty="0">
                <a:solidFill>
                  <a:schemeClr val="tx1"/>
                </a:solidFill>
                <a:latin typeface="+mn-lt"/>
                <a:ea typeface="+mn-ea"/>
                <a:cs typeface="+mn-cs"/>
              </a:rPr>
              <a:t> – young (but over 18) or old are protected at work and in work training – under 18s are also</a:t>
            </a:r>
          </a:p>
          <a:p>
            <a:r>
              <a:rPr lang="en-GB" sz="1200" b="0" i="0" u="none" strike="noStrike" kern="1200" baseline="0" dirty="0">
                <a:solidFill>
                  <a:schemeClr val="tx1"/>
                </a:solidFill>
                <a:latin typeface="+mn-lt"/>
                <a:ea typeface="+mn-ea"/>
                <a:cs typeface="+mn-cs"/>
              </a:rPr>
              <a:t>protected from discrimination but only in relation to work</a:t>
            </a:r>
          </a:p>
          <a:p>
            <a:r>
              <a:rPr lang="en-GB" sz="1200" b="0" i="0" u="none" strike="noStrike" kern="1200" baseline="0" dirty="0">
                <a:solidFill>
                  <a:schemeClr val="tx1"/>
                </a:solidFill>
                <a:latin typeface="+mn-lt"/>
                <a:ea typeface="+mn-ea"/>
                <a:cs typeface="+mn-cs"/>
              </a:rPr>
              <a:t>• </a:t>
            </a:r>
            <a:r>
              <a:rPr lang="en-GB" sz="1200" b="1" i="0" u="none" strike="noStrike" kern="1200" baseline="0" dirty="0">
                <a:solidFill>
                  <a:schemeClr val="tx1"/>
                </a:solidFill>
                <a:latin typeface="+mn-lt"/>
                <a:ea typeface="+mn-ea"/>
                <a:cs typeface="+mn-cs"/>
              </a:rPr>
              <a:t>disability or impairment </a:t>
            </a:r>
            <a:r>
              <a:rPr lang="en-GB" sz="1200" b="0" i="0" u="none" strike="noStrike" kern="1200" baseline="0" dirty="0">
                <a:solidFill>
                  <a:schemeClr val="tx1"/>
                </a:solidFill>
                <a:latin typeface="+mn-lt"/>
                <a:ea typeface="+mn-ea"/>
                <a:cs typeface="+mn-cs"/>
              </a:rPr>
              <a:t>– organisations must make ‘reasonable adjustments’ to accommodate</a:t>
            </a:r>
          </a:p>
          <a:p>
            <a:r>
              <a:rPr lang="en-GB" sz="1200" b="0" i="0" u="none" strike="noStrike" kern="1200" baseline="0" dirty="0">
                <a:solidFill>
                  <a:schemeClr val="tx1"/>
                </a:solidFill>
                <a:latin typeface="+mn-lt"/>
                <a:ea typeface="+mn-ea"/>
                <a:cs typeface="+mn-cs"/>
              </a:rPr>
              <a:t>staff, customers and visitors with disabilities</a:t>
            </a:r>
          </a:p>
          <a:p>
            <a:r>
              <a:rPr lang="en-GB" sz="1200" b="0" i="0" u="none" strike="noStrike" kern="1200" baseline="0" dirty="0">
                <a:solidFill>
                  <a:schemeClr val="tx1"/>
                </a:solidFill>
                <a:latin typeface="+mn-lt"/>
                <a:ea typeface="+mn-ea"/>
                <a:cs typeface="+mn-cs"/>
              </a:rPr>
              <a:t>• </a:t>
            </a:r>
            <a:r>
              <a:rPr lang="en-GB" sz="1200" b="1" i="0" u="none" strike="noStrike" kern="1200" baseline="0" dirty="0">
                <a:solidFill>
                  <a:schemeClr val="tx1"/>
                </a:solidFill>
                <a:latin typeface="+mn-lt"/>
                <a:ea typeface="+mn-ea"/>
                <a:cs typeface="+mn-cs"/>
              </a:rPr>
              <a:t>gender</a:t>
            </a:r>
            <a:r>
              <a:rPr lang="en-GB" sz="1200" b="0" i="0" u="none" strike="noStrike" kern="1200" baseline="0" dirty="0">
                <a:solidFill>
                  <a:schemeClr val="tx1"/>
                </a:solidFill>
                <a:latin typeface="+mn-lt"/>
                <a:ea typeface="+mn-ea"/>
                <a:cs typeface="+mn-cs"/>
              </a:rPr>
              <a:t> – equal pay, training and opportunity for males and females</a:t>
            </a:r>
          </a:p>
          <a:p>
            <a:r>
              <a:rPr lang="en-GB" sz="1200" b="0" i="0" u="none" strike="noStrike" kern="1200" baseline="0" dirty="0">
                <a:solidFill>
                  <a:schemeClr val="tx1"/>
                </a:solidFill>
                <a:latin typeface="+mn-lt"/>
                <a:ea typeface="+mn-ea"/>
                <a:cs typeface="+mn-cs"/>
              </a:rPr>
              <a:t>• </a:t>
            </a:r>
            <a:r>
              <a:rPr lang="en-GB" sz="1200" b="1" i="0" u="none" strike="noStrike" kern="1200" baseline="0" dirty="0">
                <a:solidFill>
                  <a:schemeClr val="tx1"/>
                </a:solidFill>
                <a:latin typeface="+mn-lt"/>
                <a:ea typeface="+mn-ea"/>
                <a:cs typeface="+mn-cs"/>
              </a:rPr>
              <a:t>gender reassignment </a:t>
            </a:r>
            <a:r>
              <a:rPr lang="en-GB" sz="1200" b="0" i="0" u="none" strike="noStrike" kern="1200" baseline="0" dirty="0">
                <a:solidFill>
                  <a:schemeClr val="tx1"/>
                </a:solidFill>
                <a:latin typeface="+mn-lt"/>
                <a:ea typeface="+mn-ea"/>
                <a:cs typeface="+mn-cs"/>
              </a:rPr>
              <a:t>– people transitioning from male to female, or female to male</a:t>
            </a:r>
          </a:p>
          <a:p>
            <a:r>
              <a:rPr lang="en-GB" sz="1200" b="0" i="0" u="none" strike="noStrike" kern="1200" baseline="0" dirty="0">
                <a:solidFill>
                  <a:schemeClr val="tx1"/>
                </a:solidFill>
                <a:latin typeface="+mn-lt"/>
                <a:ea typeface="+mn-ea"/>
                <a:cs typeface="+mn-cs"/>
              </a:rPr>
              <a:t>• </a:t>
            </a:r>
            <a:r>
              <a:rPr lang="en-GB" sz="1200" b="1" i="0" u="none" strike="noStrike" kern="1200" baseline="0" dirty="0">
                <a:solidFill>
                  <a:schemeClr val="tx1"/>
                </a:solidFill>
                <a:latin typeface="+mn-lt"/>
                <a:ea typeface="+mn-ea"/>
                <a:cs typeface="+mn-cs"/>
              </a:rPr>
              <a:t>marriage or civil partnership </a:t>
            </a:r>
            <a:r>
              <a:rPr lang="en-GB" sz="1200" b="0" i="0" u="none" strike="noStrike" kern="1200" baseline="0" dirty="0">
                <a:solidFill>
                  <a:schemeClr val="tx1"/>
                </a:solidFill>
                <a:latin typeface="+mn-lt"/>
                <a:ea typeface="+mn-ea"/>
                <a:cs typeface="+mn-cs"/>
              </a:rPr>
              <a:t>– preventing discrimination on the grounds of being married or in</a:t>
            </a:r>
          </a:p>
          <a:p>
            <a:r>
              <a:rPr lang="en-GB" sz="1200" b="0" i="0" u="none" strike="noStrike" kern="1200" baseline="0" dirty="0">
                <a:solidFill>
                  <a:schemeClr val="tx1"/>
                </a:solidFill>
                <a:latin typeface="+mn-lt"/>
                <a:ea typeface="+mn-ea"/>
                <a:cs typeface="+mn-cs"/>
              </a:rPr>
              <a:t>a civil partnership at work or in work training</a:t>
            </a:r>
          </a:p>
          <a:p>
            <a:r>
              <a:rPr lang="en-GB" sz="1200" b="1" i="0" u="none" strike="noStrike" kern="1200" baseline="0" dirty="0">
                <a:solidFill>
                  <a:schemeClr val="tx1"/>
                </a:solidFill>
                <a:latin typeface="+mn-lt"/>
                <a:ea typeface="+mn-ea"/>
                <a:cs typeface="+mn-cs"/>
              </a:rPr>
              <a:t>• pregnancy or maternity </a:t>
            </a:r>
            <a:r>
              <a:rPr lang="en-GB" sz="1200" b="0" i="0" u="none" strike="noStrike" kern="1200" baseline="0" dirty="0">
                <a:solidFill>
                  <a:schemeClr val="tx1"/>
                </a:solidFill>
                <a:latin typeface="+mn-lt"/>
                <a:ea typeface="+mn-ea"/>
                <a:cs typeface="+mn-cs"/>
              </a:rPr>
              <a:t>(including breastfeeding) – may be excluded only for safety reasons</a:t>
            </a:r>
          </a:p>
          <a:p>
            <a:r>
              <a:rPr lang="en-GB" sz="1200" b="0" i="0" u="none" strike="noStrike" kern="1200" baseline="0" dirty="0">
                <a:solidFill>
                  <a:schemeClr val="tx1"/>
                </a:solidFill>
                <a:latin typeface="+mn-lt"/>
                <a:ea typeface="+mn-ea"/>
                <a:cs typeface="+mn-cs"/>
              </a:rPr>
              <a:t>– e.g. equality may not be possible for pregnant women in some circumstances if the activity</a:t>
            </a:r>
          </a:p>
          <a:p>
            <a:r>
              <a:rPr lang="en-GB" sz="1200" b="0" i="0" u="none" strike="noStrike" kern="1200" baseline="0" dirty="0">
                <a:solidFill>
                  <a:schemeClr val="tx1"/>
                </a:solidFill>
                <a:latin typeface="+mn-lt"/>
                <a:ea typeface="+mn-ea"/>
                <a:cs typeface="+mn-cs"/>
              </a:rPr>
              <a:t>could harm them or the baby</a:t>
            </a:r>
          </a:p>
          <a:p>
            <a:r>
              <a:rPr lang="en-GB" sz="1200" b="0" i="0" u="none" strike="noStrike" kern="1200" baseline="0" dirty="0">
                <a:solidFill>
                  <a:schemeClr val="tx1"/>
                </a:solidFill>
                <a:latin typeface="+mn-lt"/>
                <a:ea typeface="+mn-ea"/>
                <a:cs typeface="+mn-cs"/>
              </a:rPr>
              <a:t>• </a:t>
            </a:r>
            <a:r>
              <a:rPr lang="en-GB" sz="1200" b="1" i="0" u="none" strike="noStrike" kern="1200" baseline="0" dirty="0">
                <a:solidFill>
                  <a:schemeClr val="tx1"/>
                </a:solidFill>
                <a:latin typeface="+mn-lt"/>
                <a:ea typeface="+mn-ea"/>
                <a:cs typeface="+mn-cs"/>
              </a:rPr>
              <a:t>race</a:t>
            </a:r>
            <a:r>
              <a:rPr lang="en-GB" sz="1200" b="0" i="0" u="none" strike="noStrike" kern="1200" baseline="0" dirty="0">
                <a:solidFill>
                  <a:schemeClr val="tx1"/>
                </a:solidFill>
                <a:latin typeface="+mn-lt"/>
                <a:ea typeface="+mn-ea"/>
                <a:cs typeface="+mn-cs"/>
              </a:rPr>
              <a:t> – wherever they were born, their parents’ and their own race, colour, ethnicity are protected</a:t>
            </a:r>
          </a:p>
          <a:p>
            <a:r>
              <a:rPr lang="en-GB" sz="1200" b="0" i="0" u="none" strike="noStrike" kern="1200" baseline="0" dirty="0">
                <a:solidFill>
                  <a:schemeClr val="tx1"/>
                </a:solidFill>
                <a:latin typeface="+mn-lt"/>
                <a:ea typeface="+mn-ea"/>
                <a:cs typeface="+mn-cs"/>
              </a:rPr>
              <a:t>• </a:t>
            </a:r>
            <a:r>
              <a:rPr lang="en-GB" sz="1200" b="1" i="0" u="none" strike="noStrike" kern="1200" baseline="0" dirty="0">
                <a:solidFill>
                  <a:schemeClr val="tx1"/>
                </a:solidFill>
                <a:latin typeface="+mn-lt"/>
                <a:ea typeface="+mn-ea"/>
                <a:cs typeface="+mn-cs"/>
              </a:rPr>
              <a:t>religion or beliefs </a:t>
            </a:r>
            <a:r>
              <a:rPr lang="en-GB" sz="1200" b="0" i="0" u="none" strike="noStrike" kern="1200" baseline="0" dirty="0">
                <a:solidFill>
                  <a:schemeClr val="tx1"/>
                </a:solidFill>
                <a:latin typeface="+mn-lt"/>
                <a:ea typeface="+mn-ea"/>
                <a:cs typeface="+mn-cs"/>
              </a:rPr>
              <a:t>– any religion, lack of religion or personal belief is protected</a:t>
            </a:r>
          </a:p>
          <a:p>
            <a:r>
              <a:rPr lang="en-GB" sz="1200" b="0" i="0" u="none" strike="noStrike" kern="1200" baseline="0" dirty="0">
                <a:solidFill>
                  <a:schemeClr val="tx1"/>
                </a:solidFill>
                <a:latin typeface="+mn-lt"/>
                <a:ea typeface="+mn-ea"/>
                <a:cs typeface="+mn-cs"/>
              </a:rPr>
              <a:t>• </a:t>
            </a:r>
            <a:r>
              <a:rPr lang="en-GB" sz="1200" b="1" i="0" u="none" strike="noStrike" kern="1200" baseline="0" dirty="0">
                <a:solidFill>
                  <a:schemeClr val="tx1"/>
                </a:solidFill>
                <a:latin typeface="+mn-lt"/>
                <a:ea typeface="+mn-ea"/>
                <a:cs typeface="+mn-cs"/>
              </a:rPr>
              <a:t>sexual orientation </a:t>
            </a:r>
            <a:r>
              <a:rPr lang="en-GB" sz="1200" b="0" i="0" u="none" strike="noStrike" kern="1200" baseline="0" dirty="0">
                <a:solidFill>
                  <a:schemeClr val="tx1"/>
                </a:solidFill>
                <a:latin typeface="+mn-lt"/>
                <a:ea typeface="+mn-ea"/>
                <a:cs typeface="+mn-cs"/>
              </a:rPr>
              <a:t>– applies to heterosexual, gay, lesbian and bisexual people</a:t>
            </a:r>
            <a:endParaRPr lang="en-GB" dirty="0"/>
          </a:p>
        </p:txBody>
      </p:sp>
      <p:sp>
        <p:nvSpPr>
          <p:cNvPr id="4" name="Slide Number Placeholder 3"/>
          <p:cNvSpPr>
            <a:spLocks noGrp="1"/>
          </p:cNvSpPr>
          <p:nvPr>
            <p:ph type="sldNum" sz="quarter" idx="10"/>
          </p:nvPr>
        </p:nvSpPr>
        <p:spPr/>
        <p:txBody>
          <a:bodyPr/>
          <a:lstStyle/>
          <a:p>
            <a:pPr marL="0" marR="0" lvl="0" indent="0" algn="r" defTabSz="713232" rtl="0" eaLnBrk="1" fontAlgn="auto" latinLnBrk="0" hangingPunct="1">
              <a:lnSpc>
                <a:spcPct val="100000"/>
              </a:lnSpc>
              <a:spcBef>
                <a:spcPts val="0"/>
              </a:spcBef>
              <a:spcAft>
                <a:spcPts val="0"/>
              </a:spcAft>
              <a:buClrTx/>
              <a:buSzTx/>
              <a:buFontTx/>
              <a:buNone/>
              <a:tabLst/>
              <a:defRPr/>
            </a:pPr>
            <a:fld id="{03FDA5D2-4089-4907-AAA7-80E6387A956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713232" rtl="0" eaLnBrk="1" fontAlgn="auto" latinLnBrk="0" hangingPunct="1">
                <a:lnSpc>
                  <a:spcPct val="100000"/>
                </a:lnSpc>
                <a:spcBef>
                  <a:spcPts val="0"/>
                </a:spcBef>
                <a:spcAft>
                  <a:spcPts val="0"/>
                </a:spcAft>
                <a:buClrTx/>
                <a:buSzTx/>
                <a:buFontTx/>
                <a:buNone/>
                <a:tabLst/>
                <a:defRPr/>
              </a:pPr>
              <a:t>40</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35767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dirty="0">
                <a:cs typeface="Calibri"/>
              </a:rPr>
              <a:t>Lead by  example, take pride in what you do.</a:t>
            </a:r>
            <a:endParaRPr lang="en-GB" sz="1200" b="0" i="0" u="none" strike="noStrike" kern="1200" baseline="0" dirty="0">
              <a:solidFill>
                <a:schemeClr val="tx1"/>
              </a:solidFill>
              <a:latin typeface="+mn-lt"/>
              <a:cs typeface="Calibri"/>
            </a:endParaRPr>
          </a:p>
          <a:p>
            <a:endParaRPr lang="en-GB" dirty="0">
              <a:cs typeface="Calibri"/>
            </a:endParaRPr>
          </a:p>
        </p:txBody>
      </p:sp>
      <p:sp>
        <p:nvSpPr>
          <p:cNvPr id="4" name="Slide Number Placeholder 3"/>
          <p:cNvSpPr>
            <a:spLocks noGrp="1"/>
          </p:cNvSpPr>
          <p:nvPr>
            <p:ph type="sldNum" sz="quarter" idx="10"/>
          </p:nvPr>
        </p:nvSpPr>
        <p:spPr/>
        <p:txBody>
          <a:bodyPr/>
          <a:lstStyle/>
          <a:p>
            <a:pPr marL="0" marR="0" lvl="0" indent="0" algn="r" defTabSz="713232" rtl="0" eaLnBrk="1" fontAlgn="auto" latinLnBrk="0" hangingPunct="1">
              <a:lnSpc>
                <a:spcPct val="100000"/>
              </a:lnSpc>
              <a:spcBef>
                <a:spcPts val="0"/>
              </a:spcBef>
              <a:spcAft>
                <a:spcPts val="0"/>
              </a:spcAft>
              <a:buClrTx/>
              <a:buSzTx/>
              <a:buFontTx/>
              <a:buNone/>
              <a:tabLst/>
              <a:defRPr/>
            </a:pPr>
            <a:fld id="{03FDA5D2-4089-4907-AAA7-80E6387A956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713232" rtl="0" eaLnBrk="1" fontAlgn="auto" latinLnBrk="0" hangingPunct="1">
                <a:lnSpc>
                  <a:spcPct val="100000"/>
                </a:lnSpc>
                <a:spcBef>
                  <a:spcPts val="0"/>
                </a:spcBef>
                <a:spcAft>
                  <a:spcPts val="0"/>
                </a:spcAft>
                <a:buClrTx/>
                <a:buSzTx/>
                <a:buFontTx/>
                <a:buNone/>
                <a:tabLst/>
                <a:defRPr/>
              </a:pPr>
              <a:t>41</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1389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lgn="just"/>
            <a:endParaRPr lang="en-GB" dirty="0">
              <a:cs typeface="Calibri"/>
            </a:endParaRPr>
          </a:p>
          <a:p>
            <a:r>
              <a:rPr lang="en-GB" b="1" dirty="0"/>
              <a:t>A resilient organization is able to:</a:t>
            </a:r>
            <a:endParaRPr lang="en-GB" dirty="0"/>
          </a:p>
          <a:p>
            <a:r>
              <a:rPr lang="en-GB" b="1" dirty="0"/>
              <a:t>Create and adapt structures</a:t>
            </a:r>
            <a:r>
              <a:rPr lang="en-GB" dirty="0"/>
              <a:t> – It has a precise, timely, and rebound decision-making process that allows the organization to operate with dispersed, but at the same time independent, physical and digital operation systems when confronting challenges.</a:t>
            </a:r>
            <a:endParaRPr lang="en-GB" dirty="0">
              <a:cs typeface="Calibri"/>
            </a:endParaRPr>
          </a:p>
          <a:p>
            <a:r>
              <a:rPr lang="en-GB" b="1" dirty="0"/>
              <a:t>Provide safety</a:t>
            </a:r>
            <a:r>
              <a:rPr lang="en-GB" dirty="0"/>
              <a:t> – Resilience helps organizations to manage and mitigate risks on a continuous basis in the midst of a change.</a:t>
            </a:r>
            <a:endParaRPr lang="en-GB" dirty="0">
              <a:cs typeface="Calibri"/>
            </a:endParaRPr>
          </a:p>
          <a:p>
            <a:r>
              <a:rPr lang="en-GB" b="1" dirty="0"/>
              <a:t>Manage the emotional effects</a:t>
            </a:r>
            <a:r>
              <a:rPr lang="en-GB" dirty="0"/>
              <a:t> – Undergoing continuous transformation and change is a perfect vector for high anxiety and stress levels in the workforce. By embedding resilience in the culture and demonstrating commitment to management at leadership level, organizations can ensure the health and stability of their employees.</a:t>
            </a:r>
            <a:endParaRPr lang="en-GB" dirty="0">
              <a:cs typeface="Calibri"/>
            </a:endParaRPr>
          </a:p>
          <a:p>
            <a:r>
              <a:rPr lang="en-GB" b="1" dirty="0"/>
              <a:t>Foster a diverse and empowered workforce</a:t>
            </a:r>
            <a:r>
              <a:rPr lang="en-GB" dirty="0"/>
              <a:t> – Once more, thanks to a strong leadership and resilient culture, organizations have the power to establish a well-connected, collaborative and creative workforce that works together to develop competitiveness and prosperity.</a:t>
            </a:r>
            <a:endParaRPr lang="en-GB" dirty="0">
              <a:cs typeface="Calibri"/>
            </a:endParaRPr>
          </a:p>
          <a:p>
            <a:r>
              <a:rPr lang="en-GB" b="1" dirty="0"/>
              <a:t>Learn, develop, and grow</a:t>
            </a:r>
            <a:r>
              <a:rPr lang="en-GB" dirty="0"/>
              <a:t> – A resilient organisation invests in both physical and digital infrastructures in order to make them more adaptive, elastic, and flexible in the long-run</a:t>
            </a:r>
            <a:endParaRPr lang="en-GB" dirty="0">
              <a:cs typeface="Calibri"/>
            </a:endParaRPr>
          </a:p>
          <a:p>
            <a:endParaRPr lang="en-GB" dirty="0">
              <a:cs typeface="Calibri"/>
            </a:endParaRPr>
          </a:p>
        </p:txBody>
      </p:sp>
      <p:sp>
        <p:nvSpPr>
          <p:cNvPr id="4" name="Slide Number Placeholder 3"/>
          <p:cNvSpPr>
            <a:spLocks noGrp="1"/>
          </p:cNvSpPr>
          <p:nvPr>
            <p:ph type="sldNum" sz="quarter" idx="10"/>
          </p:nvPr>
        </p:nvSpPr>
        <p:spPr/>
        <p:txBody>
          <a:bodyPr/>
          <a:lstStyle/>
          <a:p>
            <a:pPr marL="0" marR="0" lvl="0" indent="0" algn="r" defTabSz="713232" rtl="0" eaLnBrk="1" fontAlgn="auto" latinLnBrk="0" hangingPunct="1">
              <a:lnSpc>
                <a:spcPct val="100000"/>
              </a:lnSpc>
              <a:spcBef>
                <a:spcPts val="0"/>
              </a:spcBef>
              <a:spcAft>
                <a:spcPts val="0"/>
              </a:spcAft>
              <a:buClrTx/>
              <a:buSzTx/>
              <a:buFontTx/>
              <a:buNone/>
              <a:tabLst/>
              <a:defRPr/>
            </a:pPr>
            <a:fld id="{03FDA5D2-4089-4907-AAA7-80E6387A956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713232" rtl="0" eaLnBrk="1" fontAlgn="auto" latinLnBrk="0" hangingPunct="1">
                <a:lnSpc>
                  <a:spcPct val="100000"/>
                </a:lnSpc>
                <a:spcBef>
                  <a:spcPts val="0"/>
                </a:spcBef>
                <a:spcAft>
                  <a:spcPts val="0"/>
                </a:spcAft>
                <a:buClrTx/>
                <a:buSzTx/>
                <a:buFontTx/>
                <a:buNone/>
                <a:tabLst/>
                <a:defRPr/>
              </a:pPr>
              <a:t>42</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280698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sz="1200" b="1" i="0" u="none" strike="noStrike" kern="1200" baseline="0" dirty="0">
                <a:solidFill>
                  <a:schemeClr val="tx1"/>
                </a:solidFill>
                <a:latin typeface="+mn-lt"/>
                <a:ea typeface="+mn-ea"/>
                <a:cs typeface="+mn-cs"/>
              </a:rPr>
              <a:t>Introduction</a:t>
            </a:r>
          </a:p>
          <a:p>
            <a:r>
              <a:rPr lang="en-GB" sz="1200" b="0" i="0" u="none" strike="noStrike" kern="1200" baseline="0" dirty="0">
                <a:solidFill>
                  <a:schemeClr val="tx1"/>
                </a:solidFill>
                <a:latin typeface="+mn-lt"/>
                <a:ea typeface="+mn-ea"/>
                <a:cs typeface="+mn-cs"/>
              </a:rPr>
              <a:t>In this section, we are going to look at implementing operational and team plans with the resources that are available. We will consider:</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 actions needed to implement plans within timescales and budgets</a:t>
            </a:r>
          </a:p>
          <a:p>
            <a:r>
              <a:rPr lang="en-GB" sz="1200" b="0" i="0" u="none" strike="noStrike" kern="1200" baseline="0" dirty="0">
                <a:solidFill>
                  <a:schemeClr val="tx1"/>
                </a:solidFill>
                <a:latin typeface="+mn-lt"/>
                <a:ea typeface="+mn-ea"/>
                <a:cs typeface="+mn-cs"/>
              </a:rPr>
              <a:t>• how plans are revised in response to changes in objectives</a:t>
            </a:r>
            <a:endParaRPr lang="en-GB" dirty="0"/>
          </a:p>
        </p:txBody>
      </p:sp>
      <p:sp>
        <p:nvSpPr>
          <p:cNvPr id="4" name="Slide Number Placeholder 3"/>
          <p:cNvSpPr>
            <a:spLocks noGrp="1"/>
          </p:cNvSpPr>
          <p:nvPr>
            <p:ph type="sldNum" sz="quarter" idx="10"/>
          </p:nvPr>
        </p:nvSpPr>
        <p:spPr/>
        <p:txBody>
          <a:bodyPr/>
          <a:lstStyle/>
          <a:p>
            <a:fld id="{3C2141A1-FA70-4217-A960-49FE662E2A30}" type="slidenum">
              <a:rPr lang="en-GB" smtClean="0"/>
              <a:t>43</a:t>
            </a:fld>
            <a:endParaRPr lang="en-GB" dirty="0"/>
          </a:p>
        </p:txBody>
      </p:sp>
    </p:spTree>
    <p:extLst>
      <p:ext uri="{BB962C8B-B14F-4D97-AF65-F5344CB8AC3E}">
        <p14:creationId xmlns:p14="http://schemas.microsoft.com/office/powerpoint/2010/main" val="20819319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GB" sz="1600" b="0" dirty="0"/>
              <a:t>Q – What</a:t>
            </a:r>
            <a:r>
              <a:rPr lang="en-GB" sz="1600" b="0" baseline="0" dirty="0"/>
              <a:t> </a:t>
            </a:r>
            <a:r>
              <a:rPr lang="en-GB" sz="1600" b="0" dirty="0"/>
              <a:t>come under each</a:t>
            </a:r>
            <a:r>
              <a:rPr lang="en-GB" sz="1600" b="0" baseline="0" dirty="0"/>
              <a:t> of the titles – </a:t>
            </a:r>
          </a:p>
          <a:p>
            <a:pPr>
              <a:buFont typeface="Wingdings" panose="05000000000000000000" pitchFamily="2" charset="2"/>
              <a:buChar char="§"/>
            </a:pPr>
            <a:endParaRPr lang="en-GB" altLang="en-US" sz="1600" b="1" dirty="0"/>
          </a:p>
          <a:p>
            <a:pPr>
              <a:buFont typeface="Wingdings" panose="05000000000000000000" pitchFamily="2" charset="2"/>
              <a:buChar char="§"/>
            </a:pPr>
            <a:endParaRPr lang="en-GB" altLang="en-US" sz="1600" b="1" dirty="0"/>
          </a:p>
          <a:p>
            <a:pPr>
              <a:buFont typeface="Wingdings" panose="05000000000000000000" pitchFamily="2" charset="2"/>
              <a:buChar char="§"/>
            </a:pPr>
            <a:r>
              <a:rPr lang="en-GB" altLang="en-US" sz="1600" b="1" dirty="0"/>
              <a:t>Labour  </a:t>
            </a:r>
            <a:r>
              <a:rPr lang="en-GB" altLang="en-US" sz="1200" dirty="0"/>
              <a:t>- include external and contract</a:t>
            </a:r>
            <a:endParaRPr lang="en-GB" altLang="en-US" sz="1600" dirty="0"/>
          </a:p>
          <a:p>
            <a:pPr>
              <a:buFont typeface="Wingdings" panose="05000000000000000000" pitchFamily="2" charset="2"/>
              <a:buChar char="§"/>
            </a:pPr>
            <a:r>
              <a:rPr lang="en-GB" altLang="en-US" sz="1600" b="1" dirty="0"/>
              <a:t>Materials</a:t>
            </a:r>
            <a:r>
              <a:rPr lang="en-GB" altLang="en-US" sz="1200" dirty="0"/>
              <a:t> – anything used in the production of goods or provision of a service including raw materials </a:t>
            </a:r>
          </a:p>
          <a:p>
            <a:pPr>
              <a:buFont typeface="Wingdings" panose="05000000000000000000" pitchFamily="2" charset="2"/>
              <a:buChar char="§"/>
            </a:pPr>
            <a:r>
              <a:rPr lang="en-GB" altLang="en-US" sz="1600" b="1" dirty="0"/>
              <a:t>Equipment </a:t>
            </a:r>
            <a:r>
              <a:rPr lang="en-GB" altLang="en-US" sz="1200" dirty="0"/>
              <a:t>– machinery, computers, conveyor belts, fork lift trucks.  </a:t>
            </a:r>
          </a:p>
          <a:p>
            <a:pPr>
              <a:buFont typeface="Wingdings" panose="05000000000000000000" pitchFamily="2" charset="2"/>
              <a:buChar char="§"/>
            </a:pPr>
            <a:r>
              <a:rPr lang="en-GB" altLang="en-US" sz="1600" b="1" dirty="0"/>
              <a:t>Premises</a:t>
            </a:r>
            <a:r>
              <a:rPr lang="en-GB" altLang="en-US" sz="1200" dirty="0"/>
              <a:t> – any offices and works buildings  </a:t>
            </a:r>
          </a:p>
          <a:p>
            <a:pPr>
              <a:buFont typeface="Wingdings" panose="05000000000000000000" pitchFamily="2" charset="2"/>
              <a:buChar char="§"/>
            </a:pPr>
            <a:r>
              <a:rPr lang="en-GB" altLang="en-US" sz="1600" b="1" dirty="0"/>
              <a:t>Vehicles </a:t>
            </a:r>
            <a:r>
              <a:rPr lang="en-GB" altLang="en-US" sz="1200" dirty="0"/>
              <a:t>– both for personnel to use to carry out their jobs and also for deliveries. </a:t>
            </a:r>
          </a:p>
          <a:p>
            <a:pPr>
              <a:buFont typeface="Wingdings" panose="05000000000000000000" pitchFamily="2" charset="2"/>
              <a:buChar char="§"/>
            </a:pPr>
            <a:r>
              <a:rPr lang="en-GB" altLang="en-US" sz="1600" b="1" dirty="0"/>
              <a:t>Energy </a:t>
            </a:r>
            <a:r>
              <a:rPr lang="en-GB" altLang="en-US" sz="1200" dirty="0"/>
              <a:t>– any gas, electricity or other source of power  </a:t>
            </a:r>
          </a:p>
          <a:p>
            <a:pPr>
              <a:buFont typeface="Wingdings" panose="05000000000000000000" pitchFamily="2" charset="2"/>
              <a:buChar char="§"/>
            </a:pPr>
            <a:r>
              <a:rPr lang="en-GB" altLang="en-US" sz="1600" b="1" dirty="0"/>
              <a:t>Services</a:t>
            </a:r>
            <a:r>
              <a:rPr lang="en-GB" altLang="en-US" sz="1200" dirty="0"/>
              <a:t> – services acquired i.e. logistics services, provision of canteen facilities, printing and servicing of machinery</a:t>
            </a:r>
          </a:p>
          <a:p>
            <a:endParaRPr lang="en-GB" dirty="0"/>
          </a:p>
        </p:txBody>
      </p:sp>
      <p:sp>
        <p:nvSpPr>
          <p:cNvPr id="4" name="Slide Number Placeholder 3"/>
          <p:cNvSpPr>
            <a:spLocks noGrp="1"/>
          </p:cNvSpPr>
          <p:nvPr>
            <p:ph type="sldNum" sz="quarter" idx="10"/>
          </p:nvPr>
        </p:nvSpPr>
        <p:spPr/>
        <p:txBody>
          <a:bodyPr/>
          <a:lstStyle/>
          <a:p>
            <a:fld id="{3C2141A1-FA70-4217-A960-49FE662E2A30}" type="slidenum">
              <a:rPr lang="en-GB" smtClean="0"/>
              <a:t>44</a:t>
            </a:fld>
            <a:endParaRPr lang="en-GB" dirty="0"/>
          </a:p>
        </p:txBody>
      </p:sp>
    </p:spTree>
    <p:extLst>
      <p:ext uri="{BB962C8B-B14F-4D97-AF65-F5344CB8AC3E}">
        <p14:creationId xmlns:p14="http://schemas.microsoft.com/office/powerpoint/2010/main" val="18221847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buFont typeface="Wingdings" panose="05000000000000000000" pitchFamily="2" charset="2"/>
              <a:buChar char="§"/>
            </a:pPr>
            <a:r>
              <a:rPr lang="en-GB" altLang="en-US" sz="1600" b="1" dirty="0"/>
              <a:t>Labour  </a:t>
            </a:r>
            <a:r>
              <a:rPr lang="en-GB" altLang="en-US" sz="1200" dirty="0"/>
              <a:t>- include external and contract</a:t>
            </a:r>
            <a:endParaRPr lang="en-GB" altLang="en-US" sz="1600" dirty="0"/>
          </a:p>
          <a:p>
            <a:pPr>
              <a:buFont typeface="Wingdings" panose="05000000000000000000" pitchFamily="2" charset="2"/>
              <a:buChar char="§"/>
            </a:pPr>
            <a:r>
              <a:rPr lang="en-GB" altLang="en-US" sz="1600" b="1" dirty="0"/>
              <a:t>Materials</a:t>
            </a:r>
            <a:r>
              <a:rPr lang="en-GB" altLang="en-US" sz="1200" dirty="0"/>
              <a:t> – anything used in the production of goods or provision of a service including raw materials </a:t>
            </a:r>
          </a:p>
          <a:p>
            <a:pPr>
              <a:buFont typeface="Wingdings" panose="05000000000000000000" pitchFamily="2" charset="2"/>
              <a:buChar char="§"/>
            </a:pPr>
            <a:r>
              <a:rPr lang="en-GB" altLang="en-US" sz="1600" b="1" dirty="0"/>
              <a:t>Equipment </a:t>
            </a:r>
            <a:r>
              <a:rPr lang="en-GB" altLang="en-US" sz="1200" dirty="0"/>
              <a:t>– machinery, computers, conveyor belts, fork lift trucks.  </a:t>
            </a:r>
          </a:p>
          <a:p>
            <a:pPr>
              <a:buFont typeface="Wingdings" panose="05000000000000000000" pitchFamily="2" charset="2"/>
              <a:buChar char="§"/>
            </a:pPr>
            <a:r>
              <a:rPr lang="en-GB" altLang="en-US" sz="1600" b="1" dirty="0"/>
              <a:t>Premises</a:t>
            </a:r>
            <a:r>
              <a:rPr lang="en-GB" altLang="en-US" sz="1200" dirty="0"/>
              <a:t> – any offices and works buildings  </a:t>
            </a:r>
          </a:p>
          <a:p>
            <a:pPr>
              <a:buFont typeface="Wingdings" panose="05000000000000000000" pitchFamily="2" charset="2"/>
              <a:buChar char="§"/>
            </a:pPr>
            <a:r>
              <a:rPr lang="en-GB" altLang="en-US" sz="1600" b="1" dirty="0"/>
              <a:t>Vehicles </a:t>
            </a:r>
            <a:r>
              <a:rPr lang="en-GB" altLang="en-US" sz="1200" dirty="0"/>
              <a:t>– both for personnel to use to carry out their jobs and also for deliveries. </a:t>
            </a:r>
          </a:p>
          <a:p>
            <a:pPr>
              <a:buFont typeface="Wingdings" panose="05000000000000000000" pitchFamily="2" charset="2"/>
              <a:buChar char="§"/>
            </a:pPr>
            <a:r>
              <a:rPr lang="en-GB" altLang="en-US" sz="1600" b="1" dirty="0"/>
              <a:t>Energy </a:t>
            </a:r>
            <a:r>
              <a:rPr lang="en-GB" altLang="en-US" sz="1200" dirty="0"/>
              <a:t>– any gas, electricity or other source of power  </a:t>
            </a:r>
          </a:p>
          <a:p>
            <a:pPr>
              <a:buFont typeface="Wingdings" panose="05000000000000000000" pitchFamily="2" charset="2"/>
              <a:buChar char="§"/>
            </a:pPr>
            <a:r>
              <a:rPr lang="en-GB" altLang="en-US" sz="1600" b="1" dirty="0"/>
              <a:t>Services</a:t>
            </a:r>
            <a:r>
              <a:rPr lang="en-GB" altLang="en-US" sz="1200" dirty="0"/>
              <a:t> – services acquired i.e. logistics services, provision of canteen facilities, printing and servicing of machinery</a:t>
            </a:r>
          </a:p>
          <a:p>
            <a:endParaRPr lang="en-GB" dirty="0"/>
          </a:p>
          <a:p>
            <a:endParaRPr lang="en-GB" baseline="0" dirty="0"/>
          </a:p>
          <a:p>
            <a:r>
              <a:rPr lang="en-GB" baseline="0" dirty="0"/>
              <a:t>Then 10 minutes to discuss as a group </a:t>
            </a:r>
          </a:p>
          <a:p>
            <a:endParaRPr lang="en-GB" baseline="0" dirty="0"/>
          </a:p>
        </p:txBody>
      </p:sp>
      <p:sp>
        <p:nvSpPr>
          <p:cNvPr id="4" name="Slide Number Placeholder 3"/>
          <p:cNvSpPr>
            <a:spLocks noGrp="1"/>
          </p:cNvSpPr>
          <p:nvPr>
            <p:ph type="sldNum" sz="quarter" idx="10"/>
          </p:nvPr>
        </p:nvSpPr>
        <p:spPr/>
        <p:txBody>
          <a:bodyPr/>
          <a:lstStyle/>
          <a:p>
            <a:fld id="{3C2141A1-FA70-4217-A960-49FE662E2A30}" type="slidenum">
              <a:rPr lang="en-GB" smtClean="0"/>
              <a:t>45</a:t>
            </a:fld>
            <a:endParaRPr lang="en-GB" dirty="0"/>
          </a:p>
        </p:txBody>
      </p:sp>
    </p:spTree>
    <p:extLst>
      <p:ext uri="{BB962C8B-B14F-4D97-AF65-F5344CB8AC3E}">
        <p14:creationId xmlns:p14="http://schemas.microsoft.com/office/powerpoint/2010/main" val="35781077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C2141A1-FA70-4217-A960-49FE662E2A30}" type="slidenum">
              <a:rPr lang="en-GB" smtClean="0"/>
              <a:t>46</a:t>
            </a:fld>
            <a:endParaRPr lang="en-GB" dirty="0"/>
          </a:p>
        </p:txBody>
      </p:sp>
    </p:spTree>
    <p:extLst>
      <p:ext uri="{BB962C8B-B14F-4D97-AF65-F5344CB8AC3E}">
        <p14:creationId xmlns:p14="http://schemas.microsoft.com/office/powerpoint/2010/main" val="9556335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marL="0" indent="0">
              <a:buNone/>
            </a:pPr>
            <a:r>
              <a:rPr lang="en-GB" i="1" dirty="0"/>
              <a:t>Managers need to look at: </a:t>
            </a:r>
          </a:p>
          <a:p>
            <a:pPr marL="0" indent="0">
              <a:buNone/>
            </a:pPr>
            <a:r>
              <a:rPr lang="en-GB" dirty="0"/>
              <a:t>• </a:t>
            </a:r>
            <a:r>
              <a:rPr lang="en-GB" sz="1400" b="1" dirty="0"/>
              <a:t>Tasks </a:t>
            </a:r>
          </a:p>
          <a:p>
            <a:pPr marL="0" indent="0">
              <a:buNone/>
            </a:pPr>
            <a:r>
              <a:rPr lang="en-GB" dirty="0"/>
              <a:t>• </a:t>
            </a:r>
            <a:r>
              <a:rPr lang="en-GB" sz="1400" b="1" dirty="0"/>
              <a:t>Individual </a:t>
            </a:r>
          </a:p>
          <a:p>
            <a:pPr marL="0" indent="0">
              <a:buNone/>
            </a:pPr>
            <a:r>
              <a:rPr lang="en-GB" dirty="0"/>
              <a:t>• </a:t>
            </a:r>
            <a:r>
              <a:rPr lang="en-GB" sz="1400" b="1" dirty="0"/>
              <a:t>Team</a:t>
            </a:r>
            <a:endParaRPr lang="en-GB" dirty="0"/>
          </a:p>
          <a:p>
            <a:pPr marL="0" indent="0">
              <a:buNone/>
            </a:pPr>
            <a:endParaRPr lang="en-GB" dirty="0"/>
          </a:p>
          <a:p>
            <a:pPr marL="0" indent="0">
              <a:buNone/>
            </a:pPr>
            <a:r>
              <a:rPr lang="en-GB" dirty="0"/>
              <a:t>• </a:t>
            </a:r>
            <a:r>
              <a:rPr lang="en-GB" sz="1400" b="1" dirty="0"/>
              <a:t>Tasks </a:t>
            </a:r>
            <a:r>
              <a:rPr lang="en-GB" dirty="0"/>
              <a:t>– (Q – What needs to be considered here? Discuss and then cover the following) -  </a:t>
            </a:r>
          </a:p>
          <a:p>
            <a:pPr marL="0" indent="0">
              <a:buNone/>
            </a:pPr>
            <a:r>
              <a:rPr lang="en-GB" dirty="0"/>
              <a:t>defining and agreeing the objectives; the human and physical resources needed; deadlines; technical details and specifications </a:t>
            </a:r>
          </a:p>
          <a:p>
            <a:pPr marL="0" indent="0">
              <a:buNone/>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a:t>
            </a:r>
            <a:r>
              <a:rPr lang="en-GB" sz="1400" b="1" dirty="0"/>
              <a:t>Individual </a:t>
            </a:r>
            <a:r>
              <a:rPr lang="en-GB" dirty="0"/>
              <a:t>– (Q – What needs to be considered here? Discuss and then cover the following) -  </a:t>
            </a:r>
          </a:p>
          <a:p>
            <a:pPr marL="0" indent="0">
              <a:buNone/>
            </a:pPr>
            <a:r>
              <a:rPr lang="en-GB" dirty="0"/>
              <a:t>each team member’s skills, knowledge and experience; their suitability and availability for the task; their career development needs </a:t>
            </a:r>
          </a:p>
          <a:p>
            <a:pPr marL="0" indent="0">
              <a:buNone/>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a:t>
            </a:r>
            <a:r>
              <a:rPr lang="en-GB" sz="1400" b="1" dirty="0"/>
              <a:t>Team</a:t>
            </a:r>
            <a:r>
              <a:rPr lang="en-GB" dirty="0"/>
              <a:t> – (Q – What needs to be considered here? Discuss and then cover the following) -  </a:t>
            </a:r>
          </a:p>
          <a:p>
            <a:pPr marL="0" indent="0">
              <a:spcBef>
                <a:spcPts val="0"/>
              </a:spcBef>
              <a:buNone/>
            </a:pPr>
            <a:r>
              <a:rPr lang="en-GB" dirty="0"/>
              <a:t>sharing the work effectively and fairly; giving the right team members the right tasks and responsibilities</a:t>
            </a:r>
          </a:p>
          <a:p>
            <a:endParaRPr lang="en-GB" dirty="0"/>
          </a:p>
        </p:txBody>
      </p:sp>
      <p:sp>
        <p:nvSpPr>
          <p:cNvPr id="4" name="Slide Number Placeholder 3"/>
          <p:cNvSpPr>
            <a:spLocks noGrp="1"/>
          </p:cNvSpPr>
          <p:nvPr>
            <p:ph type="sldNum" sz="quarter" idx="10"/>
          </p:nvPr>
        </p:nvSpPr>
        <p:spPr/>
        <p:txBody>
          <a:bodyPr/>
          <a:lstStyle/>
          <a:p>
            <a:fld id="{3C2141A1-FA70-4217-A960-49FE662E2A30}" type="slidenum">
              <a:rPr lang="en-GB" smtClean="0"/>
              <a:t>47</a:t>
            </a:fld>
            <a:endParaRPr lang="en-GB" dirty="0"/>
          </a:p>
        </p:txBody>
      </p:sp>
    </p:spTree>
    <p:extLst>
      <p:ext uri="{BB962C8B-B14F-4D97-AF65-F5344CB8AC3E}">
        <p14:creationId xmlns:p14="http://schemas.microsoft.com/office/powerpoint/2010/main" val="16766861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a:spcBef>
                <a:spcPts val="0"/>
              </a:spcBef>
            </a:pPr>
            <a:r>
              <a:rPr lang="en-GB" sz="1400" b="0" dirty="0"/>
              <a:t>Task</a:t>
            </a:r>
            <a:r>
              <a:rPr lang="en-GB" sz="1400" b="0" baseline="0" dirty="0"/>
              <a:t> – in your groups think about things that you might need to consider before allocating work (Timing 5 minutes to discuss in groups and then ask each group to present 2 each – give each group a couple of minutes to present and then cover all of the below that haven’t already been covered) </a:t>
            </a:r>
            <a:endParaRPr lang="en-GB" sz="1400" b="0" dirty="0"/>
          </a:p>
          <a:p>
            <a:pPr>
              <a:spcBef>
                <a:spcPts val="0"/>
              </a:spcBef>
            </a:pPr>
            <a:endParaRPr lang="en-GB" sz="1400" b="1" dirty="0"/>
          </a:p>
          <a:p>
            <a:pPr>
              <a:spcBef>
                <a:spcPts val="0"/>
              </a:spcBef>
            </a:pPr>
            <a:r>
              <a:rPr lang="en-GB" sz="1400" b="1" dirty="0"/>
              <a:t>X – </a:t>
            </a:r>
          </a:p>
          <a:p>
            <a:pPr>
              <a:spcBef>
                <a:spcPts val="0"/>
              </a:spcBef>
            </a:pPr>
            <a:r>
              <a:rPr lang="en-GB" sz="1400" b="1" dirty="0"/>
              <a:t>Apportionment of the tasks </a:t>
            </a:r>
            <a:r>
              <a:rPr lang="en-GB" sz="1200" dirty="0"/>
              <a:t>– how the tasks are shared</a:t>
            </a:r>
            <a:r>
              <a:rPr lang="en-GB" sz="1200" baseline="0" dirty="0"/>
              <a:t> </a:t>
            </a:r>
            <a:r>
              <a:rPr lang="en-GB" sz="1200" dirty="0"/>
              <a:t>between different team members </a:t>
            </a:r>
          </a:p>
          <a:p>
            <a:pPr marL="0" indent="0">
              <a:buNone/>
            </a:pPr>
            <a:r>
              <a:rPr lang="en-GB" sz="1200" dirty="0"/>
              <a:t>•  </a:t>
            </a:r>
            <a:r>
              <a:rPr lang="en-GB" sz="1400" b="1" dirty="0"/>
              <a:t>Volume of work</a:t>
            </a:r>
            <a:r>
              <a:rPr lang="en-GB" sz="1400" dirty="0"/>
              <a:t> </a:t>
            </a:r>
            <a:r>
              <a:rPr lang="en-GB" sz="1200" dirty="0"/>
              <a:t>– the amount that each individual needs to do </a:t>
            </a:r>
          </a:p>
          <a:p>
            <a:pPr marL="0" indent="0">
              <a:buNone/>
            </a:pPr>
            <a:r>
              <a:rPr lang="en-GB" sz="1400" dirty="0"/>
              <a:t>•  </a:t>
            </a:r>
            <a:r>
              <a:rPr lang="en-GB" sz="1400" b="1" dirty="0"/>
              <a:t>Difficulty of each task </a:t>
            </a:r>
            <a:endParaRPr lang="en-GB" sz="1400" dirty="0"/>
          </a:p>
          <a:p>
            <a:pPr marL="0" indent="0">
              <a:buNone/>
            </a:pPr>
            <a:r>
              <a:rPr lang="en-GB" sz="1400" dirty="0"/>
              <a:t>•  </a:t>
            </a:r>
            <a:r>
              <a:rPr lang="en-GB" sz="1400" b="1" dirty="0"/>
              <a:t>Matching the task to the individual’s skills and capabilities </a:t>
            </a:r>
            <a:r>
              <a:rPr lang="en-GB" sz="1200" dirty="0"/>
              <a:t>– as far as possible </a:t>
            </a:r>
          </a:p>
          <a:p>
            <a:pPr marL="0" indent="0">
              <a:buNone/>
            </a:pPr>
            <a:r>
              <a:rPr lang="en-GB" sz="1400" dirty="0"/>
              <a:t>•  </a:t>
            </a:r>
            <a:r>
              <a:rPr lang="en-GB" sz="1400" b="1" dirty="0"/>
              <a:t>Setting stretching tasks when appropriate </a:t>
            </a:r>
            <a:endParaRPr lang="en-GB" sz="1400" dirty="0"/>
          </a:p>
          <a:p>
            <a:pPr marL="0" indent="0">
              <a:buNone/>
            </a:pPr>
            <a:r>
              <a:rPr lang="en-GB" sz="1400" dirty="0"/>
              <a:t>•  </a:t>
            </a:r>
            <a:r>
              <a:rPr lang="en-GB" sz="1400" b="1" dirty="0"/>
              <a:t>Involving all team members</a:t>
            </a:r>
            <a:r>
              <a:rPr lang="en-GB" sz="1400" dirty="0"/>
              <a:t> </a:t>
            </a:r>
            <a:r>
              <a:rPr lang="en-GB" sz="1200" dirty="0"/>
              <a:t>– options and opportunities discussed and agreed to suit everyone</a:t>
            </a:r>
          </a:p>
          <a:p>
            <a:pPr marL="0" indent="0">
              <a:buNone/>
            </a:pPr>
            <a:r>
              <a:rPr lang="en-GB" sz="1200" dirty="0"/>
              <a:t>•  </a:t>
            </a:r>
            <a:r>
              <a:rPr lang="en-GB" sz="1400" b="1" dirty="0"/>
              <a:t>Rotating the tasks </a:t>
            </a:r>
            <a:r>
              <a:rPr lang="en-GB" sz="1200" dirty="0"/>
              <a:t>– so that everyone shares the good and the bad aspects of the job  </a:t>
            </a:r>
          </a:p>
          <a:p>
            <a:pPr marL="0" indent="0">
              <a:buNone/>
            </a:pPr>
            <a:r>
              <a:rPr lang="en-GB" sz="1200" dirty="0"/>
              <a:t>•  </a:t>
            </a:r>
            <a:r>
              <a:rPr lang="en-GB" sz="1400" b="1" dirty="0"/>
              <a:t>Ensuring equality and avoiding favouritism </a:t>
            </a:r>
            <a:endParaRPr lang="en-GB" sz="1400" dirty="0"/>
          </a:p>
          <a:p>
            <a:pPr marL="0" indent="0">
              <a:buNone/>
            </a:pPr>
            <a:r>
              <a:rPr lang="en-GB" sz="1400" dirty="0"/>
              <a:t>•  </a:t>
            </a:r>
            <a:r>
              <a:rPr lang="en-GB" sz="1400" b="1" dirty="0"/>
              <a:t>Having clear methods of communication </a:t>
            </a:r>
            <a:r>
              <a:rPr lang="en-GB" sz="1200" dirty="0"/>
              <a:t>–  can see and understand the decision-making process </a:t>
            </a:r>
          </a:p>
          <a:p>
            <a:pPr marL="0" indent="0">
              <a:buNone/>
            </a:pPr>
            <a:r>
              <a:rPr lang="en-GB" sz="1200" dirty="0"/>
              <a:t>•  </a:t>
            </a:r>
            <a:r>
              <a:rPr lang="en-GB" sz="1400" b="1" dirty="0"/>
              <a:t>Being open </a:t>
            </a:r>
            <a:r>
              <a:rPr lang="en-GB" sz="1200" dirty="0"/>
              <a:t>– encourage commitment to the shared purpose;  welcome feedback from team </a:t>
            </a:r>
          </a:p>
          <a:p>
            <a:endParaRPr lang="en-GB" dirty="0"/>
          </a:p>
        </p:txBody>
      </p:sp>
      <p:sp>
        <p:nvSpPr>
          <p:cNvPr id="4" name="Slide Number Placeholder 3"/>
          <p:cNvSpPr>
            <a:spLocks noGrp="1"/>
          </p:cNvSpPr>
          <p:nvPr>
            <p:ph type="sldNum" sz="quarter" idx="10"/>
          </p:nvPr>
        </p:nvSpPr>
        <p:spPr/>
        <p:txBody>
          <a:bodyPr/>
          <a:lstStyle/>
          <a:p>
            <a:fld id="{3C2141A1-FA70-4217-A960-49FE662E2A30}" type="slidenum">
              <a:rPr lang="en-GB" smtClean="0"/>
              <a:t>48</a:t>
            </a:fld>
            <a:endParaRPr lang="en-GB" dirty="0"/>
          </a:p>
        </p:txBody>
      </p:sp>
    </p:spTree>
    <p:extLst>
      <p:ext uri="{BB962C8B-B14F-4D97-AF65-F5344CB8AC3E}">
        <p14:creationId xmlns:p14="http://schemas.microsoft.com/office/powerpoint/2010/main" val="16115650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dirty="0"/>
              <a:t>Read</a:t>
            </a:r>
            <a:r>
              <a:rPr lang="en-GB" baseline="0" dirty="0"/>
              <a:t> through slide</a:t>
            </a:r>
            <a:endParaRPr lang="en-GB" dirty="0"/>
          </a:p>
        </p:txBody>
      </p:sp>
      <p:sp>
        <p:nvSpPr>
          <p:cNvPr id="4" name="Slide Number Placeholder 3"/>
          <p:cNvSpPr>
            <a:spLocks noGrp="1"/>
          </p:cNvSpPr>
          <p:nvPr>
            <p:ph type="sldNum" sz="quarter" idx="10"/>
          </p:nvPr>
        </p:nvSpPr>
        <p:spPr/>
        <p:txBody>
          <a:bodyPr/>
          <a:lstStyle/>
          <a:p>
            <a:fld id="{3C2141A1-FA70-4217-A960-49FE662E2A30}" type="slidenum">
              <a:rPr lang="en-GB" smtClean="0"/>
              <a:t>49</a:t>
            </a:fld>
            <a:endParaRPr lang="en-GB" dirty="0"/>
          </a:p>
        </p:txBody>
      </p:sp>
    </p:spTree>
    <p:extLst>
      <p:ext uri="{BB962C8B-B14F-4D97-AF65-F5344CB8AC3E}">
        <p14:creationId xmlns:p14="http://schemas.microsoft.com/office/powerpoint/2010/main" val="42291039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dirty="0"/>
              <a:t>There</a:t>
            </a:r>
            <a:r>
              <a:rPr lang="en-GB" baseline="0" dirty="0"/>
              <a:t> are other methods and theories to consider – Adair Action-Centred (Developed in the 1960’s, book 1973)   </a:t>
            </a:r>
          </a:p>
          <a:p>
            <a:endParaRPr lang="en-GB" baseline="0" dirty="0"/>
          </a:p>
          <a:p>
            <a:r>
              <a:rPr lang="en-GB" sz="1200" b="0" i="0" u="none" strike="noStrike" kern="1200" dirty="0">
                <a:solidFill>
                  <a:schemeClr val="tx1"/>
                </a:solidFill>
                <a:effectLst/>
                <a:latin typeface="+mn-lt"/>
                <a:ea typeface="+mn-ea"/>
                <a:cs typeface="+mn-cs"/>
              </a:rPr>
              <a:t>Professor John Eric Adair is a British academic who is a leadership theorist and author of more than forty books on business, military and other leadership.</a:t>
            </a:r>
          </a:p>
          <a:p>
            <a:endParaRPr lang="en-GB" sz="1200" b="0" i="0" u="none" strike="noStrike" kern="1200" baseline="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Adair approached leadership from a more practical and simple angle; by describing what leaders have to do and the actions they need to take.</a:t>
            </a:r>
          </a:p>
          <a:p>
            <a:r>
              <a:rPr lang="en-GB" sz="1200" b="0" i="0" u="none" strike="noStrike" kern="1200" dirty="0">
                <a:solidFill>
                  <a:schemeClr val="tx1"/>
                </a:solidFill>
                <a:effectLst/>
                <a:latin typeface="+mn-lt"/>
                <a:ea typeface="+mn-ea"/>
                <a:cs typeface="+mn-cs"/>
              </a:rPr>
              <a:t>His model –</a:t>
            </a:r>
            <a:r>
              <a:rPr lang="en-GB" sz="1200" b="0" i="0" u="none" strike="noStrike" kern="1200" baseline="0" dirty="0">
                <a:solidFill>
                  <a:schemeClr val="tx1"/>
                </a:solidFill>
                <a:effectLst/>
                <a:latin typeface="+mn-lt"/>
                <a:ea typeface="+mn-ea"/>
                <a:cs typeface="+mn-cs"/>
              </a:rPr>
              <a:t> </a:t>
            </a:r>
            <a:r>
              <a:rPr lang="en-GB" sz="1200" b="1" i="0" u="none" strike="noStrike" kern="1200" baseline="0" dirty="0">
                <a:solidFill>
                  <a:schemeClr val="tx1"/>
                </a:solidFill>
                <a:effectLst/>
                <a:latin typeface="+mn-lt"/>
                <a:ea typeface="+mn-ea"/>
                <a:cs typeface="+mn-cs"/>
              </a:rPr>
              <a:t>X Action Centred Leadership</a:t>
            </a:r>
            <a:r>
              <a:rPr lang="en-GB" sz="1200" b="1" i="0" u="none" strike="noStrike" kern="1200" dirty="0">
                <a:solidFill>
                  <a:schemeClr val="tx1"/>
                </a:solidFill>
                <a:effectLst/>
                <a:latin typeface="+mn-lt"/>
                <a:ea typeface="+mn-ea"/>
                <a:cs typeface="+mn-cs"/>
              </a:rPr>
              <a:t> was figuratively based on three overlapping circles (X – Pictures) representing:-</a:t>
            </a:r>
          </a:p>
          <a:p>
            <a:endParaRPr lang="en-GB" sz="1200" b="1" i="0" u="none" strike="noStrike" kern="1200" dirty="0">
              <a:solidFill>
                <a:schemeClr val="tx1"/>
              </a:solidFill>
              <a:effectLst/>
              <a:latin typeface="+mn-lt"/>
              <a:ea typeface="+mn-ea"/>
              <a:cs typeface="+mn-cs"/>
            </a:endParaRPr>
          </a:p>
          <a:p>
            <a:r>
              <a:rPr lang="en-GB" sz="1200" b="1" i="0" u="none" strike="noStrike" kern="1200" dirty="0">
                <a:solidFill>
                  <a:schemeClr val="tx1"/>
                </a:solidFill>
                <a:effectLst/>
                <a:latin typeface="+mn-lt"/>
                <a:ea typeface="+mn-ea"/>
                <a:cs typeface="+mn-cs"/>
              </a:rPr>
              <a:t>X - Perform the task.</a:t>
            </a:r>
          </a:p>
          <a:p>
            <a:r>
              <a:rPr lang="en-GB" sz="1200" b="1" i="0" u="none" strike="noStrike" kern="1200" dirty="0">
                <a:solidFill>
                  <a:schemeClr val="tx1"/>
                </a:solidFill>
                <a:effectLst/>
                <a:latin typeface="+mn-lt"/>
                <a:ea typeface="+mn-ea"/>
                <a:cs typeface="+mn-cs"/>
              </a:rPr>
              <a:t>X - Maintain the team.</a:t>
            </a:r>
          </a:p>
          <a:p>
            <a:r>
              <a:rPr lang="en-GB" sz="1200" b="1" i="0" u="none" strike="noStrike" kern="1200" dirty="0">
                <a:solidFill>
                  <a:schemeClr val="tx1"/>
                </a:solidFill>
                <a:effectLst/>
                <a:latin typeface="+mn-lt"/>
                <a:ea typeface="+mn-ea"/>
                <a:cs typeface="+mn-cs"/>
              </a:rPr>
              <a:t>X - Develop the individuals.</a:t>
            </a:r>
          </a:p>
          <a:p>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The three circles in Adair's model overlap because:-</a:t>
            </a:r>
          </a:p>
          <a:p>
            <a:r>
              <a:rPr lang="en-GB" sz="1200" b="0" i="0" u="none" strike="noStrike" kern="1200" dirty="0">
                <a:solidFill>
                  <a:schemeClr val="tx1"/>
                </a:solidFill>
                <a:effectLst/>
                <a:latin typeface="+mn-lt"/>
                <a:ea typeface="+mn-ea"/>
                <a:cs typeface="+mn-cs"/>
              </a:rPr>
              <a:t>The task needs a team because one person alone cannot accomplish it.</a:t>
            </a:r>
          </a:p>
          <a:p>
            <a:r>
              <a:rPr lang="en-GB" sz="1200" b="0" i="0" u="none" strike="noStrike" kern="1200" dirty="0">
                <a:solidFill>
                  <a:schemeClr val="tx1"/>
                </a:solidFill>
                <a:effectLst/>
                <a:latin typeface="+mn-lt"/>
                <a:ea typeface="+mn-ea"/>
                <a:cs typeface="+mn-cs"/>
              </a:rPr>
              <a:t>If the team needs are not met the task will suffer and the individuals will not be satisfied.</a:t>
            </a:r>
          </a:p>
          <a:p>
            <a:r>
              <a:rPr lang="en-GB" sz="1200" b="0" i="0" u="none" strike="noStrike" kern="1200" dirty="0">
                <a:solidFill>
                  <a:schemeClr val="tx1"/>
                </a:solidFill>
                <a:effectLst/>
                <a:latin typeface="+mn-lt"/>
                <a:ea typeface="+mn-ea"/>
                <a:cs typeface="+mn-cs"/>
              </a:rPr>
              <a:t>If the individual needs are not met the team will suffer and performance of the task will be impaired.</a:t>
            </a:r>
          </a:p>
          <a:p>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Adair lists eight Leadership Functions required to achieve success.</a:t>
            </a:r>
          </a:p>
          <a:p>
            <a:r>
              <a:rPr lang="en-GB" sz="1200" b="0" i="0" u="none" strike="noStrike" kern="1200" dirty="0">
                <a:solidFill>
                  <a:schemeClr val="tx1"/>
                </a:solidFill>
                <a:effectLst/>
                <a:latin typeface="+mn-lt"/>
                <a:ea typeface="+mn-ea"/>
                <a:cs typeface="+mn-cs"/>
              </a:rPr>
              <a:t>These need to be constantly developed and honed to ensure success.</a:t>
            </a:r>
          </a:p>
          <a:p>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The eight</a:t>
            </a:r>
            <a:r>
              <a:rPr lang="en-GB" sz="1200" b="0" i="0" u="none" strike="noStrike" kern="1200" baseline="0" dirty="0">
                <a:solidFill>
                  <a:schemeClr val="tx1"/>
                </a:solidFill>
                <a:effectLst/>
                <a:latin typeface="+mn-lt"/>
                <a:ea typeface="+mn-ea"/>
                <a:cs typeface="+mn-cs"/>
              </a:rPr>
              <a:t> leadership functions are: </a:t>
            </a:r>
          </a:p>
          <a:p>
            <a:endParaRPr lang="en-GB" sz="1200" b="0" i="0" u="none" strike="noStrike" kern="1200" baseline="0" dirty="0">
              <a:solidFill>
                <a:schemeClr val="tx1"/>
              </a:solidFill>
              <a:effectLst/>
              <a:latin typeface="+mn-lt"/>
              <a:ea typeface="+mn-ea"/>
              <a:cs typeface="+mn-cs"/>
            </a:endParaRPr>
          </a:p>
          <a:p>
            <a:pPr marL="228600" indent="-228600">
              <a:buAutoNum type="arabicPeriod"/>
            </a:pPr>
            <a:r>
              <a:rPr lang="en-GB" sz="1200" b="0" i="0" u="none" strike="noStrike" kern="1200" dirty="0">
                <a:solidFill>
                  <a:schemeClr val="tx1"/>
                </a:solidFill>
                <a:effectLst/>
                <a:latin typeface="+mn-lt"/>
                <a:ea typeface="+mn-ea"/>
                <a:cs typeface="+mn-cs"/>
              </a:rPr>
              <a:t>Defining the task</a:t>
            </a:r>
          </a:p>
          <a:p>
            <a:pPr marL="228600" indent="-228600">
              <a:buAutoNum type="arabicPeriod"/>
            </a:pPr>
            <a:r>
              <a:rPr lang="en-GB" sz="1200" b="0" i="0" u="none" strike="noStrike" kern="1200" dirty="0">
                <a:solidFill>
                  <a:schemeClr val="tx1"/>
                </a:solidFill>
                <a:effectLst/>
                <a:latin typeface="+mn-lt"/>
                <a:ea typeface="+mn-ea"/>
                <a:cs typeface="+mn-cs"/>
              </a:rPr>
              <a:t>Planning</a:t>
            </a:r>
          </a:p>
          <a:p>
            <a:pPr marL="228600" indent="-228600">
              <a:buAutoNum type="arabicPeriod"/>
            </a:pPr>
            <a:r>
              <a:rPr lang="en-GB" sz="1200" b="0" i="0" u="none" strike="noStrike" kern="1200" dirty="0">
                <a:solidFill>
                  <a:schemeClr val="tx1"/>
                </a:solidFill>
                <a:effectLst/>
                <a:latin typeface="+mn-lt"/>
                <a:ea typeface="+mn-ea"/>
                <a:cs typeface="+mn-cs"/>
              </a:rPr>
              <a:t>Briefing</a:t>
            </a:r>
          </a:p>
          <a:p>
            <a:pPr marL="228600" indent="-228600">
              <a:buAutoNum type="arabicPeriod"/>
            </a:pPr>
            <a:r>
              <a:rPr lang="en-GB" sz="1200" b="0" i="0" u="none" strike="noStrike" kern="1200" dirty="0">
                <a:solidFill>
                  <a:schemeClr val="tx1"/>
                </a:solidFill>
                <a:effectLst/>
                <a:latin typeface="+mn-lt"/>
                <a:ea typeface="+mn-ea"/>
                <a:cs typeface="+mn-cs"/>
              </a:rPr>
              <a:t>Controlling</a:t>
            </a:r>
          </a:p>
          <a:p>
            <a:pPr marL="228600" indent="-228600">
              <a:buAutoNum type="arabicPeriod"/>
            </a:pPr>
            <a:r>
              <a:rPr lang="en-GB" sz="1200" b="0" i="0" u="none" strike="noStrike" kern="1200" dirty="0">
                <a:solidFill>
                  <a:schemeClr val="tx1"/>
                </a:solidFill>
                <a:effectLst/>
                <a:latin typeface="+mn-lt"/>
                <a:ea typeface="+mn-ea"/>
                <a:cs typeface="+mn-cs"/>
              </a:rPr>
              <a:t>Evaluating</a:t>
            </a:r>
          </a:p>
          <a:p>
            <a:pPr marL="228600" indent="-228600">
              <a:buAutoNum type="arabicPeriod"/>
            </a:pPr>
            <a:r>
              <a:rPr lang="en-GB" sz="1200" b="0" i="0" u="none" strike="noStrike" kern="1200" dirty="0">
                <a:solidFill>
                  <a:schemeClr val="tx1"/>
                </a:solidFill>
                <a:effectLst/>
                <a:latin typeface="+mn-lt"/>
                <a:ea typeface="+mn-ea"/>
                <a:cs typeface="+mn-cs"/>
              </a:rPr>
              <a:t>Motivating</a:t>
            </a:r>
          </a:p>
          <a:p>
            <a:pPr marL="228600" indent="-228600">
              <a:buAutoNum type="arabicPeriod"/>
            </a:pPr>
            <a:r>
              <a:rPr lang="en-GB" sz="1200" b="0" i="0" u="none" strike="noStrike" kern="1200" dirty="0">
                <a:solidFill>
                  <a:schemeClr val="tx1"/>
                </a:solidFill>
                <a:effectLst/>
                <a:latin typeface="+mn-lt"/>
                <a:ea typeface="+mn-ea"/>
                <a:cs typeface="+mn-cs"/>
              </a:rPr>
              <a:t>Organising</a:t>
            </a:r>
          </a:p>
          <a:p>
            <a:pPr marL="228600" indent="-228600">
              <a:buAutoNum type="arabicPeriod"/>
            </a:pPr>
            <a:r>
              <a:rPr lang="en-GB" sz="1200" b="0" i="0" u="none" strike="noStrike" kern="1200" dirty="0">
                <a:solidFill>
                  <a:schemeClr val="tx1"/>
                </a:solidFill>
                <a:effectLst/>
                <a:latin typeface="+mn-lt"/>
                <a:ea typeface="+mn-ea"/>
                <a:cs typeface="+mn-cs"/>
              </a:rPr>
              <a:t>Setting an example</a:t>
            </a:r>
          </a:p>
          <a:p>
            <a:endParaRPr lang="en-GB" sz="1200" b="0" i="0" u="none" strike="noStrike" kern="1200" baseline="0" dirty="0">
              <a:solidFill>
                <a:schemeClr val="tx1"/>
              </a:solidFill>
              <a:effectLst/>
              <a:latin typeface="+mn-lt"/>
              <a:ea typeface="+mn-ea"/>
              <a:cs typeface="+mn-cs"/>
            </a:endParaRPr>
          </a:p>
          <a:p>
            <a:endParaRPr lang="en-GB" sz="1200" b="0" i="0" u="none" strike="noStrike" kern="1200" baseline="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In your groups spend 20 minutes discussing why you think Adair highlights</a:t>
            </a:r>
            <a:r>
              <a:rPr lang="en-GB" sz="1200" b="0" i="0" u="none" strike="noStrike" kern="1200" baseline="0" dirty="0">
                <a:solidFill>
                  <a:schemeClr val="tx1"/>
                </a:solidFill>
                <a:effectLst/>
                <a:latin typeface="+mn-lt"/>
                <a:ea typeface="+mn-ea"/>
                <a:cs typeface="+mn-cs"/>
              </a:rPr>
              <a:t> these functions as essential to achieve success, is this considered within your organisation, how do you or how would you apply this within your teams and any other points that are raised from your discussion. I will then ask each group to spend 5 minutes presenting one of their ideas and thoughts to the whole group and we will consider as a group (spend no more than 20 minutes on the group discussion part – 5 minutes for each group and 5 minutes for reflection and discussion).  </a:t>
            </a:r>
            <a:endParaRPr lang="en-GB" sz="1200" b="0" i="0" u="none" strike="noStrike" kern="1200" dirty="0">
              <a:solidFill>
                <a:schemeClr val="tx1"/>
              </a:solidFill>
              <a:effectLst/>
              <a:latin typeface="+mn-lt"/>
              <a:ea typeface="+mn-ea"/>
              <a:cs typeface="+mn-cs"/>
            </a:endParaRPr>
          </a:p>
          <a:p>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1. Defining the task: Using SMART goals (Specific, Measurable, Achievable, Realistic and Time-Constrained) to set a clear objective.</a:t>
            </a:r>
          </a:p>
          <a:p>
            <a:r>
              <a:rPr lang="en-GB" sz="1200" b="0" i="0" u="none" strike="noStrike" kern="1200" dirty="0">
                <a:solidFill>
                  <a:schemeClr val="tx1"/>
                </a:solidFill>
                <a:effectLst/>
                <a:latin typeface="+mn-lt"/>
                <a:ea typeface="+mn-ea"/>
                <a:cs typeface="+mn-cs"/>
              </a:rPr>
              <a:t>2. Planning: An open minded, positive and creative search for alternatives. Contingencies should be planned for and plans should be tested.</a:t>
            </a:r>
          </a:p>
          <a:p>
            <a:r>
              <a:rPr lang="en-GB" sz="1200" b="0" i="0" u="none" strike="noStrike" kern="1200" dirty="0">
                <a:solidFill>
                  <a:schemeClr val="tx1"/>
                </a:solidFill>
                <a:effectLst/>
                <a:latin typeface="+mn-lt"/>
                <a:ea typeface="+mn-ea"/>
                <a:cs typeface="+mn-cs"/>
              </a:rPr>
              <a:t>3. Briefing: Team briefings by the leader are a basic function and essential in order to create the right atmosphere, foster teamwork and motivate each individual.</a:t>
            </a:r>
          </a:p>
          <a:p>
            <a:r>
              <a:rPr lang="en-GB" sz="1200" b="0" i="0" u="none" strike="noStrike" kern="1200" dirty="0">
                <a:solidFill>
                  <a:schemeClr val="tx1"/>
                </a:solidFill>
                <a:effectLst/>
                <a:latin typeface="+mn-lt"/>
                <a:ea typeface="+mn-ea"/>
                <a:cs typeface="+mn-cs"/>
              </a:rPr>
              <a:t>4. Controlling: Leaders need self-control, good control systems in place and effective delegation and monitoring skills in order to get maximum results from minimum resources.</a:t>
            </a:r>
          </a:p>
          <a:p>
            <a:r>
              <a:rPr lang="en-GB" sz="1200" b="0" i="0" u="none" strike="noStrike" kern="1200" dirty="0">
                <a:solidFill>
                  <a:schemeClr val="tx1"/>
                </a:solidFill>
                <a:effectLst/>
                <a:latin typeface="+mn-lt"/>
                <a:ea typeface="+mn-ea"/>
                <a:cs typeface="+mn-cs"/>
              </a:rPr>
              <a:t>5. Evaluating: Assess consequences, evaluate performance, appraise and train individuals.</a:t>
            </a:r>
          </a:p>
          <a:p>
            <a:r>
              <a:rPr lang="en-GB" sz="1200" b="0" i="0" u="none" strike="noStrike" kern="1200" dirty="0">
                <a:solidFill>
                  <a:schemeClr val="tx1"/>
                </a:solidFill>
                <a:effectLst/>
                <a:latin typeface="+mn-lt"/>
                <a:ea typeface="+mn-ea"/>
                <a:cs typeface="+mn-cs"/>
              </a:rPr>
              <a:t>6. Motivating: Adair identifies eight basic rules for motivating people* in his book Effective Motivation (Guildford: Talbot Adair Press, 1987). Adair also created the 50:50 rule which states that 50% of motivation comes from within a person and 50% from his or her environment and particularly the leadership they encounter.</a:t>
            </a:r>
          </a:p>
          <a:p>
            <a:r>
              <a:rPr lang="en-GB" sz="1200" b="0" i="0" u="none" strike="noStrike" kern="1200" dirty="0">
                <a:solidFill>
                  <a:schemeClr val="tx1"/>
                </a:solidFill>
                <a:effectLst/>
                <a:latin typeface="+mn-lt"/>
                <a:ea typeface="+mn-ea"/>
                <a:cs typeface="+mn-cs"/>
              </a:rPr>
              <a:t>7. Organising: Good leaders need to be able to organise themselves, their team and their organisation.</a:t>
            </a:r>
          </a:p>
          <a:p>
            <a:r>
              <a:rPr lang="en-GB" sz="1200" b="0" i="0" u="none" strike="noStrike" kern="1200" dirty="0">
                <a:solidFill>
                  <a:schemeClr val="tx1"/>
                </a:solidFill>
                <a:effectLst/>
                <a:latin typeface="+mn-lt"/>
                <a:ea typeface="+mn-ea"/>
                <a:cs typeface="+mn-cs"/>
              </a:rPr>
              <a:t>8. Setting an example: The best leaders naturally set a good example. If effort needs to be made it will slip and a bad example is noticed more than a good example.</a:t>
            </a:r>
          </a:p>
          <a:p>
            <a:endParaRPr lang="en-GB" sz="1200" b="0" i="0" u="none" strike="noStrike" kern="1200" dirty="0">
              <a:solidFill>
                <a:schemeClr val="tx1"/>
              </a:solidFill>
              <a:effectLst/>
              <a:latin typeface="+mn-lt"/>
              <a:ea typeface="+mn-ea"/>
              <a:cs typeface="+mn-cs"/>
            </a:endParaRPr>
          </a:p>
          <a:p>
            <a:endParaRPr lang="en-GB" sz="1200" b="0" i="0" u="none" strike="noStrike" kern="1200" dirty="0">
              <a:solidFill>
                <a:schemeClr val="tx1"/>
              </a:solidFill>
              <a:effectLst/>
              <a:latin typeface="+mn-lt"/>
              <a:ea typeface="+mn-ea"/>
              <a:cs typeface="+mn-cs"/>
            </a:endParaRPr>
          </a:p>
          <a:p>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Motivating Your Team</a:t>
            </a:r>
          </a:p>
          <a:p>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The eight rules for motivating people:-</a:t>
            </a:r>
          </a:p>
          <a:p>
            <a:r>
              <a:rPr lang="en-GB" sz="1200" b="0" i="0" u="none" strike="noStrike" kern="1200" dirty="0">
                <a:solidFill>
                  <a:schemeClr val="tx1"/>
                </a:solidFill>
                <a:effectLst/>
                <a:latin typeface="+mn-lt"/>
                <a:ea typeface="+mn-ea"/>
                <a:cs typeface="+mn-cs"/>
              </a:rPr>
              <a:t>1. Be motivated yourself.</a:t>
            </a:r>
          </a:p>
          <a:p>
            <a:r>
              <a:rPr lang="en-GB" sz="1200" b="0" i="0" u="none" strike="noStrike" kern="1200" dirty="0">
                <a:solidFill>
                  <a:schemeClr val="tx1"/>
                </a:solidFill>
                <a:effectLst/>
                <a:latin typeface="+mn-lt"/>
                <a:ea typeface="+mn-ea"/>
                <a:cs typeface="+mn-cs"/>
              </a:rPr>
              <a:t>2. Select motivated people.</a:t>
            </a:r>
          </a:p>
          <a:p>
            <a:r>
              <a:rPr lang="en-GB" sz="1200" b="0" i="0" u="none" strike="noStrike" kern="1200" dirty="0">
                <a:solidFill>
                  <a:schemeClr val="tx1"/>
                </a:solidFill>
                <a:effectLst/>
                <a:latin typeface="+mn-lt"/>
                <a:ea typeface="+mn-ea"/>
                <a:cs typeface="+mn-cs"/>
              </a:rPr>
              <a:t>3. Treat each person as an individual.</a:t>
            </a:r>
          </a:p>
          <a:p>
            <a:r>
              <a:rPr lang="en-GB" sz="1200" b="0" i="0" u="none" strike="noStrike" kern="1200" dirty="0">
                <a:solidFill>
                  <a:schemeClr val="tx1"/>
                </a:solidFill>
                <a:effectLst/>
                <a:latin typeface="+mn-lt"/>
                <a:ea typeface="+mn-ea"/>
                <a:cs typeface="+mn-cs"/>
              </a:rPr>
              <a:t>4. Set realistic but challenging targets.</a:t>
            </a:r>
          </a:p>
          <a:p>
            <a:r>
              <a:rPr lang="en-GB" sz="1200" b="0" i="0" u="none" strike="noStrike" kern="1200" dirty="0">
                <a:solidFill>
                  <a:schemeClr val="tx1"/>
                </a:solidFill>
                <a:effectLst/>
                <a:latin typeface="+mn-lt"/>
                <a:ea typeface="+mn-ea"/>
                <a:cs typeface="+mn-cs"/>
              </a:rPr>
              <a:t>5. Understand that progress itself motivates.</a:t>
            </a:r>
          </a:p>
          <a:p>
            <a:r>
              <a:rPr lang="en-GB" sz="1200" b="0" i="0" u="none" strike="noStrike" kern="1200" dirty="0">
                <a:solidFill>
                  <a:schemeClr val="tx1"/>
                </a:solidFill>
                <a:effectLst/>
                <a:latin typeface="+mn-lt"/>
                <a:ea typeface="+mn-ea"/>
                <a:cs typeface="+mn-cs"/>
              </a:rPr>
              <a:t>6. Create a motivating environment.</a:t>
            </a:r>
          </a:p>
          <a:p>
            <a:r>
              <a:rPr lang="en-GB" sz="1200" b="0" i="0" u="none" strike="noStrike" kern="1200" dirty="0">
                <a:solidFill>
                  <a:schemeClr val="tx1"/>
                </a:solidFill>
                <a:effectLst/>
                <a:latin typeface="+mn-lt"/>
                <a:ea typeface="+mn-ea"/>
                <a:cs typeface="+mn-cs"/>
              </a:rPr>
              <a:t>7. Provide relevant rewards.</a:t>
            </a:r>
          </a:p>
          <a:p>
            <a:r>
              <a:rPr lang="en-GB" sz="1200" b="0" i="0" u="none" strike="noStrike" kern="1200" dirty="0">
                <a:solidFill>
                  <a:schemeClr val="tx1"/>
                </a:solidFill>
                <a:effectLst/>
                <a:latin typeface="+mn-lt"/>
                <a:ea typeface="+mn-ea"/>
                <a:cs typeface="+mn-cs"/>
              </a:rPr>
              <a:t>8. Recognise success.</a:t>
            </a:r>
          </a:p>
          <a:p>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John Adair's work is in line with motivational theorists such as Maslow, McGregor and Herzberg.</a:t>
            </a:r>
          </a:p>
          <a:p>
            <a:r>
              <a:rPr lang="en-GB" sz="1200" b="0" i="0" u="none" strike="noStrike" kern="1200" dirty="0">
                <a:solidFill>
                  <a:schemeClr val="tx1"/>
                </a:solidFill>
                <a:effectLst/>
                <a:latin typeface="+mn-lt"/>
                <a:ea typeface="+mn-ea"/>
                <a:cs typeface="+mn-cs"/>
              </a:rPr>
              <a:t>He emphasises the need for development of the team and team building. </a:t>
            </a:r>
          </a:p>
          <a:p>
            <a:endParaRPr lang="en-GB" baseline="0" dirty="0"/>
          </a:p>
          <a:p>
            <a:r>
              <a:rPr lang="en-GB" baseline="0" dirty="0"/>
              <a:t>There are many other Management models and theories you could also consider,  including:</a:t>
            </a:r>
          </a:p>
          <a:p>
            <a:r>
              <a:rPr lang="en-GB" baseline="0" dirty="0"/>
              <a:t>Theory X-Y</a:t>
            </a:r>
          </a:p>
          <a:p>
            <a:r>
              <a:rPr lang="en-GB" baseline="0" dirty="0"/>
              <a:t>Linking Pin Model</a:t>
            </a:r>
          </a:p>
          <a:p>
            <a:r>
              <a:rPr lang="en-GB" baseline="0" dirty="0"/>
              <a:t>Taylors Scientific Management</a:t>
            </a:r>
          </a:p>
          <a:p>
            <a:r>
              <a:rPr lang="en-GB" baseline="0" dirty="0"/>
              <a:t>Etc.</a:t>
            </a:r>
            <a:endParaRPr lang="en-GB" dirty="0"/>
          </a:p>
          <a:p>
            <a:endParaRPr lang="en-GB" dirty="0"/>
          </a:p>
          <a:p>
            <a:endParaRPr lang="en-GB" dirty="0"/>
          </a:p>
        </p:txBody>
      </p:sp>
      <p:sp>
        <p:nvSpPr>
          <p:cNvPr id="4" name="Slide Number Placeholder 3"/>
          <p:cNvSpPr>
            <a:spLocks noGrp="1"/>
          </p:cNvSpPr>
          <p:nvPr>
            <p:ph type="sldNum" sz="quarter" idx="10"/>
          </p:nvPr>
        </p:nvSpPr>
        <p:spPr/>
        <p:txBody>
          <a:bodyPr/>
          <a:lstStyle/>
          <a:p>
            <a:fld id="{3C2141A1-FA70-4217-A960-49FE662E2A30}" type="slidenum">
              <a:rPr lang="en-GB" smtClean="0"/>
              <a:t>50</a:t>
            </a:fld>
            <a:endParaRPr lang="en-GB" dirty="0"/>
          </a:p>
        </p:txBody>
      </p:sp>
    </p:spTree>
    <p:extLst>
      <p:ext uri="{BB962C8B-B14F-4D97-AF65-F5344CB8AC3E}">
        <p14:creationId xmlns:p14="http://schemas.microsoft.com/office/powerpoint/2010/main" val="33086507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B6319358-E711-4248-806B-68359E642B07}"/>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726D9EE-0466-4E2B-96DD-15AC183E2A48}" type="slidenum">
              <a:rPr lang="en-GB" altLang="en-US" sz="1200"/>
              <a:pPr/>
              <a:t>51</a:t>
            </a:fld>
            <a:endParaRPr lang="en-GB" altLang="en-US" sz="1200" dirty="0"/>
          </a:p>
        </p:txBody>
      </p:sp>
      <p:sp>
        <p:nvSpPr>
          <p:cNvPr id="30723" name="Rectangle 2">
            <a:extLst>
              <a:ext uri="{FF2B5EF4-FFF2-40B4-BE49-F238E27FC236}">
                <a16:creationId xmlns:a16="http://schemas.microsoft.com/office/drawing/2014/main" id="{7F4C2B47-D60F-49A0-B2F6-E25F1FA8AB48}"/>
              </a:ext>
            </a:extLst>
          </p:cNvPr>
          <p:cNvSpPr>
            <a:spLocks noGrp="1" noRot="1" noChangeAspect="1" noChangeArrowheads="1" noTextEdit="1"/>
          </p:cNvSpPr>
          <p:nvPr>
            <p:ph type="sldImg"/>
          </p:nvPr>
        </p:nvSpPr>
        <p:spPr>
          <a:ln/>
        </p:spPr>
        <p:txBody>
          <a:bodyPr/>
          <a:lstStyle/>
          <a:p>
            <a:endParaRPr lang="en-GB" dirty="0"/>
          </a:p>
        </p:txBody>
      </p:sp>
      <p:sp>
        <p:nvSpPr>
          <p:cNvPr id="30724" name="Rectangle 3">
            <a:extLst>
              <a:ext uri="{FF2B5EF4-FFF2-40B4-BE49-F238E27FC236}">
                <a16:creationId xmlns:a16="http://schemas.microsoft.com/office/drawing/2014/main" id="{15917635-26AC-426A-8DAF-F215D90F09DF}"/>
              </a:ext>
            </a:extLst>
          </p:cNvPr>
          <p:cNvSpPr>
            <a:spLocks noGrp="1" noChangeArrowheads="1"/>
          </p:cNvSpPr>
          <p:nvPr>
            <p:ph type="body" idx="1"/>
          </p:nvPr>
        </p:nvSpPr>
        <p:spPr>
          <a:noFill/>
        </p:spPr>
        <p:txBody>
          <a:bodyPr/>
          <a:lstStyle/>
          <a:p>
            <a:r>
              <a:rPr lang="en-GB" altLang="en-US" dirty="0"/>
              <a:t>As should our vision and values</a:t>
            </a:r>
          </a:p>
        </p:txBody>
      </p:sp>
    </p:spTree>
    <p:extLst>
      <p:ext uri="{BB962C8B-B14F-4D97-AF65-F5344CB8AC3E}">
        <p14:creationId xmlns:p14="http://schemas.microsoft.com/office/powerpoint/2010/main" val="21544049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3B438815-EC63-4541-84E5-9D5CBC1872F3}"/>
              </a:ext>
            </a:extLst>
          </p:cNvPr>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0B3F05A-C1E2-4ED6-9772-DDB7C7022165}" type="slidenum">
              <a:rPr lang="en-GB" altLang="en-US" sz="1200"/>
              <a:pPr/>
              <a:t>52</a:t>
            </a:fld>
            <a:endParaRPr lang="en-GB" altLang="en-US" sz="1200" dirty="0"/>
          </a:p>
        </p:txBody>
      </p:sp>
      <p:sp>
        <p:nvSpPr>
          <p:cNvPr id="28675" name="Rectangle 2">
            <a:extLst>
              <a:ext uri="{FF2B5EF4-FFF2-40B4-BE49-F238E27FC236}">
                <a16:creationId xmlns:a16="http://schemas.microsoft.com/office/drawing/2014/main" id="{08E9A0CA-DF2D-4103-B5B0-AF7DCBB52E35}"/>
              </a:ext>
            </a:extLst>
          </p:cNvPr>
          <p:cNvSpPr>
            <a:spLocks noGrp="1" noRot="1" noChangeAspect="1" noChangeArrowheads="1" noTextEdit="1"/>
          </p:cNvSpPr>
          <p:nvPr>
            <p:ph type="sldImg"/>
          </p:nvPr>
        </p:nvSpPr>
        <p:spPr>
          <a:ln/>
        </p:spPr>
        <p:txBody>
          <a:bodyPr/>
          <a:lstStyle/>
          <a:p>
            <a:endParaRPr lang="en-GB" dirty="0"/>
          </a:p>
        </p:txBody>
      </p:sp>
      <p:sp>
        <p:nvSpPr>
          <p:cNvPr id="28676" name="Rectangle 3">
            <a:extLst>
              <a:ext uri="{FF2B5EF4-FFF2-40B4-BE49-F238E27FC236}">
                <a16:creationId xmlns:a16="http://schemas.microsoft.com/office/drawing/2014/main" id="{0F866558-38ED-4B47-9810-B3382E29FE77}"/>
              </a:ext>
            </a:extLst>
          </p:cNvPr>
          <p:cNvSpPr>
            <a:spLocks noGrp="1" noChangeArrowheads="1"/>
          </p:cNvSpPr>
          <p:nvPr>
            <p:ph type="body" idx="1"/>
          </p:nvPr>
        </p:nvSpPr>
        <p:spPr>
          <a:noFill/>
        </p:spPr>
        <p:txBody>
          <a:bodyPr/>
          <a:lstStyle/>
          <a:p>
            <a:r>
              <a:rPr lang="en-GB" altLang="en-US" sz="2333" b="1" dirty="0"/>
              <a:t>Strategic intent sets out what the organisation will do</a:t>
            </a:r>
          </a:p>
          <a:p>
            <a:r>
              <a:rPr lang="en-GB" altLang="en-US" sz="2333" b="1" dirty="0"/>
              <a:t>Relies on understanding and analysis of.. </a:t>
            </a:r>
          </a:p>
          <a:p>
            <a:pPr lvl="1"/>
            <a:r>
              <a:rPr lang="en-GB" altLang="en-US" sz="2000" b="1" dirty="0"/>
              <a:t>How environment will be operating in next 5-10 yrs</a:t>
            </a:r>
          </a:p>
          <a:p>
            <a:pPr lvl="1"/>
            <a:r>
              <a:rPr lang="en-GB" altLang="en-US" sz="2000" b="1" dirty="0"/>
              <a:t>How the industry &amp; the competitive forces within it will be likely to develop in the future</a:t>
            </a:r>
          </a:p>
          <a:p>
            <a:pPr lvl="1"/>
            <a:r>
              <a:rPr lang="en-GB" altLang="en-US" sz="2000" b="1" dirty="0"/>
              <a:t>Internal capability of the organisation &amp; how it can be developed</a:t>
            </a:r>
          </a:p>
          <a:p>
            <a:endParaRPr lang="en-GB" altLang="en-US" dirty="0"/>
          </a:p>
          <a:p>
            <a:endParaRPr lang="en-GB" altLang="en-US" dirty="0"/>
          </a:p>
          <a:p>
            <a:r>
              <a:rPr lang="en-GB" altLang="en-US" dirty="0"/>
              <a:t>Best model to help with this is SWOT:</a:t>
            </a:r>
          </a:p>
          <a:p>
            <a:r>
              <a:rPr lang="en-GB" altLang="en-US" dirty="0"/>
              <a:t>Strengths</a:t>
            </a:r>
          </a:p>
          <a:p>
            <a:r>
              <a:rPr lang="en-GB" altLang="en-US" dirty="0"/>
              <a:t>Weaknesses</a:t>
            </a:r>
          </a:p>
          <a:p>
            <a:r>
              <a:rPr lang="en-GB" altLang="en-US" dirty="0"/>
              <a:t>Opportunities</a:t>
            </a:r>
          </a:p>
          <a:p>
            <a:r>
              <a:rPr lang="en-GB" altLang="en-US" dirty="0"/>
              <a:t>Threats</a:t>
            </a:r>
          </a:p>
          <a:p>
            <a:endParaRPr lang="en-GB" altLang="en-US" dirty="0"/>
          </a:p>
          <a:p>
            <a:r>
              <a:rPr lang="en-GB" altLang="en-US" dirty="0"/>
              <a:t>Strategic Intent sets out how we intend to minimise weaknesses &amp; capitalise on strengths in order to cancel out the threats and maximise the opportunities we have foreseen.</a:t>
            </a:r>
            <a:r>
              <a:rPr lang="en-GB" altLang="en-US" baseline="0" dirty="0"/>
              <a:t> </a:t>
            </a:r>
            <a:r>
              <a:rPr lang="en-GB" altLang="en-US" dirty="0"/>
              <a:t>This in turn helps us to create our vision.</a:t>
            </a:r>
          </a:p>
          <a:p>
            <a:endParaRPr lang="en-GB" altLang="en-US" dirty="0"/>
          </a:p>
        </p:txBody>
      </p:sp>
    </p:spTree>
    <p:extLst>
      <p:ext uri="{BB962C8B-B14F-4D97-AF65-F5344CB8AC3E}">
        <p14:creationId xmlns:p14="http://schemas.microsoft.com/office/powerpoint/2010/main" val="30606102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baseline="0" dirty="0">
                <a:solidFill>
                  <a:schemeClr val="tx1"/>
                </a:solidFill>
                <a:latin typeface="+mn-lt"/>
                <a:ea typeface="+mn-ea"/>
                <a:cs typeface="+mn-cs"/>
              </a:rPr>
              <a:t>Organisations need to change for a wide variety of reasons. Some of them are internal reasons – things going on within the organisation that need to be addressed. Some of them are external reasons – things happening out in the rest of the world that influence the organisation and prompt a need for change.</a:t>
            </a:r>
            <a:endParaRPr lang="en-GB" dirty="0"/>
          </a:p>
          <a:p>
            <a:endParaRPr lang="en-GB" dirty="0"/>
          </a:p>
          <a:p>
            <a:endParaRPr lang="en-GB" dirty="0"/>
          </a:p>
          <a:p>
            <a:r>
              <a:rPr lang="en-GB" dirty="0"/>
              <a:t>Q - Do any of you have changes that are going on at work at the</a:t>
            </a:r>
            <a:r>
              <a:rPr lang="en-GB" baseline="0" dirty="0"/>
              <a:t> moment or that are planned for the near future? </a:t>
            </a:r>
          </a:p>
          <a:p>
            <a:endParaRPr lang="en-GB" baseline="0" dirty="0"/>
          </a:p>
          <a:p>
            <a:r>
              <a:rPr lang="en-GB" baseline="0" dirty="0"/>
              <a:t>Make notes of any upcoming changes that people are dealing with. </a:t>
            </a:r>
          </a:p>
          <a:p>
            <a:endParaRPr lang="en-GB" baseline="0" dirty="0"/>
          </a:p>
          <a:p>
            <a:endParaRPr lang="en-GB" baseline="0" dirty="0"/>
          </a:p>
          <a:p>
            <a:endParaRPr lang="en-GB" baseline="0" dirty="0"/>
          </a:p>
          <a:p>
            <a:endParaRPr lang="en-GB" baseline="0" dirty="0"/>
          </a:p>
        </p:txBody>
      </p:sp>
      <p:sp>
        <p:nvSpPr>
          <p:cNvPr id="4" name="Slide Number Placeholder 3"/>
          <p:cNvSpPr>
            <a:spLocks noGrp="1"/>
          </p:cNvSpPr>
          <p:nvPr>
            <p:ph type="sldNum" sz="quarter" idx="10"/>
          </p:nvPr>
        </p:nvSpPr>
        <p:spPr/>
        <p:txBody>
          <a:bodyPr/>
          <a:lstStyle/>
          <a:p>
            <a:pPr marL="0" marR="0" lvl="0" indent="0" algn="r" defTabSz="713232" rtl="0" eaLnBrk="1" fontAlgn="auto" latinLnBrk="0" hangingPunct="1">
              <a:lnSpc>
                <a:spcPct val="100000"/>
              </a:lnSpc>
              <a:spcBef>
                <a:spcPts val="0"/>
              </a:spcBef>
              <a:spcAft>
                <a:spcPts val="0"/>
              </a:spcAft>
              <a:buClrTx/>
              <a:buSzTx/>
              <a:buFontTx/>
              <a:buNone/>
              <a:tabLst/>
              <a:defRPr/>
            </a:pPr>
            <a:fld id="{3C2141A1-FA70-4217-A960-49FE662E2A3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713232" rtl="0" eaLnBrk="1" fontAlgn="auto" latinLnBrk="0" hangingPunct="1">
                <a:lnSpc>
                  <a:spcPct val="100000"/>
                </a:lnSpc>
                <a:spcBef>
                  <a:spcPts val="0"/>
                </a:spcBef>
                <a:spcAft>
                  <a:spcPts val="0"/>
                </a:spcAft>
                <a:buClrTx/>
                <a:buSzTx/>
                <a:buFontTx/>
                <a:buNone/>
                <a:tabLst/>
                <a:defRPr/>
              </a:pPr>
              <a:t>53</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7757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dirty="0"/>
              <a:t>Think</a:t>
            </a:r>
            <a:r>
              <a:rPr lang="en-GB" baseline="0" dirty="0"/>
              <a:t> about a major change in your life that you knew was coming – maybe a change of employer or house. </a:t>
            </a:r>
          </a:p>
          <a:p>
            <a:r>
              <a:rPr lang="en-GB" baseline="0" dirty="0"/>
              <a:t>How did you feel as soon as you knew about the impending change? </a:t>
            </a:r>
          </a:p>
          <a:p>
            <a:r>
              <a:rPr lang="en-GB" baseline="0" dirty="0"/>
              <a:t>How did you plan for it? </a:t>
            </a:r>
          </a:p>
          <a:p>
            <a:r>
              <a:rPr lang="en-GB" baseline="0" dirty="0"/>
              <a:t>How did others help you plan for the change? </a:t>
            </a:r>
          </a:p>
          <a:p>
            <a:r>
              <a:rPr lang="en-GB" baseline="0" dirty="0"/>
              <a:t>How did you feel a few weeks or months after the change, once you had settled down? </a:t>
            </a:r>
          </a:p>
          <a:p>
            <a:endParaRPr lang="en-GB" dirty="0"/>
          </a:p>
        </p:txBody>
      </p:sp>
      <p:sp>
        <p:nvSpPr>
          <p:cNvPr id="4" name="Slide Number Placeholder 3"/>
          <p:cNvSpPr>
            <a:spLocks noGrp="1"/>
          </p:cNvSpPr>
          <p:nvPr>
            <p:ph type="sldNum" sz="quarter" idx="10"/>
          </p:nvPr>
        </p:nvSpPr>
        <p:spPr/>
        <p:txBody>
          <a:bodyPr/>
          <a:lstStyle/>
          <a:p>
            <a:fld id="{3C2141A1-FA70-4217-A960-49FE662E2A30}" type="slidenum">
              <a:rPr lang="en-GB" smtClean="0"/>
              <a:t>54</a:t>
            </a:fld>
            <a:endParaRPr lang="en-GB" dirty="0"/>
          </a:p>
        </p:txBody>
      </p:sp>
    </p:spTree>
    <p:extLst>
      <p:ext uri="{BB962C8B-B14F-4D97-AF65-F5344CB8AC3E}">
        <p14:creationId xmlns:p14="http://schemas.microsoft.com/office/powerpoint/2010/main" val="6280408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b="1" dirty="0"/>
              <a:t>Reasons</a:t>
            </a:r>
            <a:r>
              <a:rPr lang="en-GB" b="1" baseline="0" dirty="0"/>
              <a:t> for change</a:t>
            </a:r>
            <a:endParaRPr lang="en-GB" b="1" dirty="0"/>
          </a:p>
          <a:p>
            <a:r>
              <a:rPr lang="en-GB" dirty="0"/>
              <a:t>Q – What can</a:t>
            </a:r>
            <a:r>
              <a:rPr lang="en-GB" baseline="0" dirty="0"/>
              <a:t> be the reasons for change? </a:t>
            </a:r>
          </a:p>
          <a:p>
            <a:endParaRPr lang="en-GB" baseline="0" dirty="0"/>
          </a:p>
          <a:p>
            <a:r>
              <a:rPr lang="en-GB" baseline="0" dirty="0"/>
              <a:t>Answers:</a:t>
            </a:r>
          </a:p>
          <a:p>
            <a:r>
              <a:rPr lang="en-GB" sz="1200" b="0" i="0" u="none" strike="noStrike" kern="1200" baseline="0" dirty="0">
                <a:solidFill>
                  <a:schemeClr val="tx1"/>
                </a:solidFill>
                <a:latin typeface="+mn-lt"/>
                <a:ea typeface="+mn-ea"/>
                <a:cs typeface="+mn-cs"/>
              </a:rPr>
              <a:t>Many different situations and events can prompt the need for organisational change, including:</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 changes in technology – e.g. telecommunication companies adapting to new generation mobile phones, tablets and other new devices</a:t>
            </a:r>
          </a:p>
          <a:p>
            <a:r>
              <a:rPr lang="en-GB" sz="1200" b="0" i="0" u="none" strike="noStrike" kern="1200" baseline="0" dirty="0">
                <a:solidFill>
                  <a:schemeClr val="tx1"/>
                </a:solidFill>
                <a:latin typeface="+mn-lt"/>
                <a:ea typeface="+mn-ea"/>
                <a:cs typeface="+mn-cs"/>
              </a:rPr>
              <a:t>• competitors’ activities – e.g. airlines changing their routes, prices or level of service to be able to compete with each other successfully</a:t>
            </a:r>
          </a:p>
          <a:p>
            <a:r>
              <a:rPr lang="en-GB" sz="1200" b="0" i="0" u="none" strike="noStrike" kern="1200" baseline="0" dirty="0">
                <a:solidFill>
                  <a:schemeClr val="tx1"/>
                </a:solidFill>
                <a:latin typeface="+mn-lt"/>
                <a:ea typeface="+mn-ea"/>
                <a:cs typeface="+mn-cs"/>
              </a:rPr>
              <a:t>• changes in the marketplace – e.g. customers moving away from the high street and making most of their purchases online or in out-of-town shopping centres</a:t>
            </a:r>
          </a:p>
          <a:p>
            <a:r>
              <a:rPr lang="en-GB" sz="1200" b="0" i="0" u="none" strike="noStrike" kern="1200" baseline="0" dirty="0">
                <a:solidFill>
                  <a:schemeClr val="tx1"/>
                </a:solidFill>
                <a:latin typeface="+mn-lt"/>
                <a:ea typeface="+mn-ea"/>
                <a:cs typeface="+mn-cs"/>
              </a:rPr>
              <a:t>• changing customer expectations – e.g. hotel guests expecting a higher quality of accommodation at low cost</a:t>
            </a:r>
          </a:p>
          <a:p>
            <a:r>
              <a:rPr lang="en-GB" sz="1200" b="0" i="0" u="none" strike="noStrike" kern="1200" baseline="0" dirty="0">
                <a:solidFill>
                  <a:schemeClr val="tx1"/>
                </a:solidFill>
                <a:latin typeface="+mn-lt"/>
                <a:ea typeface="+mn-ea"/>
                <a:cs typeface="+mn-cs"/>
              </a:rPr>
              <a:t>• new legislation, regulations or standards – e.g. data protection regulations requiring active consent rather than implied consent; scrap metal companies having new regulations about identifying their suppliers of metal (to reduce theft)</a:t>
            </a:r>
          </a:p>
          <a:p>
            <a:r>
              <a:rPr lang="en-GB" sz="1200" b="0" i="0" u="none" strike="noStrike" kern="1200" baseline="0" dirty="0">
                <a:solidFill>
                  <a:schemeClr val="tx1"/>
                </a:solidFill>
                <a:latin typeface="+mn-lt"/>
                <a:ea typeface="+mn-ea"/>
                <a:cs typeface="+mn-cs"/>
              </a:rPr>
              <a:t>• environmental factors – e.g. new waste management procedures to reduce landfill and contamination of the environment</a:t>
            </a:r>
          </a:p>
          <a:p>
            <a:r>
              <a:rPr lang="en-GB" sz="1200" b="0" i="0" u="none" strike="noStrike" kern="1200" baseline="0" dirty="0">
                <a:solidFill>
                  <a:schemeClr val="tx1"/>
                </a:solidFill>
                <a:latin typeface="+mn-lt"/>
                <a:ea typeface="+mn-ea"/>
                <a:cs typeface="+mn-cs"/>
              </a:rPr>
              <a:t>• financial issues – e.g. rising costs making current processes unsustainable</a:t>
            </a:r>
          </a:p>
          <a:p>
            <a:r>
              <a:rPr lang="en-GB" sz="1200" b="0" i="0" u="none" strike="noStrike" kern="1200" baseline="0" dirty="0">
                <a:solidFill>
                  <a:schemeClr val="tx1"/>
                </a:solidFill>
                <a:latin typeface="+mn-lt"/>
                <a:ea typeface="+mn-ea"/>
                <a:cs typeface="+mn-cs"/>
              </a:rPr>
              <a:t>• political factors – e.g. changes in government funding in education</a:t>
            </a:r>
          </a:p>
          <a:p>
            <a:r>
              <a:rPr lang="en-GB" sz="1200" b="0" i="0" u="none" strike="noStrike" kern="1200" baseline="0" dirty="0">
                <a:solidFill>
                  <a:schemeClr val="tx1"/>
                </a:solidFill>
                <a:latin typeface="+mn-lt"/>
                <a:ea typeface="+mn-ea"/>
                <a:cs typeface="+mn-cs"/>
              </a:rPr>
              <a:t>• internal business factors – e.g. following a change in senior managers and other decision-makers; as a business grows and increases its workload</a:t>
            </a:r>
          </a:p>
          <a:p>
            <a:r>
              <a:rPr lang="en-GB" sz="1200" b="0" i="0" u="none" strike="noStrike" kern="1200" baseline="0" dirty="0">
                <a:solidFill>
                  <a:schemeClr val="tx1"/>
                </a:solidFill>
                <a:latin typeface="+mn-lt"/>
                <a:ea typeface="+mn-ea"/>
                <a:cs typeface="+mn-cs"/>
              </a:rPr>
              <a:t>• external business factors – e.g. fluctuations in currency exchange rates</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Q – Does anyone have any changes that need to be implemented in the near future within their role? Have a think about that and we will come back to it later. </a:t>
            </a:r>
          </a:p>
          <a:p>
            <a:endParaRPr lang="en-GB" sz="1200" b="0" i="0" u="none" strike="noStrike" kern="1200" baseline="0" dirty="0">
              <a:solidFill>
                <a:schemeClr val="tx1"/>
              </a:solidFill>
              <a:latin typeface="+mn-lt"/>
              <a:ea typeface="+mn-ea"/>
              <a:cs typeface="+mn-cs"/>
            </a:endParaRPr>
          </a:p>
          <a:p>
            <a:r>
              <a:rPr lang="en-GB" sz="1200" b="1" i="0" u="none" strike="noStrike" kern="1200" baseline="0" dirty="0">
                <a:solidFill>
                  <a:schemeClr val="tx1"/>
                </a:solidFill>
                <a:latin typeface="+mn-lt"/>
                <a:ea typeface="+mn-ea"/>
                <a:cs typeface="+mn-cs"/>
              </a:rPr>
              <a:t>X - </a:t>
            </a:r>
          </a:p>
          <a:p>
            <a:r>
              <a:rPr lang="en-GB" sz="1200" b="1" i="0" u="none" strike="noStrike" kern="1200" baseline="0" dirty="0">
                <a:solidFill>
                  <a:schemeClr val="tx1"/>
                </a:solidFill>
                <a:latin typeface="+mn-lt"/>
                <a:ea typeface="+mn-ea"/>
                <a:cs typeface="+mn-cs"/>
              </a:rPr>
              <a:t>Initiating Change</a:t>
            </a:r>
          </a:p>
          <a:p>
            <a:pPr>
              <a:buFont typeface="Wingdings" panose="05000000000000000000" pitchFamily="2" charset="2"/>
              <a:buChar char="Ø"/>
            </a:pPr>
            <a:r>
              <a:rPr lang="en-GB" sz="1200" b="1" dirty="0"/>
              <a:t>Where are we now?</a:t>
            </a:r>
          </a:p>
          <a:p>
            <a:pPr>
              <a:buFont typeface="Wingdings" panose="05000000000000000000" pitchFamily="2" charset="2"/>
              <a:buChar char="Ø"/>
            </a:pPr>
            <a:r>
              <a:rPr lang="en-GB" sz="1200" b="1" dirty="0"/>
              <a:t>Where do we need to be?</a:t>
            </a:r>
          </a:p>
          <a:p>
            <a:pPr>
              <a:buFont typeface="Wingdings" panose="05000000000000000000" pitchFamily="2" charset="2"/>
              <a:buChar char="Ø"/>
            </a:pPr>
            <a:r>
              <a:rPr lang="en-GB" sz="1200" b="1" dirty="0"/>
              <a:t>How do we get there?</a:t>
            </a:r>
          </a:p>
          <a:p>
            <a:endParaRPr lang="en-GB" sz="1200" b="0" i="0" u="none" strike="noStrike" kern="1200" baseline="0" dirty="0">
              <a:solidFill>
                <a:schemeClr val="tx1"/>
              </a:solidFill>
              <a:latin typeface="+mn-lt"/>
              <a:ea typeface="+mn-ea"/>
              <a:cs typeface="+mn-cs"/>
            </a:endParaRPr>
          </a:p>
          <a:p>
            <a:endParaRPr lang="en-GB" baseline="0" dirty="0"/>
          </a:p>
          <a:p>
            <a:endParaRPr lang="en-GB" dirty="0"/>
          </a:p>
          <a:p>
            <a:endParaRPr lang="en-GB" dirty="0"/>
          </a:p>
        </p:txBody>
      </p:sp>
      <p:sp>
        <p:nvSpPr>
          <p:cNvPr id="4" name="Slide Number Placeholder 3"/>
          <p:cNvSpPr>
            <a:spLocks noGrp="1"/>
          </p:cNvSpPr>
          <p:nvPr>
            <p:ph type="sldNum" sz="quarter" idx="10"/>
          </p:nvPr>
        </p:nvSpPr>
        <p:spPr/>
        <p:txBody>
          <a:bodyPr/>
          <a:lstStyle/>
          <a:p>
            <a:fld id="{3C2141A1-FA70-4217-A960-49FE662E2A30}" type="slidenum">
              <a:rPr lang="en-GB" smtClean="0"/>
              <a:t>55</a:t>
            </a:fld>
            <a:endParaRPr lang="en-GB" dirty="0"/>
          </a:p>
        </p:txBody>
      </p:sp>
    </p:spTree>
    <p:extLst>
      <p:ext uri="{BB962C8B-B14F-4D97-AF65-F5344CB8AC3E}">
        <p14:creationId xmlns:p14="http://schemas.microsoft.com/office/powerpoint/2010/main" val="114587836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dirty="0"/>
              <a:t>In your groups Thinking about change come up with at</a:t>
            </a:r>
            <a:r>
              <a:rPr lang="en-GB" baseline="0" dirty="0"/>
              <a:t> least 3 positive and negative impacts for individuals and teams </a:t>
            </a:r>
          </a:p>
          <a:p>
            <a:endParaRPr lang="en-GB" baseline="0" dirty="0"/>
          </a:p>
          <a:p>
            <a:endParaRPr lang="en-GB" baseline="0" dirty="0"/>
          </a:p>
          <a:p>
            <a:endParaRPr lang="en-GB" baseline="0" dirty="0"/>
          </a:p>
          <a:p>
            <a:r>
              <a:rPr lang="en-GB" baseline="0" dirty="0"/>
              <a:t>Positives</a:t>
            </a:r>
          </a:p>
          <a:p>
            <a:r>
              <a:rPr lang="en-GB" sz="1200" b="0" i="0" u="none" strike="noStrike" kern="1200" baseline="0" dirty="0">
                <a:solidFill>
                  <a:schemeClr val="tx1"/>
                </a:solidFill>
                <a:latin typeface="+mn-lt"/>
                <a:ea typeface="+mn-ea"/>
                <a:cs typeface="+mn-cs"/>
              </a:rPr>
              <a:t>Positive impacts for individuals and teams can include, for example:</a:t>
            </a:r>
          </a:p>
          <a:p>
            <a:r>
              <a:rPr lang="en-GB" sz="1200" b="0" i="0" u="none" strike="noStrike" kern="1200" baseline="0" dirty="0">
                <a:solidFill>
                  <a:schemeClr val="tx1"/>
                </a:solidFill>
                <a:latin typeface="+mn-lt"/>
                <a:ea typeface="+mn-ea"/>
                <a:cs typeface="+mn-cs"/>
              </a:rPr>
              <a:t>• improved career development opportunities and better job satisfaction</a:t>
            </a:r>
          </a:p>
          <a:p>
            <a:r>
              <a:rPr lang="en-GB" sz="1200" b="0" i="0" u="none" strike="noStrike" kern="1200" baseline="0" dirty="0">
                <a:solidFill>
                  <a:schemeClr val="tx1"/>
                </a:solidFill>
                <a:latin typeface="+mn-lt"/>
                <a:ea typeface="+mn-ea"/>
                <a:cs typeface="+mn-cs"/>
              </a:rPr>
              <a:t>• better working practices and better job security</a:t>
            </a:r>
          </a:p>
          <a:p>
            <a:r>
              <a:rPr lang="en-GB" sz="1200" b="0" i="0" u="none" strike="noStrike" kern="1200" baseline="0" dirty="0">
                <a:solidFill>
                  <a:schemeClr val="tx1"/>
                </a:solidFill>
                <a:latin typeface="+mn-lt"/>
                <a:ea typeface="+mn-ea"/>
                <a:cs typeface="+mn-cs"/>
              </a:rPr>
              <a:t>• reduced stress</a:t>
            </a:r>
          </a:p>
          <a:p>
            <a:r>
              <a:rPr lang="en-GB" sz="1200" b="0" i="0" u="none" strike="noStrike" kern="1200" baseline="0" dirty="0">
                <a:solidFill>
                  <a:schemeClr val="tx1"/>
                </a:solidFill>
                <a:latin typeface="+mn-lt"/>
                <a:ea typeface="+mn-ea"/>
                <a:cs typeface="+mn-cs"/>
              </a:rPr>
              <a:t>• better teamwork</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Negatives</a:t>
            </a:r>
          </a:p>
          <a:p>
            <a:r>
              <a:rPr lang="en-GB" sz="1200" b="0" i="0" u="none" strike="noStrike" kern="1200" baseline="0" dirty="0">
                <a:solidFill>
                  <a:schemeClr val="tx1"/>
                </a:solidFill>
                <a:latin typeface="+mn-lt"/>
                <a:ea typeface="+mn-ea"/>
                <a:cs typeface="+mn-cs"/>
              </a:rPr>
              <a:t>Negative impacts on individuals and teams can include, for example:</a:t>
            </a:r>
          </a:p>
          <a:p>
            <a:r>
              <a:rPr lang="en-GB" sz="1200" b="0" i="0" u="none" strike="noStrike" kern="1200" baseline="0" dirty="0">
                <a:solidFill>
                  <a:schemeClr val="tx1"/>
                </a:solidFill>
                <a:latin typeface="+mn-lt"/>
                <a:ea typeface="+mn-ea"/>
                <a:cs typeface="+mn-cs"/>
              </a:rPr>
              <a:t>• uncertainty</a:t>
            </a:r>
          </a:p>
          <a:p>
            <a:r>
              <a:rPr lang="en-GB" sz="1200" b="0" i="0" u="none" strike="noStrike" kern="1200" baseline="0" dirty="0">
                <a:solidFill>
                  <a:schemeClr val="tx1"/>
                </a:solidFill>
                <a:latin typeface="+mn-lt"/>
                <a:ea typeface="+mn-ea"/>
                <a:cs typeface="+mn-cs"/>
              </a:rPr>
              <a:t>• stress, worry and concern</a:t>
            </a:r>
          </a:p>
          <a:p>
            <a:r>
              <a:rPr lang="en-GB" sz="1200" b="0" i="0" u="none" strike="noStrike" kern="1200" baseline="0" dirty="0">
                <a:solidFill>
                  <a:schemeClr val="tx1"/>
                </a:solidFill>
                <a:latin typeface="+mn-lt"/>
                <a:ea typeface="+mn-ea"/>
                <a:cs typeface="+mn-cs"/>
              </a:rPr>
              <a:t>• conflict within the team</a:t>
            </a:r>
          </a:p>
          <a:p>
            <a:endParaRPr lang="en-GB" sz="1200" b="0" i="0" u="none" strike="noStrike" kern="1200" baseline="0" dirty="0">
              <a:solidFill>
                <a:schemeClr val="tx1"/>
              </a:solidFill>
              <a:latin typeface="+mn-lt"/>
              <a:ea typeface="+mn-ea"/>
              <a:cs typeface="+mn-cs"/>
            </a:endParaRPr>
          </a:p>
          <a:p>
            <a:r>
              <a:rPr lang="en-GB" baseline="0" dirty="0"/>
              <a:t>We are going to look at a three models for change today. </a:t>
            </a:r>
          </a:p>
          <a:p>
            <a:r>
              <a:rPr lang="en-GB" baseline="0" dirty="0"/>
              <a:t>ADKAR</a:t>
            </a:r>
          </a:p>
          <a:p>
            <a:r>
              <a:rPr lang="en-GB" baseline="0" dirty="0"/>
              <a:t>The Change Curve</a:t>
            </a:r>
          </a:p>
          <a:p>
            <a:r>
              <a:rPr lang="en-GB" baseline="0" dirty="0"/>
              <a:t>Kotter’s 8-stage change model</a:t>
            </a:r>
          </a:p>
          <a:p>
            <a:endParaRPr lang="en-GB" baseline="0" dirty="0"/>
          </a:p>
          <a:p>
            <a:r>
              <a:rPr lang="en-GB" baseline="0" dirty="0"/>
              <a:t>(Give each group one of the above to research (30 minutes to research) and then present back to the group as a whole (10 minutes . Then 5 minutes each to discuss any questions that arise and fill in any gaps if required) </a:t>
            </a:r>
          </a:p>
          <a:p>
            <a:endParaRPr lang="en-GB" dirty="0"/>
          </a:p>
        </p:txBody>
      </p:sp>
      <p:sp>
        <p:nvSpPr>
          <p:cNvPr id="4" name="Slide Number Placeholder 3"/>
          <p:cNvSpPr>
            <a:spLocks noGrp="1"/>
          </p:cNvSpPr>
          <p:nvPr>
            <p:ph type="sldNum" sz="quarter" idx="10"/>
          </p:nvPr>
        </p:nvSpPr>
        <p:spPr/>
        <p:txBody>
          <a:bodyPr/>
          <a:lstStyle/>
          <a:p>
            <a:fld id="{3C2141A1-FA70-4217-A960-49FE662E2A30}" type="slidenum">
              <a:rPr lang="en-GB" smtClean="0"/>
              <a:t>56</a:t>
            </a:fld>
            <a:endParaRPr lang="en-GB" dirty="0"/>
          </a:p>
        </p:txBody>
      </p:sp>
    </p:spTree>
    <p:extLst>
      <p:ext uri="{BB962C8B-B14F-4D97-AF65-F5344CB8AC3E}">
        <p14:creationId xmlns:p14="http://schemas.microsoft.com/office/powerpoint/2010/main" val="70005038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Ask the group to present their findings. (Details on</a:t>
            </a:r>
            <a:r>
              <a:rPr lang="en-GB" sz="1200" b="0" i="0" u="none" strike="noStrike" kern="1200" baseline="0" dirty="0">
                <a:solidFill>
                  <a:schemeClr val="tx1"/>
                </a:solidFill>
                <a:effectLst/>
                <a:latin typeface="+mn-lt"/>
                <a:ea typeface="+mn-ea"/>
                <a:cs typeface="+mn-cs"/>
              </a:rPr>
              <a:t> screen and below can be  covered if required after the group has completed the presentation) </a:t>
            </a:r>
            <a:endParaRPr lang="en-GB" sz="1200" b="0" i="0" u="none" strike="noStrike" kern="1200" dirty="0">
              <a:solidFill>
                <a:schemeClr val="tx1"/>
              </a:solidFill>
              <a:effectLst/>
              <a:latin typeface="+mn-lt"/>
              <a:ea typeface="+mn-ea"/>
              <a:cs typeface="+mn-cs"/>
            </a:endParaRPr>
          </a:p>
          <a:p>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What is the ADKAR Model? </a:t>
            </a:r>
          </a:p>
          <a:p>
            <a:r>
              <a:rPr lang="en-GB" sz="1200" b="0" i="0" u="none" strike="noStrike" kern="1200" dirty="0">
                <a:solidFill>
                  <a:schemeClr val="tx1"/>
                </a:solidFill>
                <a:effectLst/>
                <a:latin typeface="+mn-lt"/>
                <a:ea typeface="+mn-ea"/>
                <a:cs typeface="+mn-cs"/>
              </a:rPr>
              <a:t>The Prosci ADKAR® Model is a goal-oriented change management model that guides individual and organizational change. ADKAR is an acronym that represents the five tangible and concrete outcomes that people need to achieve for lasting change: </a:t>
            </a:r>
            <a:r>
              <a:rPr lang="en-GB" sz="1200" b="0" i="1" u="none" strike="noStrike" kern="1200" dirty="0">
                <a:solidFill>
                  <a:schemeClr val="tx1"/>
                </a:solidFill>
                <a:effectLst/>
                <a:latin typeface="+mn-lt"/>
                <a:ea typeface="+mn-ea"/>
                <a:cs typeface="+mn-cs"/>
              </a:rPr>
              <a:t>awareness</a:t>
            </a:r>
            <a:r>
              <a:rPr lang="en-GB" sz="1200" b="0" i="0" u="none" strike="noStrike" kern="1200" dirty="0">
                <a:solidFill>
                  <a:schemeClr val="tx1"/>
                </a:solidFill>
                <a:effectLst/>
                <a:latin typeface="+mn-lt"/>
                <a:ea typeface="+mn-ea"/>
                <a:cs typeface="+mn-cs"/>
              </a:rPr>
              <a:t>, </a:t>
            </a:r>
            <a:r>
              <a:rPr lang="en-GB" sz="1200" b="0" i="1" u="none" strike="noStrike" kern="1200" dirty="0">
                <a:solidFill>
                  <a:schemeClr val="tx1"/>
                </a:solidFill>
                <a:effectLst/>
                <a:latin typeface="+mn-lt"/>
                <a:ea typeface="+mn-ea"/>
                <a:cs typeface="+mn-cs"/>
              </a:rPr>
              <a:t>desire</a:t>
            </a:r>
            <a:r>
              <a:rPr lang="en-GB" sz="1200" b="0" i="0" u="none" strike="noStrike" kern="1200" dirty="0">
                <a:solidFill>
                  <a:schemeClr val="tx1"/>
                </a:solidFill>
                <a:effectLst/>
                <a:latin typeface="+mn-lt"/>
                <a:ea typeface="+mn-ea"/>
                <a:cs typeface="+mn-cs"/>
              </a:rPr>
              <a:t>, </a:t>
            </a:r>
            <a:r>
              <a:rPr lang="en-GB" sz="1200" b="0" i="1" u="none" strike="noStrike" kern="1200" dirty="0">
                <a:solidFill>
                  <a:schemeClr val="tx1"/>
                </a:solidFill>
                <a:effectLst/>
                <a:latin typeface="+mn-lt"/>
                <a:ea typeface="+mn-ea"/>
                <a:cs typeface="+mn-cs"/>
              </a:rPr>
              <a:t>knowledge</a:t>
            </a:r>
            <a:r>
              <a:rPr lang="en-GB" sz="1200" b="0" i="0" u="none" strike="noStrike" kern="1200" dirty="0">
                <a:solidFill>
                  <a:schemeClr val="tx1"/>
                </a:solidFill>
                <a:effectLst/>
                <a:latin typeface="+mn-lt"/>
                <a:ea typeface="+mn-ea"/>
                <a:cs typeface="+mn-cs"/>
              </a:rPr>
              <a:t>, </a:t>
            </a:r>
            <a:r>
              <a:rPr lang="en-GB" sz="1200" b="0" i="1" u="none" strike="noStrike" kern="1200" dirty="0">
                <a:solidFill>
                  <a:schemeClr val="tx1"/>
                </a:solidFill>
                <a:effectLst/>
                <a:latin typeface="+mn-lt"/>
                <a:ea typeface="+mn-ea"/>
                <a:cs typeface="+mn-cs"/>
              </a:rPr>
              <a:t>ability</a:t>
            </a:r>
            <a:r>
              <a:rPr lang="en-GB" sz="1200" b="0" i="0" u="none" strike="noStrike" kern="1200" dirty="0">
                <a:solidFill>
                  <a:schemeClr val="tx1"/>
                </a:solidFill>
                <a:effectLst/>
                <a:latin typeface="+mn-lt"/>
                <a:ea typeface="+mn-ea"/>
                <a:cs typeface="+mn-cs"/>
              </a:rPr>
              <a:t> and </a:t>
            </a:r>
            <a:r>
              <a:rPr lang="en-GB" sz="1200" b="0" i="1" u="none" strike="noStrike" kern="1200" dirty="0">
                <a:solidFill>
                  <a:schemeClr val="tx1"/>
                </a:solidFill>
                <a:effectLst/>
                <a:latin typeface="+mn-lt"/>
                <a:ea typeface="+mn-ea"/>
                <a:cs typeface="+mn-cs"/>
              </a:rPr>
              <a:t>reinforcement</a:t>
            </a:r>
            <a:r>
              <a:rPr lang="en-GB" sz="1200" b="0" i="0" u="none" strike="noStrike" kern="1200" dirty="0">
                <a:solidFill>
                  <a:schemeClr val="tx1"/>
                </a:solidFill>
                <a:effectLst/>
                <a:latin typeface="+mn-lt"/>
                <a:ea typeface="+mn-ea"/>
                <a:cs typeface="+mn-cs"/>
              </a:rPr>
              <a:t>. </a:t>
            </a:r>
          </a:p>
          <a:p>
            <a:r>
              <a:rPr lang="en-GB" sz="1200" b="0" i="0" u="none" strike="noStrike" kern="1200" baseline="0" dirty="0">
                <a:solidFill>
                  <a:schemeClr val="tx1"/>
                </a:solidFill>
                <a:latin typeface="+mn-lt"/>
                <a:ea typeface="+mn-ea"/>
                <a:cs typeface="+mn-cs"/>
              </a:rPr>
              <a:t> </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ADKAR</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u="none" strike="noStrike" kern="1200" baseline="0" dirty="0">
                <a:solidFill>
                  <a:schemeClr val="tx1"/>
                </a:solidFill>
                <a:latin typeface="+mn-lt"/>
                <a:ea typeface="+mn-ea"/>
                <a:cs typeface="+mn-cs"/>
              </a:rPr>
              <a:t>This process was developed in 1999 by Prosci </a:t>
            </a:r>
            <a:r>
              <a:rPr lang="en-GB" sz="1200" b="0" i="0" u="none" strike="noStrike" kern="1200" dirty="0">
                <a:solidFill>
                  <a:schemeClr val="tx1"/>
                </a:solidFill>
                <a:effectLst/>
                <a:latin typeface="+mn-lt"/>
                <a:ea typeface="+mn-ea"/>
                <a:cs typeface="+mn-cs"/>
              </a:rPr>
              <a:t>a renowned change management consultancy and learning centre</a:t>
            </a:r>
            <a:r>
              <a:rPr lang="en-GB" sz="1200" b="0" i="0" u="none" strike="noStrike" kern="1200" baseline="0" dirty="0">
                <a:solidFill>
                  <a:schemeClr val="tx1"/>
                </a:solidFill>
                <a:effectLst/>
                <a:latin typeface="+mn-lt"/>
                <a:ea typeface="+mn-ea"/>
                <a:cs typeface="+mn-cs"/>
              </a:rPr>
              <a:t> </a:t>
            </a:r>
            <a:r>
              <a:rPr lang="en-GB" sz="1200" b="0" i="0" u="none" strike="noStrike" kern="1200" baseline="0" dirty="0">
                <a:solidFill>
                  <a:schemeClr val="tx1"/>
                </a:solidFill>
                <a:latin typeface="+mn-lt"/>
                <a:ea typeface="+mn-ea"/>
                <a:cs typeface="+mn-cs"/>
              </a:rPr>
              <a:t> (Developed by Jeff Hiatt) in the United States. It is an outcome-orientated model and is based on:</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Awareness – of the need for change – individuals need to understand the need for change, and planned communication is vital.</a:t>
            </a:r>
          </a:p>
          <a:p>
            <a:r>
              <a:rPr lang="en-GB" sz="1200" b="0" i="0" u="none" strike="noStrike" kern="1200" baseline="0" dirty="0">
                <a:solidFill>
                  <a:schemeClr val="tx1"/>
                </a:solidFill>
                <a:latin typeface="+mn-lt"/>
                <a:ea typeface="+mn-ea"/>
                <a:cs typeface="+mn-cs"/>
              </a:rPr>
              <a:t>Desire – to participate in the change – once fully aware of the reasons behind the plans for change, individuals make a personal decision to support and participate. This is</a:t>
            </a:r>
          </a:p>
          <a:p>
            <a:r>
              <a:rPr lang="en-GB" sz="1200" b="0" i="0" u="none" strike="noStrike" kern="1200" baseline="0" dirty="0">
                <a:solidFill>
                  <a:schemeClr val="tx1"/>
                </a:solidFill>
                <a:latin typeface="+mn-lt"/>
                <a:ea typeface="+mn-ea"/>
                <a:cs typeface="+mn-cs"/>
              </a:rPr>
              <a:t>done using incentives and creating a desire to be part of the change.</a:t>
            </a:r>
          </a:p>
          <a:p>
            <a:r>
              <a:rPr lang="en-GB" sz="1200" b="0" i="0" u="none" strike="noStrike" kern="1200" baseline="0" dirty="0">
                <a:solidFill>
                  <a:schemeClr val="tx1"/>
                </a:solidFill>
                <a:latin typeface="+mn-lt"/>
                <a:ea typeface="+mn-ea"/>
                <a:cs typeface="+mn-cs"/>
              </a:rPr>
              <a:t>Knowledge – about how to change – this is the stage that involves learning and development activities. These could be training courses, coaching sessions, mentoring, discussion forums or other learning methods. Individuals need to know about the transition into the new systems, and how to operate once the new systems have become established.</a:t>
            </a:r>
          </a:p>
          <a:p>
            <a:r>
              <a:rPr lang="en-GB" sz="1200" b="0" i="0" u="none" strike="noStrike" kern="1200" baseline="0" dirty="0">
                <a:solidFill>
                  <a:schemeClr val="tx1"/>
                </a:solidFill>
                <a:latin typeface="+mn-lt"/>
                <a:ea typeface="+mn-ea"/>
                <a:cs typeface="+mn-cs"/>
              </a:rPr>
              <a:t>Ability – to implement change – individuals put the theory into practice. They are supported with ongoing training, coaching and feedback sessions as they develop their new skills and behaviours.</a:t>
            </a:r>
          </a:p>
          <a:p>
            <a:r>
              <a:rPr lang="en-GB" sz="1200" b="0" i="0" u="none" strike="noStrike" kern="1200" baseline="0" dirty="0">
                <a:solidFill>
                  <a:schemeClr val="tx1"/>
                </a:solidFill>
                <a:latin typeface="+mn-lt"/>
                <a:ea typeface="+mn-ea"/>
                <a:cs typeface="+mn-cs"/>
              </a:rPr>
              <a:t>Reinforcement – to sustain the change – this stage makes sure that individuals do not slip back into old ways so that change can be sustained. This is achieved through positive feedback, rewards and incentives, and by measuring performance and adjusting when necessary.</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The ADKAR model focuses on the individual and outcomes, rather than the tasks being performed.</a:t>
            </a:r>
          </a:p>
          <a:p>
            <a:r>
              <a:rPr lang="en-GB" sz="1200" b="0" i="0" u="none" strike="noStrike" kern="1200" baseline="0" dirty="0">
                <a:solidFill>
                  <a:schemeClr val="tx1"/>
                </a:solidFill>
                <a:latin typeface="+mn-lt"/>
                <a:ea typeface="+mn-ea"/>
                <a:cs typeface="+mn-cs"/>
              </a:rPr>
              <a:t>It is flexible and can be used for big projects or individual development. It is considered better than some models because it addresses the sustainability and reinforcement of change, something that is neglected by many organisations that fail to bring about change in the long term.</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When supporting a team through change, managers can use this theory to plan their strategies to:</a:t>
            </a:r>
          </a:p>
          <a:p>
            <a:r>
              <a:rPr lang="en-GB" sz="1200" b="0" i="0" u="none" strike="noStrike" kern="1200" baseline="0" dirty="0">
                <a:solidFill>
                  <a:schemeClr val="tx1"/>
                </a:solidFill>
                <a:latin typeface="+mn-lt"/>
                <a:ea typeface="+mn-ea"/>
                <a:cs typeface="+mn-cs"/>
              </a:rPr>
              <a:t>• inform their team about the need for change</a:t>
            </a:r>
          </a:p>
          <a:p>
            <a:r>
              <a:rPr lang="en-GB" sz="1200" b="0" i="0" u="none" strike="noStrike" kern="1200" baseline="0" dirty="0">
                <a:solidFill>
                  <a:schemeClr val="tx1"/>
                </a:solidFill>
                <a:latin typeface="+mn-lt"/>
                <a:ea typeface="+mn-ea"/>
                <a:cs typeface="+mn-cs"/>
              </a:rPr>
              <a:t>• gain team members’ desire to be part of the change</a:t>
            </a:r>
          </a:p>
          <a:p>
            <a:r>
              <a:rPr lang="en-GB" sz="1200" b="0" i="0" u="none" strike="noStrike" kern="1200" baseline="0" dirty="0">
                <a:solidFill>
                  <a:schemeClr val="tx1"/>
                </a:solidFill>
                <a:latin typeface="+mn-lt"/>
                <a:ea typeface="+mn-ea"/>
                <a:cs typeface="+mn-cs"/>
              </a:rPr>
              <a:t>• give members information about the change</a:t>
            </a:r>
          </a:p>
          <a:p>
            <a:r>
              <a:rPr lang="en-GB" sz="1200" b="0" i="0" u="none" strike="noStrike" kern="1200" baseline="0" dirty="0">
                <a:solidFill>
                  <a:schemeClr val="tx1"/>
                </a:solidFill>
                <a:latin typeface="+mn-lt"/>
                <a:ea typeface="+mn-ea"/>
                <a:cs typeface="+mn-cs"/>
              </a:rPr>
              <a:t>• make sure that they have the training, knowledge and ability to implement the change</a:t>
            </a:r>
          </a:p>
          <a:p>
            <a:r>
              <a:rPr lang="en-GB" sz="1200" b="0" i="0" u="none" strike="noStrike" kern="1200" baseline="0" dirty="0">
                <a:solidFill>
                  <a:schemeClr val="tx1"/>
                </a:solidFill>
                <a:latin typeface="+mn-lt"/>
                <a:ea typeface="+mn-ea"/>
                <a:cs typeface="+mn-cs"/>
              </a:rPr>
              <a:t>• monitor performance and give feedback and praise once change has taken place</a:t>
            </a:r>
          </a:p>
          <a:p>
            <a:endParaRPr lang="en-GB" sz="1200" b="0" i="0" u="none" strike="noStrike" kern="1200" baseline="0" dirty="0">
              <a:solidFill>
                <a:schemeClr val="tx1"/>
              </a:solidFill>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3C2141A1-FA70-4217-A960-49FE662E2A30}" type="slidenum">
              <a:rPr lang="en-GB" smtClean="0"/>
              <a:t>57</a:t>
            </a:fld>
            <a:endParaRPr lang="en-GB" dirty="0"/>
          </a:p>
        </p:txBody>
      </p:sp>
    </p:spTree>
    <p:extLst>
      <p:ext uri="{BB962C8B-B14F-4D97-AF65-F5344CB8AC3E}">
        <p14:creationId xmlns:p14="http://schemas.microsoft.com/office/powerpoint/2010/main" val="395996440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The Change Curve</a:t>
            </a:r>
          </a:p>
          <a:p>
            <a:r>
              <a:rPr lang="en-GB" sz="1200" b="0" i="0" u="none" strike="noStrike" kern="1200" baseline="0" dirty="0">
                <a:solidFill>
                  <a:schemeClr val="tx1"/>
                </a:solidFill>
                <a:latin typeface="+mn-lt"/>
                <a:ea typeface="+mn-ea"/>
                <a:cs typeface="+mn-cs"/>
              </a:rPr>
              <a:t>The Change Curve was developed in the 1960s by Elisabeth Kubler-Ross to explain the grieving process. It has since been developed and applied to change management, helping to explain people’s reactions to major upheaval and change. It is a useful tool when managing individual or team change as it helps managers to decide what level of support someone needs.</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It is based on three stages:</a:t>
            </a:r>
          </a:p>
          <a:p>
            <a:r>
              <a:rPr lang="en-GB" sz="1200" b="0" i="0" u="none" strike="noStrike" kern="1200" baseline="0" dirty="0">
                <a:solidFill>
                  <a:schemeClr val="tx1"/>
                </a:solidFill>
                <a:latin typeface="+mn-lt"/>
                <a:ea typeface="+mn-ea"/>
                <a:cs typeface="+mn-cs"/>
              </a:rPr>
              <a:t>Stage 1 – shock and denial</a:t>
            </a:r>
          </a:p>
          <a:p>
            <a:r>
              <a:rPr lang="en-GB" sz="1200" b="0" i="0" u="none" strike="noStrike" kern="1200" baseline="0" dirty="0">
                <a:solidFill>
                  <a:schemeClr val="tx1"/>
                </a:solidFill>
                <a:latin typeface="+mn-lt"/>
                <a:ea typeface="+mn-ea"/>
                <a:cs typeface="+mn-cs"/>
              </a:rPr>
              <a:t>Shock is often the first reaction to change, and can be caused by lack of information, fear of the unknown, fear of looking unknowledgeable or doing something wrong. Shock can lead to decreased performance and people needing more reassurance and guidance. It can be followed by denial, when people convince themselves that change is not happening, or that it will not affect them. They can feel threatened and afraid of failure.</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Stage 2 – anger and depression</a:t>
            </a:r>
          </a:p>
          <a:p>
            <a:r>
              <a:rPr lang="en-GB" sz="1200" b="0" i="0" u="none" strike="noStrike" kern="1200" baseline="0" dirty="0">
                <a:solidFill>
                  <a:schemeClr val="tx1"/>
                </a:solidFill>
                <a:latin typeface="+mn-lt"/>
                <a:ea typeface="+mn-ea"/>
                <a:cs typeface="+mn-cs"/>
              </a:rPr>
              <a:t>Anger is often the next reaction to change as people try to find someone to blame – e.g. managers or the organisation. Common feelings include suspicion, scepticism or frustration. When anger wears off, it is frequently replaced by depression, which presents itself as apathy, isolation and remoteness.</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Stage 3 – acceptance and integration</a:t>
            </a:r>
          </a:p>
          <a:p>
            <a:r>
              <a:rPr lang="en-GB" sz="1200" b="0" i="0" u="none" strike="noStrike" kern="1200" baseline="0" dirty="0">
                <a:solidFill>
                  <a:schemeClr val="tx1"/>
                </a:solidFill>
                <a:latin typeface="+mn-lt"/>
                <a:ea typeface="+mn-ea"/>
                <a:cs typeface="+mn-cs"/>
              </a:rPr>
              <a:t>After the negative and difficult emotions in the first two stages, optimism and enthusiasm start to return in the final stage. People accept that change is inevitable and begin to embrace exciting new opportunities. Integration is the final step, encompassing acceptance, hope and trust. It is not uncommon for people to return to the previous stages if the level of support drops, so good communication is critical to enable the optimism and enthusiasm to continue and develop.</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When supporting the team through a period of change, this theory helps managers to understand how the negative emotions in the early stages usually lead to more positive emotions and enthusiasm. This needs to be communicated to team members, so that they understand the process too and do not dwell on their negative reactions.</a:t>
            </a:r>
          </a:p>
        </p:txBody>
      </p:sp>
      <p:sp>
        <p:nvSpPr>
          <p:cNvPr id="4" name="Slide Number Placeholder 3"/>
          <p:cNvSpPr>
            <a:spLocks noGrp="1"/>
          </p:cNvSpPr>
          <p:nvPr>
            <p:ph type="sldNum" sz="quarter" idx="10"/>
          </p:nvPr>
        </p:nvSpPr>
        <p:spPr/>
        <p:txBody>
          <a:bodyPr/>
          <a:lstStyle/>
          <a:p>
            <a:fld id="{3C2141A1-FA70-4217-A960-49FE662E2A30}" type="slidenum">
              <a:rPr lang="en-GB" smtClean="0"/>
              <a:t>58</a:t>
            </a:fld>
            <a:endParaRPr lang="en-GB" dirty="0"/>
          </a:p>
        </p:txBody>
      </p:sp>
    </p:spTree>
    <p:extLst>
      <p:ext uri="{BB962C8B-B14F-4D97-AF65-F5344CB8AC3E}">
        <p14:creationId xmlns:p14="http://schemas.microsoft.com/office/powerpoint/2010/main" val="86113062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C2141A1-FA70-4217-A960-49FE662E2A30}" type="slidenum">
              <a:rPr lang="en-GB" smtClean="0"/>
              <a:t>59</a:t>
            </a:fld>
            <a:endParaRPr lang="en-GB" dirty="0"/>
          </a:p>
        </p:txBody>
      </p:sp>
    </p:spTree>
    <p:extLst>
      <p:ext uri="{BB962C8B-B14F-4D97-AF65-F5344CB8AC3E}">
        <p14:creationId xmlns:p14="http://schemas.microsoft.com/office/powerpoint/2010/main" val="393051905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Kotter’s 8-stage Change Model</a:t>
            </a:r>
          </a:p>
          <a:p>
            <a:r>
              <a:rPr lang="en-GB" sz="1200" b="0" i="0" u="none" strike="noStrike" kern="1200" baseline="0" dirty="0">
                <a:solidFill>
                  <a:schemeClr val="tx1"/>
                </a:solidFill>
                <a:latin typeface="+mn-lt"/>
                <a:ea typeface="+mn-ea"/>
                <a:cs typeface="+mn-cs"/>
              </a:rPr>
              <a:t>Developed in 1996, the stages of Kotter’s change model are:</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1. Establish a sense of urgency – e.g. use open and honest dialogue to show what is happening and why change is needed.</a:t>
            </a:r>
          </a:p>
          <a:p>
            <a:r>
              <a:rPr lang="en-GB" sz="1200" b="0" i="0" u="none" strike="noStrike" kern="1200" baseline="0" dirty="0">
                <a:solidFill>
                  <a:schemeClr val="tx1"/>
                </a:solidFill>
                <a:latin typeface="+mn-lt"/>
                <a:ea typeface="+mn-ea"/>
                <a:cs typeface="+mn-cs"/>
              </a:rPr>
              <a:t>2. Create a guiding coalition – e.g. convince people that change is necessary; bring together a strong coalition or team of leaders from different departments to guide the team.</a:t>
            </a:r>
          </a:p>
          <a:p>
            <a:r>
              <a:rPr lang="en-GB" sz="1200" b="0" i="0" u="none" strike="noStrike" kern="1200" baseline="0" dirty="0">
                <a:solidFill>
                  <a:schemeClr val="tx1"/>
                </a:solidFill>
                <a:latin typeface="+mn-lt"/>
                <a:ea typeface="+mn-ea"/>
                <a:cs typeface="+mn-cs"/>
              </a:rPr>
              <a:t>3. Develop a shared vision – e.g. link the different ideas and solutions to establish a shared view; create a strategy.</a:t>
            </a:r>
          </a:p>
          <a:p>
            <a:r>
              <a:rPr lang="en-GB" sz="1200" b="0" i="0" u="none" strike="noStrike" kern="1200" baseline="0" dirty="0">
                <a:solidFill>
                  <a:schemeClr val="tx1"/>
                </a:solidFill>
                <a:latin typeface="+mn-lt"/>
                <a:ea typeface="+mn-ea"/>
                <a:cs typeface="+mn-cs"/>
              </a:rPr>
              <a:t>4. Communicate the vision – e.g. communicate the message and vision frequently and efficiently; address concerns openly; apply the vision to all aspects of the organisation; lead by example.</a:t>
            </a:r>
          </a:p>
          <a:p>
            <a:r>
              <a:rPr lang="en-GB" sz="1200" b="0" i="0" u="none" strike="noStrike" kern="1200" baseline="0" dirty="0">
                <a:solidFill>
                  <a:schemeClr val="tx1"/>
                </a:solidFill>
                <a:latin typeface="+mn-lt"/>
                <a:ea typeface="+mn-ea"/>
                <a:cs typeface="+mn-cs"/>
              </a:rPr>
              <a:t>5. Empower people to act on the vision – e.g. remove obstacles that may stop progress; review structures for change and remove barriers; identify people who are resisting the change and help them through the process.</a:t>
            </a:r>
          </a:p>
          <a:p>
            <a:r>
              <a:rPr lang="en-GB" sz="1200" b="0" i="0" u="none" strike="noStrike" kern="1200" baseline="0" dirty="0">
                <a:solidFill>
                  <a:schemeClr val="tx1"/>
                </a:solidFill>
                <a:latin typeface="+mn-lt"/>
                <a:ea typeface="+mn-ea"/>
                <a:cs typeface="+mn-cs"/>
              </a:rPr>
              <a:t>6. Create short-term wins to motivate with success – e.g. set smaller objectives that can be achieved, praised and rewarded.</a:t>
            </a:r>
          </a:p>
          <a:p>
            <a:r>
              <a:rPr lang="en-GB" sz="1200" b="0" i="0" u="none" strike="noStrike" kern="1200" baseline="0" dirty="0">
                <a:solidFill>
                  <a:schemeClr val="tx1"/>
                </a:solidFill>
                <a:latin typeface="+mn-lt"/>
                <a:ea typeface="+mn-ea"/>
                <a:cs typeface="+mn-cs"/>
              </a:rPr>
              <a:t>7. Consolidate and build on the change – e.g. avoid declaring victory too early; analyse each ‘win’ for success and areas for improvement; set goals to continue the momentum.</a:t>
            </a:r>
          </a:p>
          <a:p>
            <a:r>
              <a:rPr lang="en-GB" sz="1200" b="0" i="0" u="none" strike="noStrike" kern="1200" baseline="0" dirty="0">
                <a:solidFill>
                  <a:schemeClr val="tx1"/>
                </a:solidFill>
                <a:latin typeface="+mn-lt"/>
                <a:ea typeface="+mn-ea"/>
                <a:cs typeface="+mn-cs"/>
              </a:rPr>
              <a:t>8. Institutionalise the change – e.g. make the changes part of the core of the organisation; talk about progress; include changes within training and recruitment practices.</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This model breaks down the stages of change into smaller parts, and these can be useful when a manager is supporting their team. For example, managers can support the team members through a period of change by:</a:t>
            </a:r>
          </a:p>
          <a:p>
            <a:r>
              <a:rPr lang="en-GB" sz="1200" b="0" i="0" u="none" strike="noStrike" kern="1200" baseline="0" dirty="0">
                <a:solidFill>
                  <a:schemeClr val="tx1"/>
                </a:solidFill>
                <a:latin typeface="+mn-lt"/>
                <a:ea typeface="+mn-ea"/>
                <a:cs typeface="+mn-cs"/>
              </a:rPr>
              <a:t>• being honest and open about the reasons for the change</a:t>
            </a:r>
          </a:p>
          <a:p>
            <a:r>
              <a:rPr lang="en-GB" sz="1200" b="0" i="0" u="none" strike="noStrike" kern="1200" baseline="0" dirty="0">
                <a:solidFill>
                  <a:schemeClr val="tx1"/>
                </a:solidFill>
                <a:latin typeface="+mn-lt"/>
                <a:ea typeface="+mn-ea"/>
                <a:cs typeface="+mn-cs"/>
              </a:rPr>
              <a:t>• guiding the team and developing a shared strategy</a:t>
            </a:r>
          </a:p>
          <a:p>
            <a:r>
              <a:rPr lang="en-GB" sz="1200" b="0" i="0" u="none" strike="noStrike" kern="1200" baseline="0" dirty="0">
                <a:solidFill>
                  <a:schemeClr val="tx1"/>
                </a:solidFill>
                <a:latin typeface="+mn-lt"/>
                <a:ea typeface="+mn-ea"/>
                <a:cs typeface="+mn-cs"/>
              </a:rPr>
              <a:t>• communicating the message and removing obstacles that may stop progress</a:t>
            </a:r>
          </a:p>
          <a:p>
            <a:r>
              <a:rPr lang="en-GB" sz="1200" b="0" i="0" u="none" strike="noStrike" kern="1200" baseline="0" dirty="0">
                <a:solidFill>
                  <a:schemeClr val="tx1"/>
                </a:solidFill>
                <a:latin typeface="+mn-lt"/>
                <a:ea typeface="+mn-ea"/>
                <a:cs typeface="+mn-cs"/>
              </a:rPr>
              <a:t>• setting smaller objectives and building on success</a:t>
            </a:r>
          </a:p>
          <a:p>
            <a:r>
              <a:rPr lang="en-GB" sz="1200" b="0" i="0" u="none" strike="noStrike" kern="1200" baseline="0" dirty="0">
                <a:solidFill>
                  <a:schemeClr val="tx1"/>
                </a:solidFill>
                <a:latin typeface="+mn-lt"/>
                <a:ea typeface="+mn-ea"/>
                <a:cs typeface="+mn-cs"/>
              </a:rPr>
              <a:t>• making the changes part of everyday life at work</a:t>
            </a:r>
            <a:endParaRPr lang="en-GB" dirty="0"/>
          </a:p>
        </p:txBody>
      </p:sp>
      <p:sp>
        <p:nvSpPr>
          <p:cNvPr id="4" name="Slide Number Placeholder 3"/>
          <p:cNvSpPr>
            <a:spLocks noGrp="1"/>
          </p:cNvSpPr>
          <p:nvPr>
            <p:ph type="sldNum" sz="quarter" idx="10"/>
          </p:nvPr>
        </p:nvSpPr>
        <p:spPr/>
        <p:txBody>
          <a:bodyPr/>
          <a:lstStyle/>
          <a:p>
            <a:fld id="{3C2141A1-FA70-4217-A960-49FE662E2A30}" type="slidenum">
              <a:rPr lang="en-GB" smtClean="0"/>
              <a:t>60</a:t>
            </a:fld>
            <a:endParaRPr lang="en-GB" dirty="0"/>
          </a:p>
        </p:txBody>
      </p:sp>
    </p:spTree>
    <p:extLst>
      <p:ext uri="{BB962C8B-B14F-4D97-AF65-F5344CB8AC3E}">
        <p14:creationId xmlns:p14="http://schemas.microsoft.com/office/powerpoint/2010/main" val="10284547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marL="0" indent="0">
              <a:buNone/>
            </a:pPr>
            <a:r>
              <a:rPr lang="en-GB" b="1" dirty="0"/>
              <a:t>Knowledge Activity 4:</a:t>
            </a:r>
          </a:p>
          <a:p>
            <a:pPr marL="0" indent="0">
              <a:buNone/>
            </a:pPr>
            <a:endParaRPr lang="en-GB" dirty="0"/>
          </a:p>
          <a:p>
            <a:pPr marL="0" indent="0">
              <a:buNone/>
            </a:pPr>
            <a:r>
              <a:rPr lang="en-GB" dirty="0"/>
              <a:t>Make a few notes about the possible consequences of not communicating well with team members during the implementation of change.</a:t>
            </a:r>
          </a:p>
          <a:p>
            <a:endParaRPr lang="en-GB" dirty="0"/>
          </a:p>
        </p:txBody>
      </p:sp>
      <p:sp>
        <p:nvSpPr>
          <p:cNvPr id="4" name="Slide Number Placeholder 3"/>
          <p:cNvSpPr>
            <a:spLocks noGrp="1"/>
          </p:cNvSpPr>
          <p:nvPr>
            <p:ph type="sldNum" sz="quarter" idx="10"/>
          </p:nvPr>
        </p:nvSpPr>
        <p:spPr/>
        <p:txBody>
          <a:bodyPr/>
          <a:lstStyle/>
          <a:p>
            <a:pPr marL="0" marR="0" lvl="0" indent="0" algn="r" defTabSz="713232" rtl="0" eaLnBrk="1" fontAlgn="auto" latinLnBrk="0" hangingPunct="1">
              <a:lnSpc>
                <a:spcPct val="100000"/>
              </a:lnSpc>
              <a:spcBef>
                <a:spcPts val="0"/>
              </a:spcBef>
              <a:spcAft>
                <a:spcPts val="0"/>
              </a:spcAft>
              <a:buClrTx/>
              <a:buSzTx/>
              <a:buFontTx/>
              <a:buNone/>
              <a:tabLst/>
              <a:defRPr/>
            </a:pPr>
            <a:fld id="{3C2141A1-FA70-4217-A960-49FE662E2A3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713232" rtl="0" eaLnBrk="1" fontAlgn="auto" latinLnBrk="0" hangingPunct="1">
                <a:lnSpc>
                  <a:spcPct val="100000"/>
                </a:lnSpc>
                <a:spcBef>
                  <a:spcPts val="0"/>
                </a:spcBef>
                <a:spcAft>
                  <a:spcPts val="0"/>
                </a:spcAft>
                <a:buClrTx/>
                <a:buSzTx/>
                <a:buFontTx/>
                <a:buNone/>
                <a:tabLst/>
                <a:defRPr/>
              </a:pPr>
              <a:t>61</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0681478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sz="1200" b="1" i="0" u="none" strike="noStrike" kern="1200" baseline="0" dirty="0">
                <a:solidFill>
                  <a:schemeClr val="tx1"/>
                </a:solidFill>
                <a:latin typeface="+mn-lt"/>
                <a:ea typeface="+mn-ea"/>
                <a:cs typeface="+mn-cs"/>
              </a:rPr>
              <a:t>In Workshop 1 we looked at this as a way of highlighting the main components of operational</a:t>
            </a:r>
          </a:p>
          <a:p>
            <a:r>
              <a:rPr lang="en-GB" sz="1200" b="1" i="0" u="none" strike="noStrike" kern="1200" baseline="0" dirty="0">
                <a:solidFill>
                  <a:schemeClr val="tx1"/>
                </a:solidFill>
                <a:latin typeface="+mn-lt"/>
                <a:ea typeface="+mn-ea"/>
                <a:cs typeface="+mn-cs"/>
              </a:rPr>
              <a:t>management and their interconnectivity. When applied to change management and planning</a:t>
            </a:r>
          </a:p>
          <a:p>
            <a:r>
              <a:rPr lang="en-GB" sz="1200" b="1" i="0" u="none" strike="noStrike" kern="1200" baseline="0" dirty="0">
                <a:solidFill>
                  <a:schemeClr val="tx1"/>
                </a:solidFill>
                <a:latin typeface="+mn-lt"/>
                <a:ea typeface="+mn-ea"/>
                <a:cs typeface="+mn-cs"/>
              </a:rPr>
              <a:t>change, establishing the link between the 7Ss and the impact the change will have on each area</a:t>
            </a:r>
          </a:p>
          <a:p>
            <a:r>
              <a:rPr lang="en-GB" sz="1200" b="1" i="0" u="none" strike="noStrike" kern="1200" baseline="0" dirty="0">
                <a:solidFill>
                  <a:schemeClr val="tx1"/>
                </a:solidFill>
                <a:latin typeface="+mn-lt"/>
                <a:ea typeface="+mn-ea"/>
                <a:cs typeface="+mn-cs"/>
              </a:rPr>
              <a:t>will inform specific task and activity planning.</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When using it as a tool for planning change the following questions are useful for each of the Ss:</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Structure</a:t>
            </a:r>
          </a:p>
          <a:p>
            <a:r>
              <a:rPr lang="en-GB" sz="1200" b="0" i="0" u="none" strike="noStrike" kern="1200" baseline="0" dirty="0">
                <a:solidFill>
                  <a:schemeClr val="tx1"/>
                </a:solidFill>
                <a:latin typeface="+mn-lt"/>
                <a:ea typeface="+mn-ea"/>
                <a:cs typeface="+mn-cs"/>
              </a:rPr>
              <a:t>• What is our current organisational/department/team structure?</a:t>
            </a:r>
          </a:p>
          <a:p>
            <a:r>
              <a:rPr lang="en-GB" sz="1200" b="0" i="0" u="none" strike="noStrike" kern="1200" baseline="0" dirty="0">
                <a:solidFill>
                  <a:schemeClr val="tx1"/>
                </a:solidFill>
                <a:latin typeface="+mn-lt"/>
                <a:ea typeface="+mn-ea"/>
                <a:cs typeface="+mn-cs"/>
              </a:rPr>
              <a:t>• What impact will the proposed change have on the structure?</a:t>
            </a:r>
          </a:p>
          <a:p>
            <a:r>
              <a:rPr lang="en-GB" sz="1200" b="0" i="0" u="none" strike="noStrike" kern="1200" baseline="0" dirty="0">
                <a:solidFill>
                  <a:schemeClr val="tx1"/>
                </a:solidFill>
                <a:latin typeface="+mn-lt"/>
                <a:ea typeface="+mn-ea"/>
                <a:cs typeface="+mn-cs"/>
              </a:rPr>
              <a:t>• How will the structure need to be revised to incorporate the change effectively?</a:t>
            </a:r>
          </a:p>
          <a:p>
            <a:r>
              <a:rPr lang="en-GB" sz="1200" b="0" i="0" u="none" strike="noStrike" kern="1200" baseline="0" dirty="0">
                <a:solidFill>
                  <a:schemeClr val="tx1"/>
                </a:solidFill>
                <a:latin typeface="+mn-lt"/>
                <a:ea typeface="+mn-ea"/>
                <a:cs typeface="+mn-cs"/>
              </a:rPr>
              <a:t>• How and when will this new structure be communicated?</a:t>
            </a:r>
          </a:p>
          <a:p>
            <a:r>
              <a:rPr lang="en-GB" sz="1200" b="0" i="0" u="none" strike="noStrike" kern="1200" baseline="0" dirty="0">
                <a:solidFill>
                  <a:schemeClr val="tx1"/>
                </a:solidFill>
                <a:latin typeface="+mn-lt"/>
                <a:ea typeface="+mn-ea"/>
                <a:cs typeface="+mn-cs"/>
              </a:rPr>
              <a:t>• Where are decisions made – is this going to support the proposed change?</a:t>
            </a:r>
          </a:p>
          <a:p>
            <a:r>
              <a:rPr lang="en-GB" sz="1200" b="0" i="0" u="none" strike="noStrike" kern="1200" baseline="0" dirty="0">
                <a:solidFill>
                  <a:schemeClr val="tx1"/>
                </a:solidFill>
                <a:latin typeface="+mn-lt"/>
                <a:ea typeface="+mn-ea"/>
                <a:cs typeface="+mn-cs"/>
              </a:rPr>
              <a:t>• Are the lines of communication clear and unambiguous?</a:t>
            </a:r>
          </a:p>
          <a:p>
            <a:r>
              <a:rPr lang="en-GB" sz="1200" b="0" i="0" u="none" strike="noStrike" kern="1200" baseline="0" dirty="0">
                <a:solidFill>
                  <a:schemeClr val="tx1"/>
                </a:solidFill>
                <a:latin typeface="+mn-lt"/>
                <a:ea typeface="+mn-ea"/>
                <a:cs typeface="+mn-cs"/>
              </a:rPr>
              <a:t>Systems</a:t>
            </a:r>
          </a:p>
          <a:p>
            <a:r>
              <a:rPr lang="en-GB" sz="1200" b="0" i="0" u="none" strike="noStrike" kern="1200" baseline="0" dirty="0">
                <a:solidFill>
                  <a:schemeClr val="tx1"/>
                </a:solidFill>
                <a:latin typeface="+mn-lt"/>
                <a:ea typeface="+mn-ea"/>
                <a:cs typeface="+mn-cs"/>
              </a:rPr>
              <a:t>• What systems (including policies, processes, procedures and IT) will be affected by this change?</a:t>
            </a:r>
          </a:p>
          <a:p>
            <a:r>
              <a:rPr lang="en-GB" sz="1200" b="0" i="0" u="none" strike="noStrike" kern="1200" baseline="0" dirty="0">
                <a:solidFill>
                  <a:schemeClr val="tx1"/>
                </a:solidFill>
                <a:latin typeface="+mn-lt"/>
                <a:ea typeface="+mn-ea"/>
                <a:cs typeface="+mn-cs"/>
              </a:rPr>
              <a:t>• Are the current systems fit for purpose to handle the proposed change?</a:t>
            </a:r>
          </a:p>
          <a:p>
            <a:r>
              <a:rPr lang="en-GB" sz="1200" b="0" i="0" u="none" strike="noStrike" kern="1200" baseline="0" dirty="0">
                <a:solidFill>
                  <a:schemeClr val="tx1"/>
                </a:solidFill>
                <a:latin typeface="+mn-lt"/>
                <a:ea typeface="+mn-ea"/>
                <a:cs typeface="+mn-cs"/>
              </a:rPr>
              <a:t>• Will any systems need updating or replacing in response to the change?</a:t>
            </a:r>
          </a:p>
          <a:p>
            <a:r>
              <a:rPr lang="en-GB" sz="1200" b="0" i="0" u="none" strike="noStrike" kern="1200" baseline="0" dirty="0">
                <a:solidFill>
                  <a:schemeClr val="tx1"/>
                </a:solidFill>
                <a:latin typeface="+mn-lt"/>
                <a:ea typeface="+mn-ea"/>
                <a:cs typeface="+mn-cs"/>
              </a:rPr>
              <a:t>• When will this need to be completed by?</a:t>
            </a:r>
          </a:p>
          <a:p>
            <a:r>
              <a:rPr lang="en-GB" sz="1200" b="0" i="0" u="none" strike="noStrike" kern="1200" baseline="0" dirty="0">
                <a:solidFill>
                  <a:schemeClr val="tx1"/>
                </a:solidFill>
                <a:latin typeface="+mn-lt"/>
                <a:ea typeface="+mn-ea"/>
                <a:cs typeface="+mn-cs"/>
              </a:rPr>
              <a:t>Strategy</a:t>
            </a:r>
          </a:p>
          <a:p>
            <a:r>
              <a:rPr lang="en-GB" sz="1200" b="0" i="0" u="none" strike="noStrike" kern="1200" baseline="0" dirty="0">
                <a:solidFill>
                  <a:schemeClr val="tx1"/>
                </a:solidFill>
                <a:latin typeface="+mn-lt"/>
                <a:ea typeface="+mn-ea"/>
                <a:cs typeface="+mn-cs"/>
              </a:rPr>
              <a:t>• What is our current long-term high-level plan?</a:t>
            </a:r>
          </a:p>
          <a:p>
            <a:r>
              <a:rPr lang="en-GB" sz="1200" b="0" i="0" u="none" strike="noStrike" kern="1200" baseline="0" dirty="0">
                <a:solidFill>
                  <a:schemeClr val="tx1"/>
                </a:solidFill>
                <a:latin typeface="+mn-lt"/>
                <a:ea typeface="+mn-ea"/>
                <a:cs typeface="+mn-cs"/>
              </a:rPr>
              <a:t>• What are our short-term operational plans that support the strategy?</a:t>
            </a:r>
          </a:p>
          <a:p>
            <a:r>
              <a:rPr lang="en-GB" sz="1200" b="0" i="0" u="none" strike="noStrike" kern="1200" baseline="0" dirty="0">
                <a:solidFill>
                  <a:schemeClr val="tx1"/>
                </a:solidFill>
                <a:latin typeface="+mn-lt"/>
                <a:ea typeface="+mn-ea"/>
                <a:cs typeface="+mn-cs"/>
              </a:rPr>
              <a:t>• Does the proposed change support the current strategy and operational plans?</a:t>
            </a:r>
          </a:p>
          <a:p>
            <a:r>
              <a:rPr lang="en-GB" sz="1200" b="0" i="0" u="none" strike="noStrike" kern="1200" baseline="0" dirty="0">
                <a:solidFill>
                  <a:schemeClr val="tx1"/>
                </a:solidFill>
                <a:latin typeface="+mn-lt"/>
                <a:ea typeface="+mn-ea"/>
                <a:cs typeface="+mn-cs"/>
              </a:rPr>
              <a:t>• Will the current strategy need to be updated to incorporate the change?</a:t>
            </a:r>
          </a:p>
          <a:p>
            <a:r>
              <a:rPr lang="en-GB" sz="1200" b="0" i="0" u="none" strike="noStrike" kern="1200" baseline="0" dirty="0">
                <a:solidFill>
                  <a:schemeClr val="tx1"/>
                </a:solidFill>
                <a:latin typeface="+mn-lt"/>
                <a:ea typeface="+mn-ea"/>
                <a:cs typeface="+mn-cs"/>
              </a:rPr>
              <a:t>• When will this need to be done by?</a:t>
            </a:r>
          </a:p>
          <a:p>
            <a:r>
              <a:rPr lang="en-GB" sz="1200" b="0" i="0" u="none" strike="noStrike" kern="1200" baseline="0" dirty="0">
                <a:solidFill>
                  <a:schemeClr val="tx1"/>
                </a:solidFill>
                <a:latin typeface="+mn-lt"/>
                <a:ea typeface="+mn-ea"/>
                <a:cs typeface="+mn-cs"/>
              </a:rPr>
              <a:t>Shared values</a:t>
            </a:r>
          </a:p>
          <a:p>
            <a:r>
              <a:rPr lang="en-GB" sz="1200" b="0" i="0" u="none" strike="noStrike" kern="1200" baseline="0" dirty="0">
                <a:solidFill>
                  <a:schemeClr val="tx1"/>
                </a:solidFill>
                <a:latin typeface="+mn-lt"/>
                <a:ea typeface="+mn-ea"/>
                <a:cs typeface="+mn-cs"/>
              </a:rPr>
              <a:t>• What are our organisational/department/team, shared values?</a:t>
            </a:r>
          </a:p>
          <a:p>
            <a:r>
              <a:rPr lang="en-GB" sz="1200" b="0" i="0" u="none" strike="noStrike" kern="1200" baseline="0" dirty="0">
                <a:solidFill>
                  <a:schemeClr val="tx1"/>
                </a:solidFill>
                <a:latin typeface="+mn-lt"/>
                <a:ea typeface="+mn-ea"/>
                <a:cs typeface="+mn-cs"/>
              </a:rPr>
              <a:t>• What is important to our organisation?</a:t>
            </a:r>
          </a:p>
          <a:p>
            <a:r>
              <a:rPr lang="en-GB" sz="1200" b="0" i="0" u="none" strike="noStrike" kern="1200" baseline="0" dirty="0">
                <a:solidFill>
                  <a:schemeClr val="tx1"/>
                </a:solidFill>
                <a:latin typeface="+mn-lt"/>
                <a:ea typeface="+mn-ea"/>
                <a:cs typeface="+mn-cs"/>
              </a:rPr>
              <a:t>• What effect does this change have on our values?</a:t>
            </a:r>
          </a:p>
          <a:p>
            <a:r>
              <a:rPr lang="en-GB" sz="1200" b="0" i="0" u="none" strike="noStrike" kern="1200" baseline="0" dirty="0">
                <a:solidFill>
                  <a:schemeClr val="tx1"/>
                </a:solidFill>
                <a:latin typeface="+mn-lt"/>
                <a:ea typeface="+mn-ea"/>
                <a:cs typeface="+mn-cs"/>
              </a:rPr>
              <a:t>• Are the organisational values communicated and understood?</a:t>
            </a:r>
          </a:p>
          <a:p>
            <a:r>
              <a:rPr lang="en-GB" sz="1200" b="0" i="0" u="none" strike="noStrike" kern="1200" baseline="0" dirty="0">
                <a:solidFill>
                  <a:schemeClr val="tx1"/>
                </a:solidFill>
                <a:latin typeface="+mn-lt"/>
                <a:ea typeface="+mn-ea"/>
                <a:cs typeface="+mn-cs"/>
              </a:rPr>
              <a:t>• Do our values need to change to respond to this change?</a:t>
            </a:r>
          </a:p>
          <a:p>
            <a:r>
              <a:rPr lang="en-GB" sz="1200" b="0" i="0" u="none" strike="noStrike" kern="1200" baseline="0" dirty="0">
                <a:solidFill>
                  <a:schemeClr val="tx1"/>
                </a:solidFill>
                <a:latin typeface="+mn-lt"/>
                <a:ea typeface="+mn-ea"/>
                <a:cs typeface="+mn-cs"/>
              </a:rPr>
              <a:t>Skills</a:t>
            </a:r>
          </a:p>
          <a:p>
            <a:r>
              <a:rPr lang="en-GB" sz="1200" b="0" i="0" u="none" strike="noStrike" kern="1200" baseline="0" dirty="0">
                <a:solidFill>
                  <a:schemeClr val="tx1"/>
                </a:solidFill>
                <a:latin typeface="+mn-lt"/>
                <a:ea typeface="+mn-ea"/>
                <a:cs typeface="+mn-cs"/>
              </a:rPr>
              <a:t>• What knowledge, skills, competencies and strengths do our people currently have?</a:t>
            </a:r>
          </a:p>
          <a:p>
            <a:r>
              <a:rPr lang="en-GB" sz="1200" b="0" i="0" u="none" strike="noStrike" kern="1200" baseline="0" dirty="0">
                <a:solidFill>
                  <a:schemeClr val="tx1"/>
                </a:solidFill>
                <a:latin typeface="+mn-lt"/>
                <a:ea typeface="+mn-ea"/>
                <a:cs typeface="+mn-cs"/>
              </a:rPr>
              <a:t>• Are these the skills we need to make and sustain the change?</a:t>
            </a:r>
          </a:p>
          <a:p>
            <a:r>
              <a:rPr lang="en-GB" sz="1200" b="0" i="0" u="none" strike="noStrike" kern="1200" baseline="0" dirty="0">
                <a:solidFill>
                  <a:schemeClr val="tx1"/>
                </a:solidFill>
                <a:latin typeface="+mn-lt"/>
                <a:ea typeface="+mn-ea"/>
                <a:cs typeface="+mn-cs"/>
              </a:rPr>
              <a:t>• If not how can we train people on the skills needed for the change?</a:t>
            </a:r>
          </a:p>
          <a:p>
            <a:r>
              <a:rPr lang="en-GB" sz="1200" b="0" i="0" u="none" strike="noStrike" kern="1200" baseline="0" dirty="0">
                <a:solidFill>
                  <a:schemeClr val="tx1"/>
                </a:solidFill>
                <a:latin typeface="+mn-lt"/>
                <a:ea typeface="+mn-ea"/>
                <a:cs typeface="+mn-cs"/>
              </a:rPr>
              <a:t>• If not who needs to be recruited to address the skills gap?</a:t>
            </a:r>
          </a:p>
          <a:p>
            <a:r>
              <a:rPr lang="en-GB" sz="1200" b="0" i="0" u="none" strike="noStrike" kern="1200" baseline="0" dirty="0">
                <a:solidFill>
                  <a:schemeClr val="tx1"/>
                </a:solidFill>
                <a:latin typeface="+mn-lt"/>
                <a:ea typeface="+mn-ea"/>
                <a:cs typeface="+mn-cs"/>
              </a:rPr>
              <a:t>• How quickly are the skills needed?</a:t>
            </a:r>
          </a:p>
          <a:p>
            <a:r>
              <a:rPr lang="en-GB" sz="1200" b="0" i="0" u="none" strike="noStrike" kern="1200" baseline="0" dirty="0">
                <a:solidFill>
                  <a:schemeClr val="tx1"/>
                </a:solidFill>
                <a:latin typeface="+mn-lt"/>
                <a:ea typeface="+mn-ea"/>
                <a:cs typeface="+mn-cs"/>
              </a:rPr>
              <a:t>Style</a:t>
            </a:r>
          </a:p>
          <a:p>
            <a:r>
              <a:rPr lang="en-GB" sz="1200" b="0" i="0" u="none" strike="noStrike" kern="1200" baseline="0" dirty="0">
                <a:solidFill>
                  <a:schemeClr val="tx1"/>
                </a:solidFill>
                <a:latin typeface="+mn-lt"/>
                <a:ea typeface="+mn-ea"/>
                <a:cs typeface="+mn-cs"/>
              </a:rPr>
              <a:t>• What leadership and management styles exist in the organisation?</a:t>
            </a:r>
          </a:p>
          <a:p>
            <a:r>
              <a:rPr lang="en-GB" sz="1200" b="0" i="0" u="none" strike="noStrike" kern="1200" baseline="0" dirty="0">
                <a:solidFill>
                  <a:schemeClr val="tx1"/>
                </a:solidFill>
                <a:latin typeface="+mn-lt"/>
                <a:ea typeface="+mn-ea"/>
                <a:cs typeface="+mn-cs"/>
              </a:rPr>
              <a:t>• Are these styles appropriate and right for the change?</a:t>
            </a:r>
          </a:p>
          <a:p>
            <a:r>
              <a:rPr lang="en-GB" sz="1200" b="0" i="0" u="none" strike="noStrike" kern="1200" baseline="0" dirty="0">
                <a:solidFill>
                  <a:schemeClr val="tx1"/>
                </a:solidFill>
                <a:latin typeface="+mn-lt"/>
                <a:ea typeface="+mn-ea"/>
                <a:cs typeface="+mn-cs"/>
              </a:rPr>
              <a:t>• What is our organisational culture like?</a:t>
            </a:r>
          </a:p>
          <a:p>
            <a:r>
              <a:rPr lang="en-GB" sz="1200" b="0" i="0" u="none" strike="noStrike" kern="1200" baseline="0" dirty="0">
                <a:solidFill>
                  <a:schemeClr val="tx1"/>
                </a:solidFill>
                <a:latin typeface="+mn-lt"/>
                <a:ea typeface="+mn-ea"/>
                <a:cs typeface="+mn-cs"/>
              </a:rPr>
              <a:t>• What needs to change in our organisational culture in response to the proposed change?</a:t>
            </a:r>
          </a:p>
          <a:p>
            <a:r>
              <a:rPr lang="en-GB" sz="1200" b="0" i="0" u="none" strike="noStrike" kern="1200" baseline="0" dirty="0">
                <a:solidFill>
                  <a:schemeClr val="tx1"/>
                </a:solidFill>
                <a:latin typeface="+mn-lt"/>
                <a:ea typeface="+mn-ea"/>
                <a:cs typeface="+mn-cs"/>
              </a:rPr>
              <a:t>• What type(s) of leadership needs to be nurtured to be successful?</a:t>
            </a:r>
          </a:p>
          <a:p>
            <a:r>
              <a:rPr lang="en-GB" sz="1200" b="0" i="0" u="none" strike="noStrike" kern="1200" baseline="0" dirty="0">
                <a:solidFill>
                  <a:schemeClr val="tx1"/>
                </a:solidFill>
                <a:latin typeface="+mn-lt"/>
                <a:ea typeface="+mn-ea"/>
                <a:cs typeface="+mn-cs"/>
              </a:rPr>
              <a:t>Staff</a:t>
            </a:r>
          </a:p>
          <a:p>
            <a:r>
              <a:rPr lang="en-GB" sz="1200" b="0" i="0" u="none" strike="noStrike" kern="1200" baseline="0" dirty="0">
                <a:solidFill>
                  <a:schemeClr val="tx1"/>
                </a:solidFill>
                <a:latin typeface="+mn-lt"/>
                <a:ea typeface="+mn-ea"/>
                <a:cs typeface="+mn-cs"/>
              </a:rPr>
              <a:t>• What contracts are our staff on (full/part time, temporary, permanent, job shares etc.)?</a:t>
            </a:r>
          </a:p>
          <a:p>
            <a:r>
              <a:rPr lang="en-GB" sz="1200" b="0" i="0" u="none" strike="noStrike" kern="1200" baseline="0" dirty="0">
                <a:solidFill>
                  <a:schemeClr val="tx1"/>
                </a:solidFill>
                <a:latin typeface="+mn-lt"/>
                <a:ea typeface="+mn-ea"/>
                <a:cs typeface="+mn-cs"/>
              </a:rPr>
              <a:t>• How many of each are there?</a:t>
            </a:r>
          </a:p>
          <a:p>
            <a:r>
              <a:rPr lang="en-GB" sz="1200" b="0" i="0" u="none" strike="noStrike" kern="1200" baseline="0" dirty="0">
                <a:solidFill>
                  <a:schemeClr val="tx1"/>
                </a:solidFill>
                <a:latin typeface="+mn-lt"/>
                <a:ea typeface="+mn-ea"/>
                <a:cs typeface="+mn-cs"/>
              </a:rPr>
              <a:t>• Does this support the proposed change?</a:t>
            </a:r>
          </a:p>
          <a:p>
            <a:r>
              <a:rPr lang="en-GB" sz="1200" b="0" i="0" u="none" strike="noStrike" kern="1200" baseline="0" dirty="0">
                <a:solidFill>
                  <a:schemeClr val="tx1"/>
                </a:solidFill>
                <a:latin typeface="+mn-lt"/>
                <a:ea typeface="+mn-ea"/>
                <a:cs typeface="+mn-cs"/>
              </a:rPr>
              <a:t>• What would the staff levels and types need to be to support the change?</a:t>
            </a:r>
            <a:endParaRPr lang="en-GB" dirty="0"/>
          </a:p>
        </p:txBody>
      </p:sp>
      <p:sp>
        <p:nvSpPr>
          <p:cNvPr id="4" name="Slide Number Placeholder 3"/>
          <p:cNvSpPr>
            <a:spLocks noGrp="1"/>
          </p:cNvSpPr>
          <p:nvPr>
            <p:ph type="sldNum" sz="quarter" idx="10"/>
          </p:nvPr>
        </p:nvSpPr>
        <p:spPr/>
        <p:txBody>
          <a:bodyPr/>
          <a:lstStyle/>
          <a:p>
            <a:pPr marL="0" marR="0" lvl="0" indent="0" algn="r" defTabSz="713232" rtl="0" eaLnBrk="1" fontAlgn="auto" latinLnBrk="0" hangingPunct="1">
              <a:lnSpc>
                <a:spcPct val="100000"/>
              </a:lnSpc>
              <a:spcBef>
                <a:spcPts val="0"/>
              </a:spcBef>
              <a:spcAft>
                <a:spcPts val="0"/>
              </a:spcAft>
              <a:buClrTx/>
              <a:buSzTx/>
              <a:buFontTx/>
              <a:buNone/>
              <a:tabLst/>
              <a:defRPr/>
            </a:pPr>
            <a:fld id="{3C2141A1-FA70-4217-A960-49FE662E2A3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713232" rtl="0" eaLnBrk="1" fontAlgn="auto" latinLnBrk="0" hangingPunct="1">
                <a:lnSpc>
                  <a:spcPct val="100000"/>
                </a:lnSpc>
                <a:spcBef>
                  <a:spcPts val="0"/>
                </a:spcBef>
                <a:spcAft>
                  <a:spcPts val="0"/>
                </a:spcAft>
                <a:buClrTx/>
                <a:buSzTx/>
                <a:buFontTx/>
                <a:buNone/>
                <a:tabLst/>
                <a:defRPr/>
              </a:pPr>
              <a:t>64</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990076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External environment – includes PESTLE and SWOT approaches discussed in section 2. Changes</a:t>
            </a:r>
          </a:p>
          <a:p>
            <a:r>
              <a:rPr lang="en-GB" sz="1200" b="0" i="0" u="none" strike="noStrike" kern="1200" baseline="0" dirty="0">
                <a:solidFill>
                  <a:schemeClr val="tx1"/>
                </a:solidFill>
                <a:latin typeface="+mn-lt"/>
                <a:ea typeface="+mn-ea"/>
                <a:cs typeface="+mn-cs"/>
              </a:rPr>
              <a:t>in legislation, organisational performance or competitor activity are examples of factors that are</a:t>
            </a:r>
          </a:p>
          <a:p>
            <a:r>
              <a:rPr lang="en-GB" sz="1200" b="0" i="0" u="none" strike="noStrike" kern="1200" baseline="0" dirty="0">
                <a:solidFill>
                  <a:schemeClr val="tx1"/>
                </a:solidFill>
                <a:latin typeface="+mn-lt"/>
                <a:ea typeface="+mn-ea"/>
                <a:cs typeface="+mn-cs"/>
              </a:rPr>
              <a:t>likely to drive change in an organisation. Once the need for change has been identified changes</a:t>
            </a:r>
          </a:p>
          <a:p>
            <a:r>
              <a:rPr lang="en-GB" sz="1200" b="0" i="0" u="none" strike="noStrike" kern="1200" baseline="0" dirty="0">
                <a:solidFill>
                  <a:schemeClr val="tx1"/>
                </a:solidFill>
                <a:latin typeface="+mn-lt"/>
                <a:ea typeface="+mn-ea"/>
                <a:cs typeface="+mn-cs"/>
              </a:rPr>
              <a:t>to some or all of the other dimensions may be required.</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Mission and strategy – the organisation’s mission outlines its reason for being, what it is primarily</a:t>
            </a:r>
          </a:p>
          <a:p>
            <a:r>
              <a:rPr lang="en-GB" sz="1200" b="0" i="0" u="none" strike="noStrike" kern="1200" baseline="0" dirty="0">
                <a:solidFill>
                  <a:schemeClr val="tx1"/>
                </a:solidFill>
                <a:latin typeface="+mn-lt"/>
                <a:ea typeface="+mn-ea"/>
                <a:cs typeface="+mn-cs"/>
              </a:rPr>
              <a:t>there to accomplish. The strategy is the long-term plan to achieve the mission. It is clearly vital to</a:t>
            </a:r>
          </a:p>
          <a:p>
            <a:r>
              <a:rPr lang="en-GB" sz="1200" b="0" i="0" u="none" strike="noStrike" kern="1200" baseline="0" dirty="0">
                <a:solidFill>
                  <a:schemeClr val="tx1"/>
                </a:solidFill>
                <a:latin typeface="+mn-lt"/>
                <a:ea typeface="+mn-ea"/>
                <a:cs typeface="+mn-cs"/>
              </a:rPr>
              <a:t>change the mission and strategy in response to external environmental changes.</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Organisational culture – culture is ‘the way things are done around here’ and includes the</a:t>
            </a:r>
          </a:p>
          <a:p>
            <a:r>
              <a:rPr lang="en-GB" sz="1200" b="0" i="0" u="none" strike="noStrike" kern="1200" baseline="0" dirty="0">
                <a:solidFill>
                  <a:schemeClr val="tx1"/>
                </a:solidFill>
                <a:latin typeface="+mn-lt"/>
                <a:ea typeface="+mn-ea"/>
                <a:cs typeface="+mn-cs"/>
              </a:rPr>
              <a:t>behaviours, attitudes and beliefs of the organisation’s people. The effects of change are better</a:t>
            </a:r>
          </a:p>
          <a:p>
            <a:r>
              <a:rPr lang="en-GB" sz="1200" b="0" i="0" u="none" strike="noStrike" kern="1200" baseline="0" dirty="0">
                <a:solidFill>
                  <a:schemeClr val="tx1"/>
                </a:solidFill>
                <a:latin typeface="+mn-lt"/>
                <a:ea typeface="+mn-ea"/>
                <a:cs typeface="+mn-cs"/>
              </a:rPr>
              <a:t>understood through considering what impact change will have on the culture and how it will be</a:t>
            </a:r>
          </a:p>
          <a:p>
            <a:r>
              <a:rPr lang="en-GB" sz="1200" b="0" i="0" u="none" strike="noStrike" kern="1200" baseline="0" dirty="0">
                <a:solidFill>
                  <a:schemeClr val="tx1"/>
                </a:solidFill>
                <a:latin typeface="+mn-lt"/>
                <a:ea typeface="+mn-ea"/>
                <a:cs typeface="+mn-cs"/>
              </a:rPr>
              <a:t>managed.</a:t>
            </a:r>
          </a:p>
          <a:p>
            <a:r>
              <a:rPr lang="en-GB" sz="1200" b="0" i="0" u="none" strike="noStrike" kern="1200" baseline="0" dirty="0">
                <a:solidFill>
                  <a:schemeClr val="tx1"/>
                </a:solidFill>
                <a:latin typeface="+mn-lt"/>
                <a:ea typeface="+mn-ea"/>
                <a:cs typeface="+mn-cs"/>
              </a:rPr>
              <a:t>Leadership – this is about whether the current leadership style will support and effectively</a:t>
            </a:r>
          </a:p>
          <a:p>
            <a:r>
              <a:rPr lang="en-GB" sz="1200" b="0" i="0" u="none" strike="noStrike" kern="1200" baseline="0" dirty="0">
                <a:solidFill>
                  <a:schemeClr val="tx1"/>
                </a:solidFill>
                <a:latin typeface="+mn-lt"/>
                <a:ea typeface="+mn-ea"/>
                <a:cs typeface="+mn-cs"/>
              </a:rPr>
              <a:t>promote the change. Significant organisational change may require a new leadership style. It is</a:t>
            </a:r>
          </a:p>
          <a:p>
            <a:r>
              <a:rPr lang="en-GB" sz="1200" b="0" i="0" u="none" strike="noStrike" kern="1200" baseline="0" dirty="0">
                <a:solidFill>
                  <a:schemeClr val="tx1"/>
                </a:solidFill>
                <a:latin typeface="+mn-lt"/>
                <a:ea typeface="+mn-ea"/>
                <a:cs typeface="+mn-cs"/>
              </a:rPr>
              <a:t>important that leaders communicate the reasons for change clearly and regularly to both inform</a:t>
            </a:r>
          </a:p>
          <a:p>
            <a:r>
              <a:rPr lang="en-GB" sz="1200" b="0" i="0" u="none" strike="noStrike" kern="1200" baseline="0" dirty="0">
                <a:solidFill>
                  <a:schemeClr val="tx1"/>
                </a:solidFill>
                <a:latin typeface="+mn-lt"/>
                <a:ea typeface="+mn-ea"/>
                <a:cs typeface="+mn-cs"/>
              </a:rPr>
              <a:t>and reassure the teams.</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Structure – similar to the description in McKinsey’s 7S framework this is about how the</a:t>
            </a:r>
          </a:p>
          <a:p>
            <a:r>
              <a:rPr lang="en-GB" sz="1200" b="0" i="0" u="none" strike="noStrike" kern="1200" baseline="0" dirty="0">
                <a:solidFill>
                  <a:schemeClr val="tx1"/>
                </a:solidFill>
                <a:latin typeface="+mn-lt"/>
                <a:ea typeface="+mn-ea"/>
                <a:cs typeface="+mn-cs"/>
              </a:rPr>
              <a:t>organisation’s ‘hard’ structure will need to be changed.</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Work unit climate – this represents the impact change will have on the people in the teams.</a:t>
            </a:r>
          </a:p>
          <a:p>
            <a:r>
              <a:rPr lang="en-GB" sz="1200" b="0" i="0" u="none" strike="noStrike" kern="1200" baseline="0" dirty="0">
                <a:solidFill>
                  <a:schemeClr val="tx1"/>
                </a:solidFill>
                <a:latin typeface="+mn-lt"/>
                <a:ea typeface="+mn-ea"/>
                <a:cs typeface="+mn-cs"/>
              </a:rPr>
              <a:t>It includes job roles, how the teams work together and what they think of each other. It might</a:t>
            </a:r>
          </a:p>
          <a:p>
            <a:r>
              <a:rPr lang="en-GB" sz="1200" b="0" i="0" u="none" strike="noStrike" kern="1200" baseline="0" dirty="0">
                <a:solidFill>
                  <a:schemeClr val="tx1"/>
                </a:solidFill>
                <a:latin typeface="+mn-lt"/>
                <a:ea typeface="+mn-ea"/>
                <a:cs typeface="+mn-cs"/>
              </a:rPr>
              <a:t>include the likely emotional reaction of people to changes and whether this can be helped or</a:t>
            </a:r>
          </a:p>
          <a:p>
            <a:r>
              <a:rPr lang="en-GB" sz="1200" b="0" i="0" u="none" strike="noStrike" kern="1200" baseline="0" dirty="0">
                <a:solidFill>
                  <a:schemeClr val="tx1"/>
                </a:solidFill>
                <a:latin typeface="+mn-lt"/>
                <a:ea typeface="+mn-ea"/>
                <a:cs typeface="+mn-cs"/>
              </a:rPr>
              <a:t>made worse by the broader work climate they operate in.</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Task requirements.</a:t>
            </a:r>
          </a:p>
          <a:p>
            <a:r>
              <a:rPr lang="en-GB" sz="1200" b="0" i="0" u="none" strike="noStrike" kern="1200" baseline="0" dirty="0">
                <a:solidFill>
                  <a:schemeClr val="tx1"/>
                </a:solidFill>
                <a:latin typeface="+mn-lt"/>
                <a:ea typeface="+mn-ea"/>
                <a:cs typeface="+mn-cs"/>
              </a:rPr>
              <a:t>Task requirements and individual skills and abilities – this is similar to McKinsey’s skills and</a:t>
            </a:r>
          </a:p>
          <a:p>
            <a:r>
              <a:rPr lang="en-GB" sz="1200" b="0" i="0" u="none" strike="noStrike" kern="1200" baseline="0" dirty="0">
                <a:solidFill>
                  <a:schemeClr val="tx1"/>
                </a:solidFill>
                <a:latin typeface="+mn-lt"/>
                <a:ea typeface="+mn-ea"/>
                <a:cs typeface="+mn-cs"/>
              </a:rPr>
              <a:t>staff S’s. Change may have an effect on the number of people that work in different parts of the</a:t>
            </a:r>
          </a:p>
          <a:p>
            <a:r>
              <a:rPr lang="en-GB" sz="1200" b="0" i="0" u="none" strike="noStrike" kern="1200" baseline="0" dirty="0">
                <a:solidFill>
                  <a:schemeClr val="tx1"/>
                </a:solidFill>
                <a:latin typeface="+mn-lt"/>
                <a:ea typeface="+mn-ea"/>
                <a:cs typeface="+mn-cs"/>
              </a:rPr>
              <a:t>organisation as well as ensuring they have the knowledge skills and abilities to carry out necessary</a:t>
            </a:r>
          </a:p>
          <a:p>
            <a:r>
              <a:rPr lang="en-GB" sz="1200" b="0" i="0" u="none" strike="noStrike" kern="1200" baseline="0" dirty="0">
                <a:solidFill>
                  <a:schemeClr val="tx1"/>
                </a:solidFill>
                <a:latin typeface="+mn-lt"/>
                <a:ea typeface="+mn-ea"/>
                <a:cs typeface="+mn-cs"/>
              </a:rPr>
              <a:t>tasks in preparation for, during and following the change.</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Individual needs and values – linked to the previous dimension, here we explore the needs of the</a:t>
            </a:r>
          </a:p>
          <a:p>
            <a:r>
              <a:rPr lang="en-GB" sz="1200" b="0" i="0" u="none" strike="noStrike" kern="1200" baseline="0" dirty="0">
                <a:solidFill>
                  <a:schemeClr val="tx1"/>
                </a:solidFill>
                <a:latin typeface="+mn-lt"/>
                <a:ea typeface="+mn-ea"/>
                <a:cs typeface="+mn-cs"/>
              </a:rPr>
              <a:t>individual teams members in relation to their roles and responsibilities as a result of change.</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Motivation – understanding the employees’ motivations and how this is potentially affected</a:t>
            </a:r>
          </a:p>
          <a:p>
            <a:r>
              <a:rPr lang="en-GB" sz="1200" b="0" i="0" u="none" strike="noStrike" kern="1200" baseline="0" dirty="0">
                <a:solidFill>
                  <a:schemeClr val="tx1"/>
                </a:solidFill>
                <a:latin typeface="+mn-lt"/>
                <a:ea typeface="+mn-ea"/>
                <a:cs typeface="+mn-cs"/>
              </a:rPr>
              <a:t>by change. Establishing needs of employees and factors that motivate them such as growth,</a:t>
            </a:r>
          </a:p>
          <a:p>
            <a:r>
              <a:rPr lang="en-GB" sz="1200" b="0" i="0" u="none" strike="noStrike" kern="1200" baseline="0" dirty="0">
                <a:solidFill>
                  <a:schemeClr val="tx1"/>
                </a:solidFill>
                <a:latin typeface="+mn-lt"/>
                <a:ea typeface="+mn-ea"/>
                <a:cs typeface="+mn-cs"/>
              </a:rPr>
              <a:t>achievement and taking on new work may help them transition through change.</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Systems – what are the systems the organisation uses to deliver its work and what effect does</a:t>
            </a:r>
          </a:p>
          <a:p>
            <a:r>
              <a:rPr lang="en-GB" sz="1200" b="0" i="0" u="none" strike="noStrike" kern="1200" baseline="0" dirty="0">
                <a:solidFill>
                  <a:schemeClr val="tx1"/>
                </a:solidFill>
                <a:latin typeface="+mn-lt"/>
                <a:ea typeface="+mn-ea"/>
                <a:cs typeface="+mn-cs"/>
              </a:rPr>
              <a:t>the change have on them? Do they need updating or replacing? Would include all policies,</a:t>
            </a:r>
          </a:p>
          <a:p>
            <a:r>
              <a:rPr lang="en-GB" sz="1200" b="0" i="0" u="none" strike="noStrike" kern="1200" baseline="0" dirty="0">
                <a:solidFill>
                  <a:schemeClr val="tx1"/>
                </a:solidFill>
                <a:latin typeface="+mn-lt"/>
                <a:ea typeface="+mn-ea"/>
                <a:cs typeface="+mn-cs"/>
              </a:rPr>
              <a:t>procedures and processes that are affected by the change.</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Individual and organisational performance – this encompasses broad performance measures such</a:t>
            </a:r>
          </a:p>
          <a:p>
            <a:r>
              <a:rPr lang="en-GB" sz="1200" b="0" i="0" u="none" strike="noStrike" kern="1200" baseline="0" dirty="0">
                <a:solidFill>
                  <a:schemeClr val="tx1"/>
                </a:solidFill>
                <a:latin typeface="+mn-lt"/>
                <a:ea typeface="+mn-ea"/>
                <a:cs typeface="+mn-cs"/>
              </a:rPr>
              <a:t>as quality, organisational productivity, levels of efficiency and how happy customers are.</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Management practices – this relates to how managers use their resources, how they plan and</a:t>
            </a:r>
          </a:p>
          <a:p>
            <a:r>
              <a:rPr lang="en-GB" sz="1200" b="0" i="0" u="none" strike="noStrike" kern="1200" baseline="0" dirty="0">
                <a:solidFill>
                  <a:schemeClr val="tx1"/>
                </a:solidFill>
                <a:latin typeface="+mn-lt"/>
                <a:ea typeface="+mn-ea"/>
                <a:cs typeface="+mn-cs"/>
              </a:rPr>
              <a:t>control, forecast and budget to ensure the important work is done. What effect will the change</a:t>
            </a:r>
          </a:p>
          <a:p>
            <a:r>
              <a:rPr lang="en-GB" sz="1200" b="0" i="0" u="none" strike="noStrike" kern="1200" baseline="0" dirty="0">
                <a:solidFill>
                  <a:schemeClr val="tx1"/>
                </a:solidFill>
                <a:latin typeface="+mn-lt"/>
                <a:ea typeface="+mn-ea"/>
                <a:cs typeface="+mn-cs"/>
              </a:rPr>
              <a:t>have on these practices and will any of them need changing?</a:t>
            </a:r>
          </a:p>
          <a:p>
            <a:endParaRPr lang="en-GB" dirty="0"/>
          </a:p>
        </p:txBody>
      </p:sp>
      <p:sp>
        <p:nvSpPr>
          <p:cNvPr id="4" name="Slide Number Placeholder 3"/>
          <p:cNvSpPr>
            <a:spLocks noGrp="1"/>
          </p:cNvSpPr>
          <p:nvPr>
            <p:ph type="sldNum" sz="quarter" idx="10"/>
          </p:nvPr>
        </p:nvSpPr>
        <p:spPr/>
        <p:txBody>
          <a:bodyPr/>
          <a:lstStyle/>
          <a:p>
            <a:pPr marL="0" marR="0" lvl="0" indent="0" algn="r" defTabSz="713232" rtl="0" eaLnBrk="1" fontAlgn="auto" latinLnBrk="0" hangingPunct="1">
              <a:lnSpc>
                <a:spcPct val="100000"/>
              </a:lnSpc>
              <a:spcBef>
                <a:spcPts val="0"/>
              </a:spcBef>
              <a:spcAft>
                <a:spcPts val="0"/>
              </a:spcAft>
              <a:buClrTx/>
              <a:buSzTx/>
              <a:buFontTx/>
              <a:buNone/>
              <a:tabLst/>
              <a:defRPr/>
            </a:pPr>
            <a:fld id="{3C2141A1-FA70-4217-A960-49FE662E2A3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713232" rtl="0" eaLnBrk="1" fontAlgn="auto" latinLnBrk="0" hangingPunct="1">
                <a:lnSpc>
                  <a:spcPct val="100000"/>
                </a:lnSpc>
                <a:spcBef>
                  <a:spcPts val="0"/>
                </a:spcBef>
                <a:spcAft>
                  <a:spcPts val="0"/>
                </a:spcAft>
                <a:buClrTx/>
                <a:buSzTx/>
                <a:buFontTx/>
                <a:buNone/>
                <a:tabLst/>
                <a:defRPr/>
              </a:pPr>
              <a:t>65</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680806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Leavitt’s Diamond</a:t>
            </a:r>
          </a:p>
          <a:p>
            <a:r>
              <a:rPr lang="en-GB" sz="1200" b="0" i="0" u="none" strike="noStrike" kern="1200" baseline="0" dirty="0">
                <a:solidFill>
                  <a:schemeClr val="tx1"/>
                </a:solidFill>
                <a:latin typeface="+mn-lt"/>
                <a:ea typeface="+mn-ea"/>
                <a:cs typeface="+mn-cs"/>
              </a:rPr>
              <a:t>Harold J. Leavitt’s Diamond links key critical success factors to change management. Critical</a:t>
            </a:r>
          </a:p>
          <a:p>
            <a:r>
              <a:rPr lang="en-GB" sz="1200" b="0" i="0" u="none" strike="noStrike" kern="1200" baseline="0" dirty="0">
                <a:solidFill>
                  <a:schemeClr val="tx1"/>
                </a:solidFill>
                <a:latin typeface="+mn-lt"/>
                <a:ea typeface="+mn-ea"/>
                <a:cs typeface="+mn-cs"/>
              </a:rPr>
              <a:t>success factors (CSFs) are those factors that represent a direct link to the success and effectiveness</a:t>
            </a:r>
          </a:p>
          <a:p>
            <a:r>
              <a:rPr lang="en-GB" sz="1200" b="0" i="0" u="none" strike="noStrike" kern="1200" baseline="0" dirty="0">
                <a:solidFill>
                  <a:schemeClr val="tx1"/>
                </a:solidFill>
                <a:latin typeface="+mn-lt"/>
                <a:ea typeface="+mn-ea"/>
                <a:cs typeface="+mn-cs"/>
              </a:rPr>
              <a:t>of an organisation in reaching its objectives. Leavitt identified four success factors which are:</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Structure – includes lines of communication, hierarchical structure, roles and responsibilities for</a:t>
            </a:r>
          </a:p>
          <a:p>
            <a:r>
              <a:rPr lang="en-GB" sz="1200" b="0" i="0" u="none" strike="noStrike" kern="1200" baseline="0" dirty="0">
                <a:solidFill>
                  <a:schemeClr val="tx1"/>
                </a:solidFill>
                <a:latin typeface="+mn-lt"/>
                <a:ea typeface="+mn-ea"/>
                <a:cs typeface="+mn-cs"/>
              </a:rPr>
              <a:t>tasks and where control and decision making powers exist.</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People – includes their attitudes, beliefs, skills and competencies, how they work together and</a:t>
            </a:r>
          </a:p>
          <a:p>
            <a:r>
              <a:rPr lang="en-GB" sz="1200" b="0" i="0" u="none" strike="noStrike" kern="1200" baseline="0" dirty="0">
                <a:solidFill>
                  <a:schemeClr val="tx1"/>
                </a:solidFill>
                <a:latin typeface="+mn-lt"/>
                <a:ea typeface="+mn-ea"/>
                <a:cs typeface="+mn-cs"/>
              </a:rPr>
              <a:t>their potential responses to change.</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Technology – includes IT hardware and software systems that provide the ability for</a:t>
            </a:r>
          </a:p>
          <a:p>
            <a:r>
              <a:rPr lang="en-GB" sz="1200" b="0" i="0" u="none" strike="noStrike" kern="1200" baseline="0" dirty="0">
                <a:solidFill>
                  <a:schemeClr val="tx1"/>
                </a:solidFill>
                <a:latin typeface="+mn-lt"/>
                <a:ea typeface="+mn-ea"/>
                <a:cs typeface="+mn-cs"/>
              </a:rPr>
              <a:t>communication and flow of information.</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Managerial Tasks and Processes – the key tasks people undertake regularly and on a one-off</a:t>
            </a:r>
          </a:p>
          <a:p>
            <a:r>
              <a:rPr lang="en-GB" sz="1200" b="0" i="0" u="none" strike="noStrike" kern="1200" baseline="0" dirty="0">
                <a:solidFill>
                  <a:schemeClr val="tx1"/>
                </a:solidFill>
                <a:latin typeface="+mn-lt"/>
                <a:ea typeface="+mn-ea"/>
                <a:cs typeface="+mn-cs"/>
              </a:rPr>
              <a:t>basis. This would include any processes or procedures that people follow to complete work tasks.</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Leavitt’s view was that change cannot be seen in isolation and only relating to one of the CSFs.</a:t>
            </a:r>
          </a:p>
          <a:p>
            <a:r>
              <a:rPr lang="en-GB" sz="1200" b="0" i="0" u="none" strike="noStrike" kern="1200" baseline="0" dirty="0">
                <a:solidFill>
                  <a:schemeClr val="tx1"/>
                </a:solidFill>
                <a:latin typeface="+mn-lt"/>
                <a:ea typeface="+mn-ea"/>
                <a:cs typeface="+mn-cs"/>
              </a:rPr>
              <a:t>Any change needs to be viewed across all success factors and their impact understood. For</a:t>
            </a:r>
          </a:p>
          <a:p>
            <a:r>
              <a:rPr lang="en-GB" sz="1200" b="0" i="0" u="none" strike="noStrike" kern="1200" baseline="0" dirty="0">
                <a:solidFill>
                  <a:schemeClr val="tx1"/>
                </a:solidFill>
                <a:latin typeface="+mn-lt"/>
                <a:ea typeface="+mn-ea"/>
                <a:cs typeface="+mn-cs"/>
              </a:rPr>
              <a:t>example if there is a change to the technology used by an organisation, it is likely to have an</a:t>
            </a:r>
          </a:p>
          <a:p>
            <a:r>
              <a:rPr lang="en-GB" sz="1200" b="0" i="0" u="none" strike="noStrike" kern="1200" baseline="0" dirty="0">
                <a:solidFill>
                  <a:schemeClr val="tx1"/>
                </a:solidFill>
                <a:latin typeface="+mn-lt"/>
                <a:ea typeface="+mn-ea"/>
                <a:cs typeface="+mn-cs"/>
              </a:rPr>
              <a:t>impact on people and how they complete their tasks. This may ultimately have some structural</a:t>
            </a:r>
          </a:p>
          <a:p>
            <a:r>
              <a:rPr lang="en-GB" sz="1200" b="0" i="0" u="none" strike="noStrike" kern="1200" baseline="0" dirty="0">
                <a:solidFill>
                  <a:schemeClr val="tx1"/>
                </a:solidFill>
                <a:latin typeface="+mn-lt"/>
                <a:ea typeface="+mn-ea"/>
                <a:cs typeface="+mn-cs"/>
              </a:rPr>
              <a:t>impact too in that changes to IT may require new lines of communication or new ways of</a:t>
            </a:r>
          </a:p>
          <a:p>
            <a:r>
              <a:rPr lang="en-GB" sz="1200" b="0" i="0" u="none" strike="noStrike" kern="1200" baseline="0" dirty="0">
                <a:solidFill>
                  <a:schemeClr val="tx1"/>
                </a:solidFill>
                <a:latin typeface="+mn-lt"/>
                <a:ea typeface="+mn-ea"/>
                <a:cs typeface="+mn-cs"/>
              </a:rPr>
              <a:t>controlling the broader organisation.</a:t>
            </a:r>
          </a:p>
          <a:p>
            <a:endParaRPr lang="en-GB" dirty="0"/>
          </a:p>
        </p:txBody>
      </p:sp>
      <p:sp>
        <p:nvSpPr>
          <p:cNvPr id="4" name="Slide Number Placeholder 3"/>
          <p:cNvSpPr>
            <a:spLocks noGrp="1"/>
          </p:cNvSpPr>
          <p:nvPr>
            <p:ph type="sldNum" sz="quarter" idx="10"/>
          </p:nvPr>
        </p:nvSpPr>
        <p:spPr/>
        <p:txBody>
          <a:bodyPr/>
          <a:lstStyle/>
          <a:p>
            <a:pPr marL="0" marR="0" lvl="0" indent="0" algn="r" defTabSz="713232" rtl="0" eaLnBrk="1" fontAlgn="auto" latinLnBrk="0" hangingPunct="1">
              <a:lnSpc>
                <a:spcPct val="100000"/>
              </a:lnSpc>
              <a:spcBef>
                <a:spcPts val="0"/>
              </a:spcBef>
              <a:spcAft>
                <a:spcPts val="0"/>
              </a:spcAft>
              <a:buClrTx/>
              <a:buSzTx/>
              <a:buFontTx/>
              <a:buNone/>
              <a:tabLst/>
              <a:defRPr/>
            </a:pPr>
            <a:fld id="{3C2141A1-FA70-4217-A960-49FE662E2A3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713232" rtl="0" eaLnBrk="1" fontAlgn="auto" latinLnBrk="0" hangingPunct="1">
                <a:lnSpc>
                  <a:spcPct val="100000"/>
                </a:lnSpc>
                <a:spcBef>
                  <a:spcPts val="0"/>
                </a:spcBef>
                <a:spcAft>
                  <a:spcPts val="0"/>
                </a:spcAft>
                <a:buClrTx/>
                <a:buSzTx/>
                <a:buFontTx/>
                <a:buNone/>
                <a:tabLst/>
                <a:defRPr/>
              </a:pPr>
              <a:t>66</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063580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sz="1200" b="1" i="0" kern="1200" dirty="0">
                <a:solidFill>
                  <a:schemeClr val="tx1"/>
                </a:solidFill>
                <a:effectLst/>
                <a:latin typeface="+mn-lt"/>
                <a:ea typeface="+mn-ea"/>
                <a:cs typeface="+mn-cs"/>
              </a:rPr>
              <a:t>This is a useful tool that can be applied in a variety of scenarios delete the Military in “Military Capability” and just think of capability</a:t>
            </a:r>
            <a:r>
              <a:rPr lang="en-GB" sz="1200" b="1" i="0" kern="1200" baseline="0" dirty="0">
                <a:solidFill>
                  <a:schemeClr val="tx1"/>
                </a:solidFill>
                <a:effectLst/>
                <a:latin typeface="+mn-lt"/>
                <a:ea typeface="+mn-ea"/>
                <a:cs typeface="+mn-cs"/>
              </a:rPr>
              <a:t> as the goal you are attempting to achieve.</a:t>
            </a:r>
            <a:endParaRPr lang="en-GB" sz="1200" b="1" i="0" kern="1200" dirty="0">
              <a:solidFill>
                <a:schemeClr val="tx1"/>
              </a:solidFill>
              <a:effectLst/>
              <a:latin typeface="+mn-lt"/>
              <a:ea typeface="+mn-ea"/>
              <a:cs typeface="+mn-cs"/>
            </a:endParaRPr>
          </a:p>
          <a:p>
            <a:endParaRPr lang="en-GB" sz="1200" b="1" i="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Defence Lines of Development</a:t>
            </a:r>
            <a:r>
              <a:rPr lang="en-GB" sz="1200" b="0" i="0" kern="1200" dirty="0">
                <a:solidFill>
                  <a:schemeClr val="tx1"/>
                </a:solidFill>
                <a:effectLst/>
                <a:latin typeface="+mn-lt"/>
                <a:ea typeface="+mn-ea"/>
                <a:cs typeface="+mn-cs"/>
              </a:rPr>
              <a:t>[</a:t>
            </a:r>
            <a:r>
              <a:rPr lang="en-GB" sz="1200" b="0" i="0" u="none" strike="noStrike" kern="1200" dirty="0">
                <a:solidFill>
                  <a:schemeClr val="tx1"/>
                </a:solidFill>
                <a:effectLst/>
                <a:latin typeface="+mn-lt"/>
                <a:ea typeface="+mn-ea"/>
                <a:cs typeface="+mn-cs"/>
                <a:hlinkClick r:id="rId3" tooltip="Edit section: Defence Lines of Development"/>
              </a:rPr>
              <a:t>edit</a:t>
            </a:r>
            <a:r>
              <a:rPr lang="en-GB" sz="1200" b="0" i="0" kern="1200" dirty="0">
                <a:solidFill>
                  <a:schemeClr val="tx1"/>
                </a:solidFill>
                <a:effectLst/>
                <a:latin typeface="+mn-lt"/>
                <a:ea typeface="+mn-ea"/>
                <a:cs typeface="+mn-cs"/>
              </a:rPr>
              <a:t>]</a:t>
            </a:r>
            <a:endParaRPr lang="en-GB" sz="1200" b="1"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The UK Ministry of Defence uses a similar breakdown of Defence Lines of Development as follows:</a:t>
            </a:r>
          </a:p>
          <a:p>
            <a:r>
              <a:rPr lang="en-GB" sz="1200" b="1" i="0" kern="1200" dirty="0">
                <a:solidFill>
                  <a:schemeClr val="tx1"/>
                </a:solidFill>
                <a:effectLst/>
                <a:latin typeface="+mn-lt"/>
                <a:ea typeface="+mn-ea"/>
                <a:cs typeface="+mn-cs"/>
              </a:rPr>
              <a:t>T</a:t>
            </a:r>
            <a:r>
              <a:rPr lang="en-GB" sz="1200" b="0" i="0" kern="1200" dirty="0">
                <a:solidFill>
                  <a:schemeClr val="tx1"/>
                </a:solidFill>
                <a:effectLst/>
                <a:latin typeface="+mn-lt"/>
                <a:ea typeface="+mn-ea"/>
                <a:cs typeface="+mn-cs"/>
              </a:rPr>
              <a:t>raining</a:t>
            </a:r>
          </a:p>
          <a:p>
            <a:r>
              <a:rPr lang="en-GB" sz="1200" b="1" i="0" kern="1200" dirty="0">
                <a:solidFill>
                  <a:schemeClr val="tx1"/>
                </a:solidFill>
                <a:effectLst/>
                <a:latin typeface="+mn-lt"/>
                <a:ea typeface="+mn-ea"/>
                <a:cs typeface="+mn-cs"/>
              </a:rPr>
              <a:t>E</a:t>
            </a:r>
            <a:r>
              <a:rPr lang="en-GB" sz="1200" b="0" i="0" kern="1200" dirty="0">
                <a:solidFill>
                  <a:schemeClr val="tx1"/>
                </a:solidFill>
                <a:effectLst/>
                <a:latin typeface="+mn-lt"/>
                <a:ea typeface="+mn-ea"/>
                <a:cs typeface="+mn-cs"/>
              </a:rPr>
              <a:t>quipment</a:t>
            </a:r>
          </a:p>
          <a:p>
            <a:r>
              <a:rPr lang="en-GB" sz="1200" b="1" i="0" kern="1200" dirty="0">
                <a:solidFill>
                  <a:schemeClr val="tx1"/>
                </a:solidFill>
                <a:effectLst/>
                <a:latin typeface="+mn-lt"/>
                <a:ea typeface="+mn-ea"/>
                <a:cs typeface="+mn-cs"/>
              </a:rPr>
              <a:t>P</a:t>
            </a:r>
            <a:r>
              <a:rPr lang="en-GB" sz="1200" b="0" i="0" kern="1200" dirty="0">
                <a:solidFill>
                  <a:schemeClr val="tx1"/>
                </a:solidFill>
                <a:effectLst/>
                <a:latin typeface="+mn-lt"/>
                <a:ea typeface="+mn-ea"/>
                <a:cs typeface="+mn-cs"/>
              </a:rPr>
              <a:t>ersonnel</a:t>
            </a:r>
          </a:p>
          <a:p>
            <a:r>
              <a:rPr lang="en-GB" sz="1200" b="1" i="0" kern="1200" dirty="0">
                <a:solidFill>
                  <a:schemeClr val="tx1"/>
                </a:solidFill>
                <a:effectLst/>
                <a:latin typeface="+mn-lt"/>
                <a:ea typeface="+mn-ea"/>
                <a:cs typeface="+mn-cs"/>
              </a:rPr>
              <a:t>I</a:t>
            </a:r>
            <a:r>
              <a:rPr lang="en-GB" sz="1200" b="0" i="0" kern="1200" dirty="0">
                <a:solidFill>
                  <a:schemeClr val="tx1"/>
                </a:solidFill>
                <a:effectLst/>
                <a:latin typeface="+mn-lt"/>
                <a:ea typeface="+mn-ea"/>
                <a:cs typeface="+mn-cs"/>
              </a:rPr>
              <a:t>nformation</a:t>
            </a:r>
          </a:p>
          <a:p>
            <a:r>
              <a:rPr lang="en-GB" sz="1200" b="0" i="0" kern="1200" dirty="0">
                <a:solidFill>
                  <a:schemeClr val="tx1"/>
                </a:solidFill>
                <a:effectLst/>
                <a:latin typeface="+mn-lt"/>
                <a:ea typeface="+mn-ea"/>
                <a:cs typeface="+mn-cs"/>
              </a:rPr>
              <a:t>Concepts and </a:t>
            </a:r>
            <a:r>
              <a:rPr lang="en-GB" sz="1200" b="1" i="0" kern="1200" dirty="0">
                <a:solidFill>
                  <a:schemeClr val="tx1"/>
                </a:solidFill>
                <a:effectLst/>
                <a:latin typeface="+mn-lt"/>
                <a:ea typeface="+mn-ea"/>
                <a:cs typeface="+mn-cs"/>
              </a:rPr>
              <a:t>D</a:t>
            </a:r>
            <a:r>
              <a:rPr lang="en-GB" sz="1200" b="0" i="0" kern="1200" dirty="0">
                <a:solidFill>
                  <a:schemeClr val="tx1"/>
                </a:solidFill>
                <a:effectLst/>
                <a:latin typeface="+mn-lt"/>
                <a:ea typeface="+mn-ea"/>
                <a:cs typeface="+mn-cs"/>
              </a:rPr>
              <a:t>octrine</a:t>
            </a:r>
          </a:p>
          <a:p>
            <a:r>
              <a:rPr lang="en-GB" sz="1200" b="1" i="0" kern="1200" dirty="0">
                <a:solidFill>
                  <a:schemeClr val="tx1"/>
                </a:solidFill>
                <a:effectLst/>
                <a:latin typeface="+mn-lt"/>
                <a:ea typeface="+mn-ea"/>
                <a:cs typeface="+mn-cs"/>
              </a:rPr>
              <a:t>O</a:t>
            </a:r>
            <a:r>
              <a:rPr lang="en-GB" sz="1200" b="0" i="0" kern="1200" dirty="0">
                <a:solidFill>
                  <a:schemeClr val="tx1"/>
                </a:solidFill>
                <a:effectLst/>
                <a:latin typeface="+mn-lt"/>
                <a:ea typeface="+mn-ea"/>
                <a:cs typeface="+mn-cs"/>
              </a:rPr>
              <a:t>rganisation</a:t>
            </a:r>
          </a:p>
          <a:p>
            <a:r>
              <a:rPr lang="en-GB" sz="1200" b="1" i="0" kern="1200" dirty="0">
                <a:solidFill>
                  <a:schemeClr val="tx1"/>
                </a:solidFill>
                <a:effectLst/>
                <a:latin typeface="+mn-lt"/>
                <a:ea typeface="+mn-ea"/>
                <a:cs typeface="+mn-cs"/>
              </a:rPr>
              <a:t>I</a:t>
            </a:r>
            <a:r>
              <a:rPr lang="en-GB" sz="1200" b="0" i="0" kern="1200" dirty="0">
                <a:solidFill>
                  <a:schemeClr val="tx1"/>
                </a:solidFill>
                <a:effectLst/>
                <a:latin typeface="+mn-lt"/>
                <a:ea typeface="+mn-ea"/>
                <a:cs typeface="+mn-cs"/>
              </a:rPr>
              <a:t>nfrastructure</a:t>
            </a:r>
          </a:p>
          <a:p>
            <a:r>
              <a:rPr lang="en-GB" sz="1200" b="1" i="0" kern="1200" dirty="0">
                <a:solidFill>
                  <a:schemeClr val="tx1"/>
                </a:solidFill>
                <a:effectLst/>
                <a:latin typeface="+mn-lt"/>
                <a:ea typeface="+mn-ea"/>
                <a:cs typeface="+mn-cs"/>
              </a:rPr>
              <a:t>L</a:t>
            </a:r>
            <a:r>
              <a:rPr lang="en-GB" sz="1200" b="0" i="0" kern="1200" dirty="0">
                <a:solidFill>
                  <a:schemeClr val="tx1"/>
                </a:solidFill>
                <a:effectLst/>
                <a:latin typeface="+mn-lt"/>
                <a:ea typeface="+mn-ea"/>
                <a:cs typeface="+mn-cs"/>
              </a:rPr>
              <a:t>ogistics</a:t>
            </a:r>
          </a:p>
          <a:p>
            <a:endParaRPr lang="en-GB" dirty="0"/>
          </a:p>
        </p:txBody>
      </p:sp>
      <p:sp>
        <p:nvSpPr>
          <p:cNvPr id="4" name="Slide Number Placeholder 3"/>
          <p:cNvSpPr>
            <a:spLocks noGrp="1"/>
          </p:cNvSpPr>
          <p:nvPr>
            <p:ph type="sldNum" sz="quarter" idx="10"/>
          </p:nvPr>
        </p:nvSpPr>
        <p:spPr/>
        <p:txBody>
          <a:bodyPr/>
          <a:lstStyle/>
          <a:p>
            <a:pPr marL="0" marR="0" lvl="0" indent="0" algn="r" defTabSz="713232" rtl="0" eaLnBrk="1" fontAlgn="auto" latinLnBrk="0" hangingPunct="1">
              <a:lnSpc>
                <a:spcPct val="100000"/>
              </a:lnSpc>
              <a:spcBef>
                <a:spcPts val="0"/>
              </a:spcBef>
              <a:spcAft>
                <a:spcPts val="0"/>
              </a:spcAft>
              <a:buClrTx/>
              <a:buSzTx/>
              <a:buFontTx/>
              <a:buNone/>
              <a:tabLst/>
              <a:defRPr/>
            </a:pPr>
            <a:fld id="{3C2141A1-FA70-4217-A960-49FE662E2A3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713232" rtl="0" eaLnBrk="1" fontAlgn="auto" latinLnBrk="0" hangingPunct="1">
                <a:lnSpc>
                  <a:spcPct val="100000"/>
                </a:lnSpc>
                <a:spcBef>
                  <a:spcPts val="0"/>
                </a:spcBef>
                <a:spcAft>
                  <a:spcPts val="0"/>
                </a:spcAft>
                <a:buClrTx/>
                <a:buSzTx/>
                <a:buFontTx/>
                <a:buNone/>
                <a:tabLst/>
                <a:defRPr/>
              </a:pPr>
              <a:t>67</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818317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endParaRPr lang="en-US" altLang="en-US" b="0" dirty="0"/>
          </a:p>
        </p:txBody>
      </p:sp>
      <p:sp>
        <p:nvSpPr>
          <p:cNvPr id="4" name="Slide Number Placeholder 3"/>
          <p:cNvSpPr>
            <a:spLocks noGrp="1"/>
          </p:cNvSpPr>
          <p:nvPr>
            <p:ph type="sldNum" sz="quarter" idx="10"/>
          </p:nvPr>
        </p:nvSpPr>
        <p:spPr/>
        <p:txBody>
          <a:bodyPr/>
          <a:lstStyle/>
          <a:p>
            <a:pPr marL="0" marR="0" lvl="0" indent="0" algn="r" defTabSz="713232" rtl="0" eaLnBrk="1" fontAlgn="auto" latinLnBrk="0" hangingPunct="1">
              <a:lnSpc>
                <a:spcPct val="100000"/>
              </a:lnSpc>
              <a:spcBef>
                <a:spcPts val="0"/>
              </a:spcBef>
              <a:spcAft>
                <a:spcPts val="0"/>
              </a:spcAft>
              <a:buClrTx/>
              <a:buSzTx/>
              <a:buFontTx/>
              <a:buNone/>
              <a:tabLst/>
              <a:defRPr/>
            </a:pPr>
            <a:fld id="{349A4E7D-E373-487C-9F8A-4F9A456DE8A1}"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713232" rtl="0" eaLnBrk="1" fontAlgn="auto" latinLnBrk="0" hangingPunct="1">
                <a:lnSpc>
                  <a:spcPct val="100000"/>
                </a:lnSpc>
                <a:spcBef>
                  <a:spcPts val="0"/>
                </a:spcBef>
                <a:spcAft>
                  <a:spcPts val="0"/>
                </a:spcAft>
                <a:buClrTx/>
                <a:buSzTx/>
                <a:buFontTx/>
                <a:buNone/>
                <a:tabLst/>
                <a:defRPr/>
              </a:pPr>
              <a:t>68</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71591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143000" y="3001698"/>
            <a:ext cx="6858000" cy="137980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2BECFEC1-1344-AD44-8D2E-702E20925CC3}"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EC44133-C343-9242-9975-8039D7B91997}" type="slidenum">
              <a:rPr lang="en-US" smtClean="0"/>
              <a:t>‹#›</a:t>
            </a:fld>
            <a:endParaRPr lang="en-US" dirty="0"/>
          </a:p>
        </p:txBody>
      </p:sp>
    </p:spTree>
    <p:extLst>
      <p:ext uri="{BB962C8B-B14F-4D97-AF65-F5344CB8AC3E}">
        <p14:creationId xmlns:p14="http://schemas.microsoft.com/office/powerpoint/2010/main" val="4396767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2BECFEC1-1344-AD44-8D2E-702E20925CC3}"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EC44133-C343-9242-9975-8039D7B91997}" type="slidenum">
              <a:rPr lang="en-US" smtClean="0"/>
              <a:t>‹#›</a:t>
            </a:fld>
            <a:endParaRPr lang="en-US" dirty="0"/>
          </a:p>
        </p:txBody>
      </p:sp>
    </p:spTree>
    <p:extLst>
      <p:ext uri="{BB962C8B-B14F-4D97-AF65-F5344CB8AC3E}">
        <p14:creationId xmlns:p14="http://schemas.microsoft.com/office/powerpoint/2010/main" val="156412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424783"/>
            <a:ext cx="7886700" cy="2377281"/>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623888" y="3824553"/>
            <a:ext cx="7886700" cy="1250156"/>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2BECFEC1-1344-AD44-8D2E-702E20925CC3}"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EC44133-C343-9242-9975-8039D7B91997}" type="slidenum">
              <a:rPr lang="en-US" smtClean="0"/>
              <a:t>‹#›</a:t>
            </a:fld>
            <a:endParaRPr lang="en-US" dirty="0"/>
          </a:p>
        </p:txBody>
      </p:sp>
    </p:spTree>
    <p:extLst>
      <p:ext uri="{BB962C8B-B14F-4D97-AF65-F5344CB8AC3E}">
        <p14:creationId xmlns:p14="http://schemas.microsoft.com/office/powerpoint/2010/main" val="298735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28650" y="1521354"/>
            <a:ext cx="3886200" cy="362611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29150" y="1521354"/>
            <a:ext cx="3886200" cy="362611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ECFEC1-1344-AD44-8D2E-702E20925CC3}" type="datetimeFigureOut">
              <a:rPr lang="en-US" smtClean="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EC44133-C343-9242-9975-8039D7B91997}" type="slidenum">
              <a:rPr lang="en-US" smtClean="0"/>
              <a:t>‹#›</a:t>
            </a:fld>
            <a:endParaRPr lang="en-US" dirty="0"/>
          </a:p>
        </p:txBody>
      </p:sp>
    </p:spTree>
    <p:extLst>
      <p:ext uri="{BB962C8B-B14F-4D97-AF65-F5344CB8AC3E}">
        <p14:creationId xmlns:p14="http://schemas.microsoft.com/office/powerpoint/2010/main" val="29151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04271"/>
            <a:ext cx="7886700" cy="1104636"/>
          </a:xfrm>
        </p:spPr>
        <p:txBody>
          <a:bodyPr/>
          <a:lstStyle/>
          <a:p>
            <a:r>
              <a:rPr lang="en-GB"/>
              <a:t>Click to edit Master title style</a:t>
            </a:r>
            <a:endParaRPr lang="en-US"/>
          </a:p>
        </p:txBody>
      </p:sp>
      <p:sp>
        <p:nvSpPr>
          <p:cNvPr id="3" name="Text Placeholder 2"/>
          <p:cNvSpPr>
            <a:spLocks noGrp="1"/>
          </p:cNvSpPr>
          <p:nvPr>
            <p:ph type="body" idx="1"/>
          </p:nvPr>
        </p:nvSpPr>
        <p:spPr>
          <a:xfrm>
            <a:off x="629842" y="1400969"/>
            <a:ext cx="3868340" cy="68659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29842" y="2087564"/>
            <a:ext cx="3868340" cy="307049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29152" y="1400969"/>
            <a:ext cx="3887391" cy="68659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29152" y="2087564"/>
            <a:ext cx="3887391" cy="307049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2BECFEC1-1344-AD44-8D2E-702E20925CC3}" type="datetimeFigureOut">
              <a:rPr lang="en-US" smtClean="0"/>
              <a:t>4/21/2026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EC44133-C343-9242-9975-8039D7B91997}" type="slidenum">
              <a:rPr lang="en-US" smtClean="0"/>
              <a:t>‹#›</a:t>
            </a:fld>
            <a:endParaRPr lang="en-US" dirty="0"/>
          </a:p>
        </p:txBody>
      </p:sp>
    </p:spTree>
    <p:extLst>
      <p:ext uri="{BB962C8B-B14F-4D97-AF65-F5344CB8AC3E}">
        <p14:creationId xmlns:p14="http://schemas.microsoft.com/office/powerpoint/2010/main" val="323577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2BECFEC1-1344-AD44-8D2E-702E20925CC3}" type="datetimeFigureOut">
              <a:rPr lang="en-US" smtClean="0"/>
              <a:t>4/21/2026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EC44133-C343-9242-9975-8039D7B91997}" type="slidenum">
              <a:rPr lang="en-US" smtClean="0"/>
              <a:t>‹#›</a:t>
            </a:fld>
            <a:endParaRPr lang="en-US" dirty="0"/>
          </a:p>
        </p:txBody>
      </p:sp>
    </p:spTree>
    <p:extLst>
      <p:ext uri="{BB962C8B-B14F-4D97-AF65-F5344CB8AC3E}">
        <p14:creationId xmlns:p14="http://schemas.microsoft.com/office/powerpoint/2010/main" val="9338935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ECFEC1-1344-AD44-8D2E-702E20925CC3}" type="datetimeFigureOut">
              <a:rPr lang="en-US" smtClean="0"/>
              <a:t>4/21/2026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EC44133-C343-9242-9975-8039D7B91997}" type="slidenum">
              <a:rPr lang="en-US" smtClean="0"/>
              <a:t>‹#›</a:t>
            </a:fld>
            <a:endParaRPr lang="en-US" dirty="0"/>
          </a:p>
        </p:txBody>
      </p:sp>
    </p:spTree>
    <p:extLst>
      <p:ext uri="{BB962C8B-B14F-4D97-AF65-F5344CB8AC3E}">
        <p14:creationId xmlns:p14="http://schemas.microsoft.com/office/powerpoint/2010/main" val="2139226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3887391" y="822855"/>
            <a:ext cx="4629150" cy="406135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29841" y="1714501"/>
            <a:ext cx="2949178" cy="317632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2BECFEC1-1344-AD44-8D2E-702E20925CC3}" type="datetimeFigureOut">
              <a:rPr lang="en-US" smtClean="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EC44133-C343-9242-9975-8039D7B91997}" type="slidenum">
              <a:rPr lang="en-US" smtClean="0"/>
              <a:t>‹#›</a:t>
            </a:fld>
            <a:endParaRPr lang="en-US" dirty="0"/>
          </a:p>
        </p:txBody>
      </p:sp>
    </p:spTree>
    <p:extLst>
      <p:ext uri="{BB962C8B-B14F-4D97-AF65-F5344CB8AC3E}">
        <p14:creationId xmlns:p14="http://schemas.microsoft.com/office/powerpoint/2010/main" val="802130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3887391" y="822855"/>
            <a:ext cx="4629150" cy="406135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629841" y="1714501"/>
            <a:ext cx="2949178" cy="317632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2BECFEC1-1344-AD44-8D2E-702E20925CC3}" type="datetimeFigureOut">
              <a:rPr lang="en-US" smtClean="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EC44133-C343-9242-9975-8039D7B91997}" type="slidenum">
              <a:rPr lang="en-US" smtClean="0"/>
              <a:t>‹#›</a:t>
            </a:fld>
            <a:endParaRPr lang="en-US" dirty="0"/>
          </a:p>
        </p:txBody>
      </p:sp>
    </p:spTree>
    <p:extLst>
      <p:ext uri="{BB962C8B-B14F-4D97-AF65-F5344CB8AC3E}">
        <p14:creationId xmlns:p14="http://schemas.microsoft.com/office/powerpoint/2010/main" val="1649856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2BECFEC1-1344-AD44-8D2E-702E20925CC3}"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EC44133-C343-9242-9975-8039D7B91997}" type="slidenum">
              <a:rPr lang="en-US" smtClean="0"/>
              <a:t>‹#›</a:t>
            </a:fld>
            <a:endParaRPr lang="en-US" dirty="0"/>
          </a:p>
        </p:txBody>
      </p:sp>
    </p:spTree>
    <p:extLst>
      <p:ext uri="{BB962C8B-B14F-4D97-AF65-F5344CB8AC3E}">
        <p14:creationId xmlns:p14="http://schemas.microsoft.com/office/powerpoint/2010/main" val="8242361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04271"/>
            <a:ext cx="1971675" cy="484319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28652" y="304271"/>
            <a:ext cx="5800725" cy="484319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2BECFEC1-1344-AD44-8D2E-702E20925CC3}"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EC44133-C343-9242-9975-8039D7B91997}" type="slidenum">
              <a:rPr lang="en-US" smtClean="0"/>
              <a:t>‹#›</a:t>
            </a:fld>
            <a:endParaRPr lang="en-US" dirty="0"/>
          </a:p>
        </p:txBody>
      </p:sp>
    </p:spTree>
    <p:extLst>
      <p:ext uri="{BB962C8B-B14F-4D97-AF65-F5344CB8AC3E}">
        <p14:creationId xmlns:p14="http://schemas.microsoft.com/office/powerpoint/2010/main" val="16667440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p:spPr>
        <p:txBody>
          <a:bodyPr anchor="b"/>
          <a:lstStyle>
            <a:lvl1pPr algn="ctr">
              <a:defRPr sz="4500"/>
            </a:lvl1pPr>
          </a:lstStyle>
          <a:p>
            <a:r>
              <a:rPr lang="en-GB"/>
              <a:t>Click to edit Master title style</a:t>
            </a:r>
            <a:endParaRPr lang="en-US" dirty="0"/>
          </a:p>
        </p:txBody>
      </p:sp>
      <p:sp>
        <p:nvSpPr>
          <p:cNvPr id="3" name="Subtitle 2"/>
          <p:cNvSpPr>
            <a:spLocks noGrp="1"/>
          </p:cNvSpPr>
          <p:nvPr>
            <p:ph type="subTitle" idx="1"/>
          </p:nvPr>
        </p:nvSpPr>
        <p:spPr>
          <a:xfrm>
            <a:off x="1143000" y="3001698"/>
            <a:ext cx="6858000" cy="137980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2BECFEC1-1344-AD44-8D2E-702E20925CC3}"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EC44133-C343-9242-9975-8039D7B91997}" type="slidenum">
              <a:rPr lang="en-US" smtClean="0"/>
              <a:t>‹#›</a:t>
            </a:fld>
            <a:endParaRPr lang="en-US" dirty="0"/>
          </a:p>
        </p:txBody>
      </p:sp>
    </p:spTree>
    <p:extLst>
      <p:ext uri="{BB962C8B-B14F-4D97-AF65-F5344CB8AC3E}">
        <p14:creationId xmlns:p14="http://schemas.microsoft.com/office/powerpoint/2010/main" val="19265295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2BECFEC1-1344-AD44-8D2E-702E20925CC3}"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EC44133-C343-9242-9975-8039D7B91997}" type="slidenum">
              <a:rPr lang="en-US" smtClean="0"/>
              <a:t>‹#›</a:t>
            </a:fld>
            <a:endParaRPr lang="en-US" dirty="0"/>
          </a:p>
        </p:txBody>
      </p:sp>
    </p:spTree>
    <p:extLst>
      <p:ext uri="{BB962C8B-B14F-4D97-AF65-F5344CB8AC3E}">
        <p14:creationId xmlns:p14="http://schemas.microsoft.com/office/powerpoint/2010/main" val="15717052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424782"/>
            <a:ext cx="7886700" cy="2377281"/>
          </a:xfrm>
        </p:spPr>
        <p:txBody>
          <a:bodyPr anchor="b"/>
          <a:lstStyle>
            <a:lvl1pPr>
              <a:defRPr sz="4500"/>
            </a:lvl1pPr>
          </a:lstStyle>
          <a:p>
            <a:r>
              <a:rPr lang="en-GB"/>
              <a:t>Click to edit Master title style</a:t>
            </a:r>
            <a:endParaRPr lang="en-US" dirty="0"/>
          </a:p>
        </p:txBody>
      </p:sp>
      <p:sp>
        <p:nvSpPr>
          <p:cNvPr id="3" name="Text Placeholder 2"/>
          <p:cNvSpPr>
            <a:spLocks noGrp="1"/>
          </p:cNvSpPr>
          <p:nvPr>
            <p:ph type="body" idx="1"/>
          </p:nvPr>
        </p:nvSpPr>
        <p:spPr>
          <a:xfrm>
            <a:off x="623888" y="3824553"/>
            <a:ext cx="7886700" cy="1250156"/>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2BECFEC1-1344-AD44-8D2E-702E20925CC3}"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EC44133-C343-9242-9975-8039D7B91997}" type="slidenum">
              <a:rPr lang="en-US" smtClean="0"/>
              <a:t>‹#›</a:t>
            </a:fld>
            <a:endParaRPr lang="en-US" dirty="0"/>
          </a:p>
        </p:txBody>
      </p:sp>
    </p:spTree>
    <p:extLst>
      <p:ext uri="{BB962C8B-B14F-4D97-AF65-F5344CB8AC3E}">
        <p14:creationId xmlns:p14="http://schemas.microsoft.com/office/powerpoint/2010/main" val="16011273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28650" y="1521354"/>
            <a:ext cx="3886200" cy="362611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29150" y="1521354"/>
            <a:ext cx="3886200" cy="362611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2BECFEC1-1344-AD44-8D2E-702E20925CC3}" type="datetimeFigureOut">
              <a:rPr lang="en-US" smtClean="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EC44133-C343-9242-9975-8039D7B91997}" type="slidenum">
              <a:rPr lang="en-US" smtClean="0"/>
              <a:t>‹#›</a:t>
            </a:fld>
            <a:endParaRPr lang="en-US" dirty="0"/>
          </a:p>
        </p:txBody>
      </p:sp>
    </p:spTree>
    <p:extLst>
      <p:ext uri="{BB962C8B-B14F-4D97-AF65-F5344CB8AC3E}">
        <p14:creationId xmlns:p14="http://schemas.microsoft.com/office/powerpoint/2010/main" val="304127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04271"/>
            <a:ext cx="7886700" cy="1104636"/>
          </a:xfrm>
        </p:spPr>
        <p:txBody>
          <a:bodyPr/>
          <a:lstStyle/>
          <a:p>
            <a:r>
              <a:rPr lang="en-GB"/>
              <a:t>Click to edit Master title style</a:t>
            </a:r>
            <a:endParaRPr lang="en-US" dirty="0"/>
          </a:p>
        </p:txBody>
      </p:sp>
      <p:sp>
        <p:nvSpPr>
          <p:cNvPr id="3" name="Text Placeholder 2"/>
          <p:cNvSpPr>
            <a:spLocks noGrp="1"/>
          </p:cNvSpPr>
          <p:nvPr>
            <p:ph type="body" idx="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629842" y="2087563"/>
            <a:ext cx="3868340" cy="307049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4629150" y="2087563"/>
            <a:ext cx="3887391" cy="307049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2BECFEC1-1344-AD44-8D2E-702E20925CC3}" type="datetimeFigureOut">
              <a:rPr lang="en-US" smtClean="0"/>
              <a:t>4/21/2026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EC44133-C343-9242-9975-8039D7B91997}" type="slidenum">
              <a:rPr lang="en-US" smtClean="0"/>
              <a:t>‹#›</a:t>
            </a:fld>
            <a:endParaRPr lang="en-US" dirty="0"/>
          </a:p>
        </p:txBody>
      </p:sp>
    </p:spTree>
    <p:extLst>
      <p:ext uri="{BB962C8B-B14F-4D97-AF65-F5344CB8AC3E}">
        <p14:creationId xmlns:p14="http://schemas.microsoft.com/office/powerpoint/2010/main" val="460148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2BECFEC1-1344-AD44-8D2E-702E20925CC3}" type="datetimeFigureOut">
              <a:rPr lang="en-US" smtClean="0"/>
              <a:t>4/21/2026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EC44133-C343-9242-9975-8039D7B91997}" type="slidenum">
              <a:rPr lang="en-US" smtClean="0"/>
              <a:t>‹#›</a:t>
            </a:fld>
            <a:endParaRPr lang="en-US" dirty="0"/>
          </a:p>
        </p:txBody>
      </p:sp>
    </p:spTree>
    <p:extLst>
      <p:ext uri="{BB962C8B-B14F-4D97-AF65-F5344CB8AC3E}">
        <p14:creationId xmlns:p14="http://schemas.microsoft.com/office/powerpoint/2010/main" val="2779416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ECFEC1-1344-AD44-8D2E-702E20925CC3}" type="datetimeFigureOut">
              <a:rPr lang="en-US" smtClean="0"/>
              <a:t>4/21/2026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EC44133-C343-9242-9975-8039D7B91997}" type="slidenum">
              <a:rPr lang="en-US" smtClean="0"/>
              <a:t>‹#›</a:t>
            </a:fld>
            <a:endParaRPr lang="en-US" dirty="0"/>
          </a:p>
        </p:txBody>
      </p:sp>
    </p:spTree>
    <p:extLst>
      <p:ext uri="{BB962C8B-B14F-4D97-AF65-F5344CB8AC3E}">
        <p14:creationId xmlns:p14="http://schemas.microsoft.com/office/powerpoint/2010/main" val="5879759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GB"/>
              <a:t>Click to edit Master title style</a:t>
            </a:r>
            <a:endParaRPr lang="en-US" dirty="0"/>
          </a:p>
        </p:txBody>
      </p:sp>
      <p:sp>
        <p:nvSpPr>
          <p:cNvPr id="3" name="Content Placeholder 2"/>
          <p:cNvSpPr>
            <a:spLocks noGrp="1"/>
          </p:cNvSpPr>
          <p:nvPr>
            <p:ph idx="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2BECFEC1-1344-AD44-8D2E-702E20925CC3}" type="datetimeFigureOut">
              <a:rPr lang="en-US" smtClean="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EC44133-C343-9242-9975-8039D7B91997}" type="slidenum">
              <a:rPr lang="en-US" smtClean="0"/>
              <a:t>‹#›</a:t>
            </a:fld>
            <a:endParaRPr lang="en-US" dirty="0"/>
          </a:p>
        </p:txBody>
      </p:sp>
    </p:spTree>
    <p:extLst>
      <p:ext uri="{BB962C8B-B14F-4D97-AF65-F5344CB8AC3E}">
        <p14:creationId xmlns:p14="http://schemas.microsoft.com/office/powerpoint/2010/main" val="15396494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GB"/>
              <a:t>Click to edit Master title style</a:t>
            </a:r>
            <a:endParaRPr lang="en-US" dirty="0"/>
          </a:p>
        </p:txBody>
      </p:sp>
      <p:sp>
        <p:nvSpPr>
          <p:cNvPr id="3" name="Picture Placeholder 2"/>
          <p:cNvSpPr>
            <a:spLocks noGrp="1" noChangeAspect="1"/>
          </p:cNvSpPr>
          <p:nvPr>
            <p:ph type="pic" idx="1"/>
          </p:nvPr>
        </p:nvSpPr>
        <p:spPr>
          <a:xfrm>
            <a:off x="3887391" y="822855"/>
            <a:ext cx="4629150" cy="4061354"/>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Drag picture to placeholder or click icon to add</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2BECFEC1-1344-AD44-8D2E-702E20925CC3}" type="datetimeFigureOut">
              <a:rPr lang="en-US" smtClean="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EC44133-C343-9242-9975-8039D7B91997}" type="slidenum">
              <a:rPr lang="en-US" smtClean="0"/>
              <a:t>‹#›</a:t>
            </a:fld>
            <a:endParaRPr lang="en-US" dirty="0"/>
          </a:p>
        </p:txBody>
      </p:sp>
    </p:spTree>
    <p:extLst>
      <p:ext uri="{BB962C8B-B14F-4D97-AF65-F5344CB8AC3E}">
        <p14:creationId xmlns:p14="http://schemas.microsoft.com/office/powerpoint/2010/main" val="18578770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2BECFEC1-1344-AD44-8D2E-702E20925CC3}"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EC44133-C343-9242-9975-8039D7B91997}" type="slidenum">
              <a:rPr lang="en-US" smtClean="0"/>
              <a:t>‹#›</a:t>
            </a:fld>
            <a:endParaRPr lang="en-US" dirty="0"/>
          </a:p>
        </p:txBody>
      </p:sp>
    </p:spTree>
    <p:extLst>
      <p:ext uri="{BB962C8B-B14F-4D97-AF65-F5344CB8AC3E}">
        <p14:creationId xmlns:p14="http://schemas.microsoft.com/office/powerpoint/2010/main" val="9275368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04271"/>
            <a:ext cx="1971675" cy="484319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0" y="304271"/>
            <a:ext cx="5800725" cy="484319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2BECFEC1-1344-AD44-8D2E-702E20925CC3}"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EC44133-C343-9242-9975-8039D7B91997}" type="slidenum">
              <a:rPr lang="en-US" smtClean="0"/>
              <a:t>‹#›</a:t>
            </a:fld>
            <a:endParaRPr lang="en-US" dirty="0"/>
          </a:p>
        </p:txBody>
      </p:sp>
    </p:spTree>
    <p:extLst>
      <p:ext uri="{BB962C8B-B14F-4D97-AF65-F5344CB8AC3E}">
        <p14:creationId xmlns:p14="http://schemas.microsoft.com/office/powerpoint/2010/main" val="5279939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571500"/>
            <a:ext cx="8534400" cy="9525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533400" y="1651000"/>
            <a:ext cx="3810000" cy="3429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495800" y="1651000"/>
            <a:ext cx="3810000" cy="3429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a:xfrm>
            <a:off x="1173163" y="5221553"/>
            <a:ext cx="1905000" cy="381000"/>
          </a:xfrm>
        </p:spPr>
        <p:txBody>
          <a:bodyPr/>
          <a:lstStyle>
            <a:lvl1pPr>
              <a:defRPr/>
            </a:lvl1pPr>
          </a:lstStyle>
          <a:p>
            <a:endParaRPr lang="en-US" altLang="en-US" dirty="0"/>
          </a:p>
        </p:txBody>
      </p:sp>
      <p:sp>
        <p:nvSpPr>
          <p:cNvPr id="6" name="Footer Placeholder 5"/>
          <p:cNvSpPr>
            <a:spLocks noGrp="1"/>
          </p:cNvSpPr>
          <p:nvPr>
            <p:ph type="ftr" sz="quarter" idx="11"/>
          </p:nvPr>
        </p:nvSpPr>
        <p:spPr>
          <a:xfrm>
            <a:off x="3581400" y="5207000"/>
            <a:ext cx="2895600" cy="381000"/>
          </a:xfrm>
        </p:spPr>
        <p:txBody>
          <a:bodyPr/>
          <a:lstStyle>
            <a:lvl1pPr>
              <a:defRPr/>
            </a:lvl1pPr>
          </a:lstStyle>
          <a:p>
            <a:endParaRPr lang="en-US" altLang="en-US" dirty="0"/>
          </a:p>
        </p:txBody>
      </p:sp>
    </p:spTree>
    <p:extLst>
      <p:ext uri="{BB962C8B-B14F-4D97-AF65-F5344CB8AC3E}">
        <p14:creationId xmlns:p14="http://schemas.microsoft.com/office/powerpoint/2010/main" val="28454109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p:spPr>
        <p:txBody>
          <a:bodyPr anchor="b"/>
          <a:lstStyle>
            <a:lvl1pPr algn="ctr">
              <a:defRPr sz="4500"/>
            </a:lvl1pPr>
          </a:lstStyle>
          <a:p>
            <a:r>
              <a:rPr lang="en-GB"/>
              <a:t>Click to edit Master title style</a:t>
            </a:r>
            <a:endParaRPr lang="en-US" dirty="0"/>
          </a:p>
        </p:txBody>
      </p:sp>
      <p:sp>
        <p:nvSpPr>
          <p:cNvPr id="3" name="Subtitle 2"/>
          <p:cNvSpPr>
            <a:spLocks noGrp="1"/>
          </p:cNvSpPr>
          <p:nvPr>
            <p:ph type="subTitle" idx="1"/>
          </p:nvPr>
        </p:nvSpPr>
        <p:spPr>
          <a:xfrm>
            <a:off x="1143000" y="3001698"/>
            <a:ext cx="6858000" cy="137980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88654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5162769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424782"/>
            <a:ext cx="7886700" cy="2377281"/>
          </a:xfrm>
        </p:spPr>
        <p:txBody>
          <a:bodyPr anchor="b"/>
          <a:lstStyle>
            <a:lvl1pPr>
              <a:defRPr sz="4500"/>
            </a:lvl1pPr>
          </a:lstStyle>
          <a:p>
            <a:r>
              <a:rPr lang="en-GB"/>
              <a:t>Click to edit Master title style</a:t>
            </a:r>
            <a:endParaRPr lang="en-US" dirty="0"/>
          </a:p>
        </p:txBody>
      </p:sp>
      <p:sp>
        <p:nvSpPr>
          <p:cNvPr id="3" name="Text Placeholder 2"/>
          <p:cNvSpPr>
            <a:spLocks noGrp="1"/>
          </p:cNvSpPr>
          <p:nvPr>
            <p:ph type="body" idx="1"/>
          </p:nvPr>
        </p:nvSpPr>
        <p:spPr>
          <a:xfrm>
            <a:off x="623888" y="3824553"/>
            <a:ext cx="7886700" cy="1250156"/>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199D21A-8FA4-AA48-B44F-FA65CC33588D}"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D30F635-7B0F-FF44-8F0D-41E13FD56924}" type="slidenum">
              <a:rPr lang="en-US" smtClean="0"/>
              <a:t>‹#›</a:t>
            </a:fld>
            <a:endParaRPr lang="en-US" dirty="0"/>
          </a:p>
        </p:txBody>
      </p:sp>
    </p:spTree>
    <p:extLst>
      <p:ext uri="{BB962C8B-B14F-4D97-AF65-F5344CB8AC3E}">
        <p14:creationId xmlns:p14="http://schemas.microsoft.com/office/powerpoint/2010/main" val="12330504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28650" y="1521354"/>
            <a:ext cx="3886200" cy="362611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29150" y="1521354"/>
            <a:ext cx="3886200" cy="362611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D199D21A-8FA4-AA48-B44F-FA65CC33588D}" type="datetimeFigureOut">
              <a:rPr lang="en-US" smtClean="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D30F635-7B0F-FF44-8F0D-41E13FD56924}" type="slidenum">
              <a:rPr lang="en-US" smtClean="0"/>
              <a:t>‹#›</a:t>
            </a:fld>
            <a:endParaRPr lang="en-US" dirty="0"/>
          </a:p>
        </p:txBody>
      </p:sp>
    </p:spTree>
    <p:extLst>
      <p:ext uri="{BB962C8B-B14F-4D97-AF65-F5344CB8AC3E}">
        <p14:creationId xmlns:p14="http://schemas.microsoft.com/office/powerpoint/2010/main" val="6623750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04271"/>
            <a:ext cx="7886700" cy="1104636"/>
          </a:xfrm>
        </p:spPr>
        <p:txBody>
          <a:bodyPr/>
          <a:lstStyle/>
          <a:p>
            <a:r>
              <a:rPr lang="en-GB"/>
              <a:t>Click to edit Master title style</a:t>
            </a:r>
            <a:endParaRPr lang="en-US" dirty="0"/>
          </a:p>
        </p:txBody>
      </p:sp>
      <p:sp>
        <p:nvSpPr>
          <p:cNvPr id="3" name="Text Placeholder 2"/>
          <p:cNvSpPr>
            <a:spLocks noGrp="1"/>
          </p:cNvSpPr>
          <p:nvPr>
            <p:ph type="body" idx="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629842" y="2087563"/>
            <a:ext cx="3868340" cy="307049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4629150" y="2087563"/>
            <a:ext cx="3887391" cy="307049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D199D21A-8FA4-AA48-B44F-FA65CC33588D}" type="datetimeFigureOut">
              <a:rPr lang="en-US" smtClean="0"/>
              <a:t>4/21/2026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D30F635-7B0F-FF44-8F0D-41E13FD56924}" type="slidenum">
              <a:rPr lang="en-US" smtClean="0"/>
              <a:t>‹#›</a:t>
            </a:fld>
            <a:endParaRPr lang="en-US" dirty="0"/>
          </a:p>
        </p:txBody>
      </p:sp>
    </p:spTree>
    <p:extLst>
      <p:ext uri="{BB962C8B-B14F-4D97-AF65-F5344CB8AC3E}">
        <p14:creationId xmlns:p14="http://schemas.microsoft.com/office/powerpoint/2010/main" val="21301095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D199D21A-8FA4-AA48-B44F-FA65CC33588D}" type="datetimeFigureOut">
              <a:rPr lang="en-US" smtClean="0"/>
              <a:t>4/21/2026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D30F635-7B0F-FF44-8F0D-41E13FD56924}" type="slidenum">
              <a:rPr lang="en-US" smtClean="0"/>
              <a:t>‹#›</a:t>
            </a:fld>
            <a:endParaRPr lang="en-US" dirty="0"/>
          </a:p>
        </p:txBody>
      </p:sp>
    </p:spTree>
    <p:extLst>
      <p:ext uri="{BB962C8B-B14F-4D97-AF65-F5344CB8AC3E}">
        <p14:creationId xmlns:p14="http://schemas.microsoft.com/office/powerpoint/2010/main" val="506554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99D21A-8FA4-AA48-B44F-FA65CC33588D}" type="datetimeFigureOut">
              <a:rPr lang="en-US" smtClean="0"/>
              <a:t>4/21/2026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D30F635-7B0F-FF44-8F0D-41E13FD56924}" type="slidenum">
              <a:rPr lang="en-US" smtClean="0"/>
              <a:t>‹#›</a:t>
            </a:fld>
            <a:endParaRPr lang="en-US" dirty="0"/>
          </a:p>
        </p:txBody>
      </p:sp>
    </p:spTree>
    <p:extLst>
      <p:ext uri="{BB962C8B-B14F-4D97-AF65-F5344CB8AC3E}">
        <p14:creationId xmlns:p14="http://schemas.microsoft.com/office/powerpoint/2010/main" val="9623382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GB"/>
              <a:t>Click to edit Master title style</a:t>
            </a:r>
            <a:endParaRPr lang="en-US" dirty="0"/>
          </a:p>
        </p:txBody>
      </p:sp>
      <p:sp>
        <p:nvSpPr>
          <p:cNvPr id="3" name="Content Placeholder 2"/>
          <p:cNvSpPr>
            <a:spLocks noGrp="1"/>
          </p:cNvSpPr>
          <p:nvPr>
            <p:ph idx="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D199D21A-8FA4-AA48-B44F-FA65CC33588D}" type="datetimeFigureOut">
              <a:rPr lang="en-US" smtClean="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D30F635-7B0F-FF44-8F0D-41E13FD56924}" type="slidenum">
              <a:rPr lang="en-US" smtClean="0"/>
              <a:t>‹#›</a:t>
            </a:fld>
            <a:endParaRPr lang="en-US" dirty="0"/>
          </a:p>
        </p:txBody>
      </p:sp>
    </p:spTree>
    <p:extLst>
      <p:ext uri="{BB962C8B-B14F-4D97-AF65-F5344CB8AC3E}">
        <p14:creationId xmlns:p14="http://schemas.microsoft.com/office/powerpoint/2010/main" val="13191011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GB"/>
              <a:t>Click to edit Master title style</a:t>
            </a:r>
            <a:endParaRPr lang="en-US" dirty="0"/>
          </a:p>
        </p:txBody>
      </p:sp>
      <p:sp>
        <p:nvSpPr>
          <p:cNvPr id="3" name="Picture Placeholder 2"/>
          <p:cNvSpPr>
            <a:spLocks noGrp="1" noChangeAspect="1"/>
          </p:cNvSpPr>
          <p:nvPr>
            <p:ph type="pic" idx="1"/>
          </p:nvPr>
        </p:nvSpPr>
        <p:spPr>
          <a:xfrm>
            <a:off x="3887391" y="822855"/>
            <a:ext cx="4629150" cy="4061354"/>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Drag picture to placeholder or click icon to add</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D199D21A-8FA4-AA48-B44F-FA65CC33588D}" type="datetimeFigureOut">
              <a:rPr lang="en-US" smtClean="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D30F635-7B0F-FF44-8F0D-41E13FD56924}" type="slidenum">
              <a:rPr lang="en-US" smtClean="0"/>
              <a:t>‹#›</a:t>
            </a:fld>
            <a:endParaRPr lang="en-US" dirty="0"/>
          </a:p>
        </p:txBody>
      </p:sp>
    </p:spTree>
    <p:extLst>
      <p:ext uri="{BB962C8B-B14F-4D97-AF65-F5344CB8AC3E}">
        <p14:creationId xmlns:p14="http://schemas.microsoft.com/office/powerpoint/2010/main" val="16597770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199D21A-8FA4-AA48-B44F-FA65CC33588D}"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D30F635-7B0F-FF44-8F0D-41E13FD56924}" type="slidenum">
              <a:rPr lang="en-US" smtClean="0"/>
              <a:t>‹#›</a:t>
            </a:fld>
            <a:endParaRPr lang="en-US" dirty="0"/>
          </a:p>
        </p:txBody>
      </p:sp>
    </p:spTree>
    <p:extLst>
      <p:ext uri="{BB962C8B-B14F-4D97-AF65-F5344CB8AC3E}">
        <p14:creationId xmlns:p14="http://schemas.microsoft.com/office/powerpoint/2010/main" val="603216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04271"/>
            <a:ext cx="1971675" cy="484319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0" y="304271"/>
            <a:ext cx="5800725" cy="484319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199D21A-8FA4-AA48-B44F-FA65CC33588D}"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D30F635-7B0F-FF44-8F0D-41E13FD56924}" type="slidenum">
              <a:rPr lang="en-US" smtClean="0"/>
              <a:t>‹#›</a:t>
            </a:fld>
            <a:endParaRPr lang="en-US" dirty="0"/>
          </a:p>
        </p:txBody>
      </p:sp>
    </p:spTree>
    <p:extLst>
      <p:ext uri="{BB962C8B-B14F-4D97-AF65-F5344CB8AC3E}">
        <p14:creationId xmlns:p14="http://schemas.microsoft.com/office/powerpoint/2010/main" val="21330360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a:t>Click to edit Master title style</a:t>
            </a:r>
            <a:endParaRPr lang="en-US"/>
          </a:p>
        </p:txBody>
      </p:sp>
      <p:sp>
        <p:nvSpPr>
          <p:cNvPr id="3" name="Date Placeholder 2"/>
          <p:cNvSpPr>
            <a:spLocks noGrp="1"/>
          </p:cNvSpPr>
          <p:nvPr>
            <p:ph type="dt" sz="half" idx="10"/>
          </p:nvPr>
        </p:nvSpPr>
        <p:spPr>
          <a:xfrm>
            <a:off x="628650" y="5296960"/>
            <a:ext cx="2057400" cy="304271"/>
          </a:xfrm>
          <a:prstGeom prst="rect">
            <a:avLst/>
          </a:prstGeom>
        </p:spPr>
        <p:txBody>
          <a:bodyPr/>
          <a:lstStyle/>
          <a:p>
            <a:fld id="{C764DE79-268F-4C1A-8933-263129D2AF90}" type="datetimeFigureOut">
              <a:rPr lang="en-US" smtClean="0"/>
              <a:t>4/21/2026</a:t>
            </a:fld>
            <a:endParaRPr lang="en-US" dirty="0"/>
          </a:p>
        </p:txBody>
      </p:sp>
      <p:sp>
        <p:nvSpPr>
          <p:cNvPr id="4" name="Footer Placeholder 3"/>
          <p:cNvSpPr>
            <a:spLocks noGrp="1"/>
          </p:cNvSpPr>
          <p:nvPr>
            <p:ph type="ftr" sz="quarter" idx="11"/>
          </p:nvPr>
        </p:nvSpPr>
        <p:spPr>
          <a:xfrm>
            <a:off x="3028950" y="5296960"/>
            <a:ext cx="3086100" cy="304271"/>
          </a:xfrm>
          <a:prstGeom prst="rect">
            <a:avLst/>
          </a:prstGeom>
        </p:spPr>
        <p:txBody>
          <a:bodyPr/>
          <a:lstStyle/>
          <a:p>
            <a:endParaRPr lang="en-US" dirty="0"/>
          </a:p>
        </p:txBody>
      </p:sp>
      <p:sp>
        <p:nvSpPr>
          <p:cNvPr id="5" name="Slide Number Placeholder 4"/>
          <p:cNvSpPr>
            <a:spLocks noGrp="1"/>
          </p:cNvSpPr>
          <p:nvPr>
            <p:ph type="sldNum" sz="quarter" idx="12"/>
          </p:nvPr>
        </p:nvSpPr>
        <p:spPr>
          <a:xfrm>
            <a:off x="6457950" y="5296960"/>
            <a:ext cx="2057400" cy="304271"/>
          </a:xfrm>
          <a:prstGeom prst="rect">
            <a:avLst/>
          </a:prstGeom>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8779389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a:t>Click to edit Master title style</a:t>
            </a:r>
            <a:endParaRPr lang="en-US"/>
          </a:p>
        </p:txBody>
      </p:sp>
      <p:sp>
        <p:nvSpPr>
          <p:cNvPr id="3" name="Date Placeholder 2"/>
          <p:cNvSpPr>
            <a:spLocks noGrp="1"/>
          </p:cNvSpPr>
          <p:nvPr>
            <p:ph type="dt" sz="half" idx="10"/>
          </p:nvPr>
        </p:nvSpPr>
        <p:spPr>
          <a:xfrm>
            <a:off x="628650" y="5296960"/>
            <a:ext cx="2057400" cy="304271"/>
          </a:xfrm>
          <a:prstGeom prst="rect">
            <a:avLst/>
          </a:prstGeom>
        </p:spPr>
        <p:txBody>
          <a:bodyPr/>
          <a:lstStyle/>
          <a:p>
            <a:fld id="{C764DE79-268F-4C1A-8933-263129D2AF90}" type="datetimeFigureOut">
              <a:rPr lang="en-US" smtClean="0"/>
              <a:t>4/21/2026</a:t>
            </a:fld>
            <a:endParaRPr lang="en-US" dirty="0"/>
          </a:p>
        </p:txBody>
      </p:sp>
      <p:sp>
        <p:nvSpPr>
          <p:cNvPr id="4" name="Footer Placeholder 3"/>
          <p:cNvSpPr>
            <a:spLocks noGrp="1"/>
          </p:cNvSpPr>
          <p:nvPr>
            <p:ph type="ftr" sz="quarter" idx="11"/>
          </p:nvPr>
        </p:nvSpPr>
        <p:spPr>
          <a:xfrm>
            <a:off x="3028950" y="5296960"/>
            <a:ext cx="3086100" cy="304271"/>
          </a:xfrm>
          <a:prstGeom prst="rect">
            <a:avLst/>
          </a:prstGeom>
        </p:spPr>
        <p:txBody>
          <a:bodyPr/>
          <a:lstStyle/>
          <a:p>
            <a:endParaRPr lang="en-US" dirty="0"/>
          </a:p>
        </p:txBody>
      </p:sp>
      <p:sp>
        <p:nvSpPr>
          <p:cNvPr id="5" name="Slide Number Placeholder 4"/>
          <p:cNvSpPr>
            <a:spLocks noGrp="1"/>
          </p:cNvSpPr>
          <p:nvPr>
            <p:ph type="sldNum" sz="quarter" idx="12"/>
          </p:nvPr>
        </p:nvSpPr>
        <p:spPr>
          <a:xfrm>
            <a:off x="6457950" y="5296960"/>
            <a:ext cx="2057400" cy="304271"/>
          </a:xfrm>
          <a:prstGeom prst="rect">
            <a:avLst/>
          </a:prstGeom>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598613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381000" y="571500"/>
            <a:ext cx="8534400" cy="952500"/>
          </a:xfrm>
        </p:spPr>
        <p:txBody>
          <a:bodyPr/>
          <a:lstStyle/>
          <a:p>
            <a:r>
              <a:rPr lang="en-US"/>
              <a:t>Click to edit Master title style</a:t>
            </a:r>
            <a:endParaRPr lang="en-GB"/>
          </a:p>
        </p:txBody>
      </p:sp>
      <p:sp>
        <p:nvSpPr>
          <p:cNvPr id="3" name="SmartArt Placeholder 2"/>
          <p:cNvSpPr>
            <a:spLocks noGrp="1"/>
          </p:cNvSpPr>
          <p:nvPr>
            <p:ph type="dgm" idx="1"/>
          </p:nvPr>
        </p:nvSpPr>
        <p:spPr>
          <a:xfrm>
            <a:off x="533400" y="1651000"/>
            <a:ext cx="7772400" cy="3429000"/>
          </a:xfrm>
        </p:spPr>
        <p:txBody>
          <a:bodyPr/>
          <a:lstStyle/>
          <a:p>
            <a:endParaRPr lang="en-GB" dirty="0"/>
          </a:p>
        </p:txBody>
      </p:sp>
      <p:sp>
        <p:nvSpPr>
          <p:cNvPr id="4" name="Date Placeholder 3"/>
          <p:cNvSpPr>
            <a:spLocks noGrp="1"/>
          </p:cNvSpPr>
          <p:nvPr>
            <p:ph type="dt" sz="half" idx="10"/>
          </p:nvPr>
        </p:nvSpPr>
        <p:spPr>
          <a:xfrm>
            <a:off x="1173163" y="5221553"/>
            <a:ext cx="1905000" cy="381000"/>
          </a:xfrm>
        </p:spPr>
        <p:txBody>
          <a:bodyPr/>
          <a:lstStyle>
            <a:lvl1pPr>
              <a:defRPr/>
            </a:lvl1pPr>
          </a:lstStyle>
          <a:p>
            <a:endParaRPr lang="en-US" altLang="en-US" dirty="0"/>
          </a:p>
        </p:txBody>
      </p:sp>
      <p:sp>
        <p:nvSpPr>
          <p:cNvPr id="5" name="Footer Placeholder 4"/>
          <p:cNvSpPr>
            <a:spLocks noGrp="1"/>
          </p:cNvSpPr>
          <p:nvPr>
            <p:ph type="ftr" sz="quarter" idx="11"/>
          </p:nvPr>
        </p:nvSpPr>
        <p:spPr>
          <a:xfrm>
            <a:off x="3581400" y="5207000"/>
            <a:ext cx="2895600" cy="381000"/>
          </a:xfrm>
        </p:spPr>
        <p:txBody>
          <a:bodyPr/>
          <a:lstStyle>
            <a:lvl1pPr>
              <a:defRPr/>
            </a:lvl1pPr>
          </a:lstStyle>
          <a:p>
            <a:endParaRPr lang="en-US" altLang="en-US" dirty="0"/>
          </a:p>
        </p:txBody>
      </p:sp>
    </p:spTree>
    <p:extLst>
      <p:ext uri="{BB962C8B-B14F-4D97-AF65-F5344CB8AC3E}">
        <p14:creationId xmlns:p14="http://schemas.microsoft.com/office/powerpoint/2010/main" val="27173491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p:spPr>
        <p:txBody>
          <a:bodyPr anchor="b"/>
          <a:lstStyle>
            <a:lvl1pPr algn="ctr">
              <a:defRPr sz="3750"/>
            </a:lvl1pPr>
          </a:lstStyle>
          <a:p>
            <a:r>
              <a:rPr lang="en-GB"/>
              <a:t>Click to edit Master title style</a:t>
            </a:r>
            <a:endParaRPr lang="en-US"/>
          </a:p>
        </p:txBody>
      </p:sp>
      <p:sp>
        <p:nvSpPr>
          <p:cNvPr id="3" name="Subtitle 2"/>
          <p:cNvSpPr>
            <a:spLocks noGrp="1"/>
          </p:cNvSpPr>
          <p:nvPr>
            <p:ph type="subTitle" idx="1"/>
          </p:nvPr>
        </p:nvSpPr>
        <p:spPr>
          <a:xfrm>
            <a:off x="1143000" y="3001698"/>
            <a:ext cx="6858000" cy="1379802"/>
          </a:xfrm>
        </p:spPr>
        <p:txBody>
          <a:bodyPr/>
          <a:lstStyle>
            <a:lvl1pPr marL="0" indent="0" algn="ctr">
              <a:buNone/>
              <a:defRPr sz="1500"/>
            </a:lvl1pPr>
            <a:lvl2pPr marL="285739" indent="0" algn="ctr">
              <a:buNone/>
              <a:defRPr sz="1250"/>
            </a:lvl2pPr>
            <a:lvl3pPr marL="571477" indent="0" algn="ctr">
              <a:buNone/>
              <a:defRPr sz="1125"/>
            </a:lvl3pPr>
            <a:lvl4pPr marL="857216" indent="0" algn="ctr">
              <a:buNone/>
              <a:defRPr sz="1000"/>
            </a:lvl4pPr>
            <a:lvl5pPr marL="1142954" indent="0" algn="ctr">
              <a:buNone/>
              <a:defRPr sz="1000"/>
            </a:lvl5pPr>
            <a:lvl6pPr marL="1428693" indent="0" algn="ctr">
              <a:buNone/>
              <a:defRPr sz="1000"/>
            </a:lvl6pPr>
            <a:lvl7pPr marL="1714431" indent="0" algn="ctr">
              <a:buNone/>
              <a:defRPr sz="1000"/>
            </a:lvl7pPr>
            <a:lvl8pPr marL="2000170" indent="0" algn="ctr">
              <a:buNone/>
              <a:defRPr sz="1000"/>
            </a:lvl8pPr>
            <a:lvl9pPr marL="2285909" indent="0" algn="ctr">
              <a:buNone/>
              <a:defRPr sz="10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22AB6D0-5BE1-4E23-B2B8-4B12D1A985FF}"/>
              </a:ext>
            </a:extLst>
          </p:cNvPr>
          <p:cNvSpPr>
            <a:spLocks noGrp="1"/>
          </p:cNvSpPr>
          <p:nvPr>
            <p:ph type="dt" sz="half" idx="10"/>
          </p:nvPr>
        </p:nvSpPr>
        <p:spPr/>
        <p:txBody>
          <a:bodyPr/>
          <a:lstStyle>
            <a:lvl1pPr>
              <a:defRPr/>
            </a:lvl1pPr>
          </a:lstStyle>
          <a:p>
            <a:pPr>
              <a:defRPr/>
            </a:pPr>
            <a:fld id="{76A128DF-0913-4823-957E-691C14E432EE}" type="datetimeFigureOut">
              <a:rPr lang="en-US"/>
              <a:pPr>
                <a:defRPr/>
              </a:pPr>
              <a:t>4/21/2026</a:t>
            </a:fld>
            <a:endParaRPr lang="en-US" dirty="0"/>
          </a:p>
        </p:txBody>
      </p:sp>
      <p:sp>
        <p:nvSpPr>
          <p:cNvPr id="5" name="Footer Placeholder 4">
            <a:extLst>
              <a:ext uri="{FF2B5EF4-FFF2-40B4-BE49-F238E27FC236}">
                <a16:creationId xmlns:a16="http://schemas.microsoft.com/office/drawing/2014/main" id="{118102EC-F7EE-49DE-9E41-AC85CD427850}"/>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0D5CED01-BCB9-4721-BC93-7A7E2A753A44}"/>
              </a:ext>
            </a:extLst>
          </p:cNvPr>
          <p:cNvSpPr>
            <a:spLocks noGrp="1"/>
          </p:cNvSpPr>
          <p:nvPr>
            <p:ph type="sldNum" sz="quarter" idx="12"/>
          </p:nvPr>
        </p:nvSpPr>
        <p:spPr/>
        <p:txBody>
          <a:bodyPr/>
          <a:lstStyle>
            <a:lvl1pPr>
              <a:defRPr/>
            </a:lvl1pPr>
          </a:lstStyle>
          <a:p>
            <a:pPr>
              <a:defRPr/>
            </a:pPr>
            <a:fld id="{5B33E990-F0E6-4BB8-A50D-DCFF0FA704F7}" type="slidenum">
              <a:rPr lang="en-US"/>
              <a:pPr>
                <a:defRPr/>
              </a:pPr>
              <a:t>‹#›</a:t>
            </a:fld>
            <a:endParaRPr lang="en-US" dirty="0"/>
          </a:p>
        </p:txBody>
      </p:sp>
    </p:spTree>
    <p:extLst>
      <p:ext uri="{BB962C8B-B14F-4D97-AF65-F5344CB8AC3E}">
        <p14:creationId xmlns:p14="http://schemas.microsoft.com/office/powerpoint/2010/main" val="346560138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9617334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424783"/>
            <a:ext cx="7886700" cy="2377281"/>
          </a:xfrm>
        </p:spPr>
        <p:txBody>
          <a:bodyPr anchor="b"/>
          <a:lstStyle>
            <a:lvl1pPr>
              <a:defRPr sz="3750"/>
            </a:lvl1pPr>
          </a:lstStyle>
          <a:p>
            <a:r>
              <a:rPr lang="en-GB"/>
              <a:t>Click to edit Master title style</a:t>
            </a:r>
            <a:endParaRPr lang="en-US"/>
          </a:p>
        </p:txBody>
      </p:sp>
      <p:sp>
        <p:nvSpPr>
          <p:cNvPr id="3" name="Text Placeholder 2"/>
          <p:cNvSpPr>
            <a:spLocks noGrp="1"/>
          </p:cNvSpPr>
          <p:nvPr>
            <p:ph type="body" idx="1"/>
          </p:nvPr>
        </p:nvSpPr>
        <p:spPr>
          <a:xfrm>
            <a:off x="623888" y="3824554"/>
            <a:ext cx="7886700" cy="1250156"/>
          </a:xfrm>
        </p:spPr>
        <p:txBody>
          <a:bodyPr/>
          <a:lstStyle>
            <a:lvl1pPr marL="0" indent="0">
              <a:buNone/>
              <a:defRPr sz="1500">
                <a:solidFill>
                  <a:schemeClr val="tx1">
                    <a:tint val="75000"/>
                  </a:schemeClr>
                </a:solidFill>
              </a:defRPr>
            </a:lvl1pPr>
            <a:lvl2pPr marL="285739" indent="0">
              <a:buNone/>
              <a:defRPr sz="1250">
                <a:solidFill>
                  <a:schemeClr val="tx1">
                    <a:tint val="75000"/>
                  </a:schemeClr>
                </a:solidFill>
              </a:defRPr>
            </a:lvl2pPr>
            <a:lvl3pPr marL="571477" indent="0">
              <a:buNone/>
              <a:defRPr sz="1125">
                <a:solidFill>
                  <a:schemeClr val="tx1">
                    <a:tint val="75000"/>
                  </a:schemeClr>
                </a:solidFill>
              </a:defRPr>
            </a:lvl3pPr>
            <a:lvl4pPr marL="857216" indent="0">
              <a:buNone/>
              <a:defRPr sz="1000">
                <a:solidFill>
                  <a:schemeClr val="tx1">
                    <a:tint val="75000"/>
                  </a:schemeClr>
                </a:solidFill>
              </a:defRPr>
            </a:lvl4pPr>
            <a:lvl5pPr marL="1142954" indent="0">
              <a:buNone/>
              <a:defRPr sz="1000">
                <a:solidFill>
                  <a:schemeClr val="tx1">
                    <a:tint val="75000"/>
                  </a:schemeClr>
                </a:solidFill>
              </a:defRPr>
            </a:lvl5pPr>
            <a:lvl6pPr marL="1428693" indent="0">
              <a:buNone/>
              <a:defRPr sz="1000">
                <a:solidFill>
                  <a:schemeClr val="tx1">
                    <a:tint val="75000"/>
                  </a:schemeClr>
                </a:solidFill>
              </a:defRPr>
            </a:lvl6pPr>
            <a:lvl7pPr marL="1714431" indent="0">
              <a:buNone/>
              <a:defRPr sz="1000">
                <a:solidFill>
                  <a:schemeClr val="tx1">
                    <a:tint val="75000"/>
                  </a:schemeClr>
                </a:solidFill>
              </a:defRPr>
            </a:lvl7pPr>
            <a:lvl8pPr marL="2000170" indent="0">
              <a:buNone/>
              <a:defRPr sz="1000">
                <a:solidFill>
                  <a:schemeClr val="tx1">
                    <a:tint val="75000"/>
                  </a:schemeClr>
                </a:solidFill>
              </a:defRPr>
            </a:lvl8pPr>
            <a:lvl9pPr marL="2285909" indent="0">
              <a:buNone/>
              <a:defRPr sz="10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DD4F61F-2EBE-4F45-9056-3EF2E1571085}"/>
              </a:ext>
            </a:extLst>
          </p:cNvPr>
          <p:cNvSpPr>
            <a:spLocks noGrp="1"/>
          </p:cNvSpPr>
          <p:nvPr>
            <p:ph type="dt" sz="half" idx="10"/>
          </p:nvPr>
        </p:nvSpPr>
        <p:spPr/>
        <p:txBody>
          <a:bodyPr/>
          <a:lstStyle>
            <a:lvl1pPr>
              <a:defRPr/>
            </a:lvl1pPr>
          </a:lstStyle>
          <a:p>
            <a:pPr>
              <a:defRPr/>
            </a:pPr>
            <a:fld id="{0EF44A8E-4C26-4D50-9CD3-BE062FB555A2}" type="datetimeFigureOut">
              <a:rPr lang="en-US"/>
              <a:pPr>
                <a:defRPr/>
              </a:pPr>
              <a:t>4/21/2026</a:t>
            </a:fld>
            <a:endParaRPr lang="en-US" dirty="0"/>
          </a:p>
        </p:txBody>
      </p:sp>
      <p:sp>
        <p:nvSpPr>
          <p:cNvPr id="5" name="Footer Placeholder 4">
            <a:extLst>
              <a:ext uri="{FF2B5EF4-FFF2-40B4-BE49-F238E27FC236}">
                <a16:creationId xmlns:a16="http://schemas.microsoft.com/office/drawing/2014/main" id="{4B15FD95-BEF3-447B-A4FB-20E5356A5FBF}"/>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58570814-3344-4E46-8236-52E835B14361}"/>
              </a:ext>
            </a:extLst>
          </p:cNvPr>
          <p:cNvSpPr>
            <a:spLocks noGrp="1"/>
          </p:cNvSpPr>
          <p:nvPr>
            <p:ph type="sldNum" sz="quarter" idx="12"/>
          </p:nvPr>
        </p:nvSpPr>
        <p:spPr/>
        <p:txBody>
          <a:bodyPr/>
          <a:lstStyle>
            <a:lvl1pPr>
              <a:defRPr/>
            </a:lvl1pPr>
          </a:lstStyle>
          <a:p>
            <a:pPr>
              <a:defRPr/>
            </a:pPr>
            <a:fld id="{F0444E37-0CEB-422A-B81E-E257F4318572}" type="slidenum">
              <a:rPr lang="en-US"/>
              <a:pPr>
                <a:defRPr/>
              </a:pPr>
              <a:t>‹#›</a:t>
            </a:fld>
            <a:endParaRPr lang="en-US" dirty="0"/>
          </a:p>
        </p:txBody>
      </p:sp>
    </p:spTree>
    <p:extLst>
      <p:ext uri="{BB962C8B-B14F-4D97-AF65-F5344CB8AC3E}">
        <p14:creationId xmlns:p14="http://schemas.microsoft.com/office/powerpoint/2010/main" val="355452230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28650" y="1521354"/>
            <a:ext cx="3886200" cy="362611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29150" y="1521354"/>
            <a:ext cx="3886200" cy="362611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a:extLst>
              <a:ext uri="{FF2B5EF4-FFF2-40B4-BE49-F238E27FC236}">
                <a16:creationId xmlns:a16="http://schemas.microsoft.com/office/drawing/2014/main" id="{4903EA24-6AAC-481B-ADF4-E857CBEE9FD3}"/>
              </a:ext>
            </a:extLst>
          </p:cNvPr>
          <p:cNvSpPr>
            <a:spLocks noGrp="1"/>
          </p:cNvSpPr>
          <p:nvPr>
            <p:ph type="dt" sz="half" idx="10"/>
          </p:nvPr>
        </p:nvSpPr>
        <p:spPr/>
        <p:txBody>
          <a:bodyPr/>
          <a:lstStyle>
            <a:lvl1pPr>
              <a:defRPr/>
            </a:lvl1pPr>
          </a:lstStyle>
          <a:p>
            <a:pPr>
              <a:defRPr/>
            </a:pPr>
            <a:fld id="{EBACA11D-23B8-4212-8991-D9592C9D77FA}" type="datetimeFigureOut">
              <a:rPr lang="en-US"/>
              <a:pPr>
                <a:defRPr/>
              </a:pPr>
              <a:t>4/21/2026</a:t>
            </a:fld>
            <a:endParaRPr lang="en-US" dirty="0"/>
          </a:p>
        </p:txBody>
      </p:sp>
      <p:sp>
        <p:nvSpPr>
          <p:cNvPr id="6" name="Footer Placeholder 4">
            <a:extLst>
              <a:ext uri="{FF2B5EF4-FFF2-40B4-BE49-F238E27FC236}">
                <a16:creationId xmlns:a16="http://schemas.microsoft.com/office/drawing/2014/main" id="{922C764D-2FB8-45A7-823A-AFC2A0FA6432}"/>
              </a:ext>
            </a:extLst>
          </p:cNvPr>
          <p:cNvSpPr>
            <a:spLocks noGrp="1"/>
          </p:cNvSpPr>
          <p:nvPr>
            <p:ph type="ftr" sz="quarter" idx="11"/>
          </p:nvPr>
        </p:nvSpPr>
        <p:spPr/>
        <p:txBody>
          <a:bodyPr/>
          <a:lstStyle>
            <a:lvl1pPr>
              <a:defRPr/>
            </a:lvl1pPr>
          </a:lstStyle>
          <a:p>
            <a:pPr>
              <a:defRPr/>
            </a:pPr>
            <a:endParaRPr lang="en-US" dirty="0"/>
          </a:p>
        </p:txBody>
      </p:sp>
      <p:sp>
        <p:nvSpPr>
          <p:cNvPr id="7" name="Slide Number Placeholder 5">
            <a:extLst>
              <a:ext uri="{FF2B5EF4-FFF2-40B4-BE49-F238E27FC236}">
                <a16:creationId xmlns:a16="http://schemas.microsoft.com/office/drawing/2014/main" id="{36CF5858-1D6C-4009-8102-A440F8FB7199}"/>
              </a:ext>
            </a:extLst>
          </p:cNvPr>
          <p:cNvSpPr>
            <a:spLocks noGrp="1"/>
          </p:cNvSpPr>
          <p:nvPr>
            <p:ph type="sldNum" sz="quarter" idx="12"/>
          </p:nvPr>
        </p:nvSpPr>
        <p:spPr/>
        <p:txBody>
          <a:bodyPr/>
          <a:lstStyle>
            <a:lvl1pPr>
              <a:defRPr/>
            </a:lvl1pPr>
          </a:lstStyle>
          <a:p>
            <a:pPr>
              <a:defRPr/>
            </a:pPr>
            <a:fld id="{44D44BEE-753E-4993-AAE2-46EF9DB21BA4}" type="slidenum">
              <a:rPr lang="en-US"/>
              <a:pPr>
                <a:defRPr/>
              </a:pPr>
              <a:t>‹#›</a:t>
            </a:fld>
            <a:endParaRPr lang="en-US" dirty="0"/>
          </a:p>
        </p:txBody>
      </p:sp>
    </p:spTree>
    <p:extLst>
      <p:ext uri="{BB962C8B-B14F-4D97-AF65-F5344CB8AC3E}">
        <p14:creationId xmlns:p14="http://schemas.microsoft.com/office/powerpoint/2010/main" val="33787555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04271"/>
            <a:ext cx="7886700" cy="1104636"/>
          </a:xfrm>
        </p:spPr>
        <p:txBody>
          <a:bodyPr/>
          <a:lstStyle/>
          <a:p>
            <a:r>
              <a:rPr lang="en-GB"/>
              <a:t>Click to edit Master title style</a:t>
            </a:r>
            <a:endParaRPr lang="en-US"/>
          </a:p>
        </p:txBody>
      </p:sp>
      <p:sp>
        <p:nvSpPr>
          <p:cNvPr id="3" name="Text Placeholder 2"/>
          <p:cNvSpPr>
            <a:spLocks noGrp="1"/>
          </p:cNvSpPr>
          <p:nvPr>
            <p:ph type="body" idx="1"/>
          </p:nvPr>
        </p:nvSpPr>
        <p:spPr>
          <a:xfrm>
            <a:off x="629842" y="1400969"/>
            <a:ext cx="3868340" cy="686593"/>
          </a:xfrm>
        </p:spPr>
        <p:txBody>
          <a:bodyPr anchor="b"/>
          <a:lstStyle>
            <a:lvl1pPr marL="0" indent="0">
              <a:buNone/>
              <a:defRPr sz="1500" b="1"/>
            </a:lvl1pPr>
            <a:lvl2pPr marL="285739" indent="0">
              <a:buNone/>
              <a:defRPr sz="1250" b="1"/>
            </a:lvl2pPr>
            <a:lvl3pPr marL="571477" indent="0">
              <a:buNone/>
              <a:defRPr sz="1125" b="1"/>
            </a:lvl3pPr>
            <a:lvl4pPr marL="857216" indent="0">
              <a:buNone/>
              <a:defRPr sz="1000" b="1"/>
            </a:lvl4pPr>
            <a:lvl5pPr marL="1142954" indent="0">
              <a:buNone/>
              <a:defRPr sz="1000" b="1"/>
            </a:lvl5pPr>
            <a:lvl6pPr marL="1428693" indent="0">
              <a:buNone/>
              <a:defRPr sz="1000" b="1"/>
            </a:lvl6pPr>
            <a:lvl7pPr marL="1714431" indent="0">
              <a:buNone/>
              <a:defRPr sz="1000" b="1"/>
            </a:lvl7pPr>
            <a:lvl8pPr marL="2000170" indent="0">
              <a:buNone/>
              <a:defRPr sz="1000" b="1"/>
            </a:lvl8pPr>
            <a:lvl9pPr marL="2285909" indent="0">
              <a:buNone/>
              <a:defRPr sz="1000" b="1"/>
            </a:lvl9pPr>
          </a:lstStyle>
          <a:p>
            <a:pPr lvl="0"/>
            <a:r>
              <a:rPr lang="en-GB"/>
              <a:t>Click to edit Master text styles</a:t>
            </a:r>
          </a:p>
        </p:txBody>
      </p:sp>
      <p:sp>
        <p:nvSpPr>
          <p:cNvPr id="4" name="Content Placeholder 3"/>
          <p:cNvSpPr>
            <a:spLocks noGrp="1"/>
          </p:cNvSpPr>
          <p:nvPr>
            <p:ph sz="half" idx="2"/>
          </p:nvPr>
        </p:nvSpPr>
        <p:spPr>
          <a:xfrm>
            <a:off x="629842" y="2087563"/>
            <a:ext cx="3868340" cy="307049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29152" y="1400969"/>
            <a:ext cx="3887391" cy="686593"/>
          </a:xfrm>
        </p:spPr>
        <p:txBody>
          <a:bodyPr anchor="b"/>
          <a:lstStyle>
            <a:lvl1pPr marL="0" indent="0">
              <a:buNone/>
              <a:defRPr sz="1500" b="1"/>
            </a:lvl1pPr>
            <a:lvl2pPr marL="285739" indent="0">
              <a:buNone/>
              <a:defRPr sz="1250" b="1"/>
            </a:lvl2pPr>
            <a:lvl3pPr marL="571477" indent="0">
              <a:buNone/>
              <a:defRPr sz="1125" b="1"/>
            </a:lvl3pPr>
            <a:lvl4pPr marL="857216" indent="0">
              <a:buNone/>
              <a:defRPr sz="1000" b="1"/>
            </a:lvl4pPr>
            <a:lvl5pPr marL="1142954" indent="0">
              <a:buNone/>
              <a:defRPr sz="1000" b="1"/>
            </a:lvl5pPr>
            <a:lvl6pPr marL="1428693" indent="0">
              <a:buNone/>
              <a:defRPr sz="1000" b="1"/>
            </a:lvl6pPr>
            <a:lvl7pPr marL="1714431" indent="0">
              <a:buNone/>
              <a:defRPr sz="1000" b="1"/>
            </a:lvl7pPr>
            <a:lvl8pPr marL="2000170" indent="0">
              <a:buNone/>
              <a:defRPr sz="1000" b="1"/>
            </a:lvl8pPr>
            <a:lvl9pPr marL="2285909" indent="0">
              <a:buNone/>
              <a:defRPr sz="1000" b="1"/>
            </a:lvl9pPr>
          </a:lstStyle>
          <a:p>
            <a:pPr lvl="0"/>
            <a:r>
              <a:rPr lang="en-GB"/>
              <a:t>Click to edit Master text styles</a:t>
            </a:r>
          </a:p>
        </p:txBody>
      </p:sp>
      <p:sp>
        <p:nvSpPr>
          <p:cNvPr id="6" name="Content Placeholder 5"/>
          <p:cNvSpPr>
            <a:spLocks noGrp="1"/>
          </p:cNvSpPr>
          <p:nvPr>
            <p:ph sz="quarter" idx="4"/>
          </p:nvPr>
        </p:nvSpPr>
        <p:spPr>
          <a:xfrm>
            <a:off x="4629152" y="2087563"/>
            <a:ext cx="3887391" cy="307049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a:extLst>
              <a:ext uri="{FF2B5EF4-FFF2-40B4-BE49-F238E27FC236}">
                <a16:creationId xmlns:a16="http://schemas.microsoft.com/office/drawing/2014/main" id="{A8BF4803-5992-460D-B8AE-BC100F948C5D}"/>
              </a:ext>
            </a:extLst>
          </p:cNvPr>
          <p:cNvSpPr>
            <a:spLocks noGrp="1"/>
          </p:cNvSpPr>
          <p:nvPr>
            <p:ph type="dt" sz="half" idx="10"/>
          </p:nvPr>
        </p:nvSpPr>
        <p:spPr/>
        <p:txBody>
          <a:bodyPr/>
          <a:lstStyle>
            <a:lvl1pPr>
              <a:defRPr/>
            </a:lvl1pPr>
          </a:lstStyle>
          <a:p>
            <a:pPr>
              <a:defRPr/>
            </a:pPr>
            <a:fld id="{EE0CAC38-1E08-4BDA-BC6E-A36B0992FDC2}" type="datetimeFigureOut">
              <a:rPr lang="en-US"/>
              <a:pPr>
                <a:defRPr/>
              </a:pPr>
              <a:t>4/21/2026</a:t>
            </a:fld>
            <a:endParaRPr lang="en-US" dirty="0"/>
          </a:p>
        </p:txBody>
      </p:sp>
      <p:sp>
        <p:nvSpPr>
          <p:cNvPr id="8" name="Footer Placeholder 4">
            <a:extLst>
              <a:ext uri="{FF2B5EF4-FFF2-40B4-BE49-F238E27FC236}">
                <a16:creationId xmlns:a16="http://schemas.microsoft.com/office/drawing/2014/main" id="{5A179AF9-9DCD-4F66-897D-143AAB27C64B}"/>
              </a:ext>
            </a:extLst>
          </p:cNvPr>
          <p:cNvSpPr>
            <a:spLocks noGrp="1"/>
          </p:cNvSpPr>
          <p:nvPr>
            <p:ph type="ftr" sz="quarter" idx="11"/>
          </p:nvPr>
        </p:nvSpPr>
        <p:spPr/>
        <p:txBody>
          <a:bodyPr/>
          <a:lstStyle>
            <a:lvl1pPr>
              <a:defRPr/>
            </a:lvl1pPr>
          </a:lstStyle>
          <a:p>
            <a:pPr>
              <a:defRPr/>
            </a:pPr>
            <a:endParaRPr lang="en-US" dirty="0"/>
          </a:p>
        </p:txBody>
      </p:sp>
      <p:sp>
        <p:nvSpPr>
          <p:cNvPr id="9" name="Slide Number Placeholder 5">
            <a:extLst>
              <a:ext uri="{FF2B5EF4-FFF2-40B4-BE49-F238E27FC236}">
                <a16:creationId xmlns:a16="http://schemas.microsoft.com/office/drawing/2014/main" id="{E24F0625-3A9C-4B37-B1BF-74508FFE5B7E}"/>
              </a:ext>
            </a:extLst>
          </p:cNvPr>
          <p:cNvSpPr>
            <a:spLocks noGrp="1"/>
          </p:cNvSpPr>
          <p:nvPr>
            <p:ph type="sldNum" sz="quarter" idx="12"/>
          </p:nvPr>
        </p:nvSpPr>
        <p:spPr/>
        <p:txBody>
          <a:bodyPr/>
          <a:lstStyle>
            <a:lvl1pPr>
              <a:defRPr/>
            </a:lvl1pPr>
          </a:lstStyle>
          <a:p>
            <a:pPr>
              <a:defRPr/>
            </a:pPr>
            <a:fld id="{D29A7880-D822-4CF2-BB94-AF7CE260A353}" type="slidenum">
              <a:rPr lang="en-US"/>
              <a:pPr>
                <a:defRPr/>
              </a:pPr>
              <a:t>‹#›</a:t>
            </a:fld>
            <a:endParaRPr lang="en-US" dirty="0"/>
          </a:p>
        </p:txBody>
      </p:sp>
    </p:spTree>
    <p:extLst>
      <p:ext uri="{BB962C8B-B14F-4D97-AF65-F5344CB8AC3E}">
        <p14:creationId xmlns:p14="http://schemas.microsoft.com/office/powerpoint/2010/main" val="28349557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a:extLst>
              <a:ext uri="{FF2B5EF4-FFF2-40B4-BE49-F238E27FC236}">
                <a16:creationId xmlns:a16="http://schemas.microsoft.com/office/drawing/2014/main" id="{D2AA969B-B03C-4ACB-B47C-10119CD1D292}"/>
              </a:ext>
            </a:extLst>
          </p:cNvPr>
          <p:cNvSpPr>
            <a:spLocks noGrp="1"/>
          </p:cNvSpPr>
          <p:nvPr>
            <p:ph type="dt" sz="half" idx="10"/>
          </p:nvPr>
        </p:nvSpPr>
        <p:spPr/>
        <p:txBody>
          <a:bodyPr/>
          <a:lstStyle>
            <a:lvl1pPr>
              <a:defRPr/>
            </a:lvl1pPr>
          </a:lstStyle>
          <a:p>
            <a:pPr>
              <a:defRPr/>
            </a:pPr>
            <a:fld id="{C547E72D-4C00-4808-A2B9-A75874C13474}" type="datetimeFigureOut">
              <a:rPr lang="en-US"/>
              <a:pPr>
                <a:defRPr/>
              </a:pPr>
              <a:t>4/21/2026</a:t>
            </a:fld>
            <a:endParaRPr lang="en-US" dirty="0"/>
          </a:p>
        </p:txBody>
      </p:sp>
      <p:sp>
        <p:nvSpPr>
          <p:cNvPr id="4" name="Footer Placeholder 4">
            <a:extLst>
              <a:ext uri="{FF2B5EF4-FFF2-40B4-BE49-F238E27FC236}">
                <a16:creationId xmlns:a16="http://schemas.microsoft.com/office/drawing/2014/main" id="{2E60EEEB-1F19-4706-988D-B0E2049EE3B9}"/>
              </a:ext>
            </a:extLst>
          </p:cNvPr>
          <p:cNvSpPr>
            <a:spLocks noGrp="1"/>
          </p:cNvSpPr>
          <p:nvPr>
            <p:ph type="ftr" sz="quarter" idx="11"/>
          </p:nvPr>
        </p:nvSpPr>
        <p:spPr/>
        <p:txBody>
          <a:bodyPr/>
          <a:lstStyle>
            <a:lvl1pPr>
              <a:defRPr/>
            </a:lvl1pPr>
          </a:lstStyle>
          <a:p>
            <a:pPr>
              <a:defRPr/>
            </a:pPr>
            <a:endParaRPr lang="en-US" dirty="0"/>
          </a:p>
        </p:txBody>
      </p:sp>
      <p:sp>
        <p:nvSpPr>
          <p:cNvPr id="5" name="Slide Number Placeholder 5">
            <a:extLst>
              <a:ext uri="{FF2B5EF4-FFF2-40B4-BE49-F238E27FC236}">
                <a16:creationId xmlns:a16="http://schemas.microsoft.com/office/drawing/2014/main" id="{ABB0A8DE-927D-4953-88D7-EB761803F751}"/>
              </a:ext>
            </a:extLst>
          </p:cNvPr>
          <p:cNvSpPr>
            <a:spLocks noGrp="1"/>
          </p:cNvSpPr>
          <p:nvPr>
            <p:ph type="sldNum" sz="quarter" idx="12"/>
          </p:nvPr>
        </p:nvSpPr>
        <p:spPr/>
        <p:txBody>
          <a:bodyPr/>
          <a:lstStyle>
            <a:lvl1pPr>
              <a:defRPr/>
            </a:lvl1pPr>
          </a:lstStyle>
          <a:p>
            <a:pPr>
              <a:defRPr/>
            </a:pPr>
            <a:fld id="{879E44C7-1B54-466B-8957-A8A355B6C064}" type="slidenum">
              <a:rPr lang="en-US"/>
              <a:pPr>
                <a:defRPr/>
              </a:pPr>
              <a:t>‹#›</a:t>
            </a:fld>
            <a:endParaRPr lang="en-US" dirty="0"/>
          </a:p>
        </p:txBody>
      </p:sp>
    </p:spTree>
    <p:extLst>
      <p:ext uri="{BB962C8B-B14F-4D97-AF65-F5344CB8AC3E}">
        <p14:creationId xmlns:p14="http://schemas.microsoft.com/office/powerpoint/2010/main" val="393395279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DA2BDD7F-903A-4F49-8126-B4CCB2E547BC}"/>
              </a:ext>
            </a:extLst>
          </p:cNvPr>
          <p:cNvSpPr>
            <a:spLocks noGrp="1"/>
          </p:cNvSpPr>
          <p:nvPr>
            <p:ph type="dt" sz="half" idx="10"/>
          </p:nvPr>
        </p:nvSpPr>
        <p:spPr/>
        <p:txBody>
          <a:bodyPr/>
          <a:lstStyle>
            <a:lvl1pPr>
              <a:defRPr/>
            </a:lvl1pPr>
          </a:lstStyle>
          <a:p>
            <a:pPr>
              <a:defRPr/>
            </a:pPr>
            <a:fld id="{954066CA-8FB9-4D88-989B-6063AA84957E}" type="datetimeFigureOut">
              <a:rPr lang="en-US"/>
              <a:pPr>
                <a:defRPr/>
              </a:pPr>
              <a:t>4/21/2026</a:t>
            </a:fld>
            <a:endParaRPr lang="en-US" dirty="0"/>
          </a:p>
        </p:txBody>
      </p:sp>
      <p:sp>
        <p:nvSpPr>
          <p:cNvPr id="3" name="Footer Placeholder 4">
            <a:extLst>
              <a:ext uri="{FF2B5EF4-FFF2-40B4-BE49-F238E27FC236}">
                <a16:creationId xmlns:a16="http://schemas.microsoft.com/office/drawing/2014/main" id="{C198883A-37E5-4B5D-B307-3E6CA167AB3B}"/>
              </a:ext>
            </a:extLst>
          </p:cNvPr>
          <p:cNvSpPr>
            <a:spLocks noGrp="1"/>
          </p:cNvSpPr>
          <p:nvPr>
            <p:ph type="ftr" sz="quarter" idx="11"/>
          </p:nvPr>
        </p:nvSpPr>
        <p:spPr/>
        <p:txBody>
          <a:bodyPr/>
          <a:lstStyle>
            <a:lvl1pPr>
              <a:defRPr/>
            </a:lvl1pPr>
          </a:lstStyle>
          <a:p>
            <a:pPr>
              <a:defRPr/>
            </a:pPr>
            <a:endParaRPr lang="en-US" dirty="0"/>
          </a:p>
        </p:txBody>
      </p:sp>
      <p:sp>
        <p:nvSpPr>
          <p:cNvPr id="4" name="Slide Number Placeholder 5">
            <a:extLst>
              <a:ext uri="{FF2B5EF4-FFF2-40B4-BE49-F238E27FC236}">
                <a16:creationId xmlns:a16="http://schemas.microsoft.com/office/drawing/2014/main" id="{407EBC4F-452B-40BE-92B8-A1E140C50A72}"/>
              </a:ext>
            </a:extLst>
          </p:cNvPr>
          <p:cNvSpPr>
            <a:spLocks noGrp="1"/>
          </p:cNvSpPr>
          <p:nvPr>
            <p:ph type="sldNum" sz="quarter" idx="12"/>
          </p:nvPr>
        </p:nvSpPr>
        <p:spPr/>
        <p:txBody>
          <a:bodyPr/>
          <a:lstStyle>
            <a:lvl1pPr>
              <a:defRPr/>
            </a:lvl1pPr>
          </a:lstStyle>
          <a:p>
            <a:pPr>
              <a:defRPr/>
            </a:pPr>
            <a:fld id="{F26D118F-C15E-46F7-A350-86C2D1A1BFF1}" type="slidenum">
              <a:rPr lang="en-US"/>
              <a:pPr>
                <a:defRPr/>
              </a:pPr>
              <a:t>‹#›</a:t>
            </a:fld>
            <a:endParaRPr lang="en-US" dirty="0"/>
          </a:p>
        </p:txBody>
      </p:sp>
    </p:spTree>
    <p:extLst>
      <p:ext uri="{BB962C8B-B14F-4D97-AF65-F5344CB8AC3E}">
        <p14:creationId xmlns:p14="http://schemas.microsoft.com/office/powerpoint/2010/main" val="407308011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000"/>
            </a:lvl1pPr>
          </a:lstStyle>
          <a:p>
            <a:r>
              <a:rPr lang="en-GB"/>
              <a:t>Click to edit Master title style</a:t>
            </a:r>
            <a:endParaRPr lang="en-US"/>
          </a:p>
        </p:txBody>
      </p:sp>
      <p:sp>
        <p:nvSpPr>
          <p:cNvPr id="3" name="Content Placeholder 2"/>
          <p:cNvSpPr>
            <a:spLocks noGrp="1"/>
          </p:cNvSpPr>
          <p:nvPr>
            <p:ph idx="1"/>
          </p:nvPr>
        </p:nvSpPr>
        <p:spPr>
          <a:xfrm>
            <a:off x="3887391" y="822856"/>
            <a:ext cx="4629150" cy="4061354"/>
          </a:xfrm>
        </p:spPr>
        <p:txBody>
          <a:bodyPr/>
          <a:lstStyle>
            <a:lvl1pPr>
              <a:defRPr sz="2000"/>
            </a:lvl1pPr>
            <a:lvl2pPr>
              <a:defRPr sz="1750"/>
            </a:lvl2pPr>
            <a:lvl3pPr>
              <a:defRPr sz="1500"/>
            </a:lvl3pPr>
            <a:lvl4pPr>
              <a:defRPr sz="1250"/>
            </a:lvl4pPr>
            <a:lvl5pPr>
              <a:defRPr sz="1250"/>
            </a:lvl5pPr>
            <a:lvl6pPr>
              <a:defRPr sz="1250"/>
            </a:lvl6pPr>
            <a:lvl7pPr>
              <a:defRPr sz="1250"/>
            </a:lvl7pPr>
            <a:lvl8pPr>
              <a:defRPr sz="1250"/>
            </a:lvl8pPr>
            <a:lvl9pPr>
              <a:defRPr sz="12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000"/>
            </a:lvl1pPr>
            <a:lvl2pPr marL="285739" indent="0">
              <a:buNone/>
              <a:defRPr sz="875"/>
            </a:lvl2pPr>
            <a:lvl3pPr marL="571477" indent="0">
              <a:buNone/>
              <a:defRPr sz="750"/>
            </a:lvl3pPr>
            <a:lvl4pPr marL="857216" indent="0">
              <a:buNone/>
              <a:defRPr sz="625"/>
            </a:lvl4pPr>
            <a:lvl5pPr marL="1142954" indent="0">
              <a:buNone/>
              <a:defRPr sz="625"/>
            </a:lvl5pPr>
            <a:lvl6pPr marL="1428693" indent="0">
              <a:buNone/>
              <a:defRPr sz="625"/>
            </a:lvl6pPr>
            <a:lvl7pPr marL="1714431" indent="0">
              <a:buNone/>
              <a:defRPr sz="625"/>
            </a:lvl7pPr>
            <a:lvl8pPr marL="2000170" indent="0">
              <a:buNone/>
              <a:defRPr sz="625"/>
            </a:lvl8pPr>
            <a:lvl9pPr marL="2285909" indent="0">
              <a:buNone/>
              <a:defRPr sz="625"/>
            </a:lvl9pPr>
          </a:lstStyle>
          <a:p>
            <a:pPr lvl="0"/>
            <a:r>
              <a:rPr lang="en-GB"/>
              <a:t>Click to edit Master text styles</a:t>
            </a:r>
          </a:p>
        </p:txBody>
      </p:sp>
      <p:sp>
        <p:nvSpPr>
          <p:cNvPr id="5" name="Date Placeholder 3">
            <a:extLst>
              <a:ext uri="{FF2B5EF4-FFF2-40B4-BE49-F238E27FC236}">
                <a16:creationId xmlns:a16="http://schemas.microsoft.com/office/drawing/2014/main" id="{69411719-9E6D-4084-9410-4530F831E1A5}"/>
              </a:ext>
            </a:extLst>
          </p:cNvPr>
          <p:cNvSpPr>
            <a:spLocks noGrp="1"/>
          </p:cNvSpPr>
          <p:nvPr>
            <p:ph type="dt" sz="half" idx="10"/>
          </p:nvPr>
        </p:nvSpPr>
        <p:spPr/>
        <p:txBody>
          <a:bodyPr/>
          <a:lstStyle>
            <a:lvl1pPr>
              <a:defRPr/>
            </a:lvl1pPr>
          </a:lstStyle>
          <a:p>
            <a:pPr>
              <a:defRPr/>
            </a:pPr>
            <a:fld id="{4A0A84FD-459B-442F-8B82-D3353690FE05}" type="datetimeFigureOut">
              <a:rPr lang="en-US"/>
              <a:pPr>
                <a:defRPr/>
              </a:pPr>
              <a:t>4/21/2026</a:t>
            </a:fld>
            <a:endParaRPr lang="en-US" dirty="0"/>
          </a:p>
        </p:txBody>
      </p:sp>
      <p:sp>
        <p:nvSpPr>
          <p:cNvPr id="6" name="Footer Placeholder 4">
            <a:extLst>
              <a:ext uri="{FF2B5EF4-FFF2-40B4-BE49-F238E27FC236}">
                <a16:creationId xmlns:a16="http://schemas.microsoft.com/office/drawing/2014/main" id="{691CC1AC-0AB3-41E8-B84C-016356630E6D}"/>
              </a:ext>
            </a:extLst>
          </p:cNvPr>
          <p:cNvSpPr>
            <a:spLocks noGrp="1"/>
          </p:cNvSpPr>
          <p:nvPr>
            <p:ph type="ftr" sz="quarter" idx="11"/>
          </p:nvPr>
        </p:nvSpPr>
        <p:spPr/>
        <p:txBody>
          <a:bodyPr/>
          <a:lstStyle>
            <a:lvl1pPr>
              <a:defRPr/>
            </a:lvl1pPr>
          </a:lstStyle>
          <a:p>
            <a:pPr>
              <a:defRPr/>
            </a:pPr>
            <a:endParaRPr lang="en-US" dirty="0"/>
          </a:p>
        </p:txBody>
      </p:sp>
      <p:sp>
        <p:nvSpPr>
          <p:cNvPr id="7" name="Slide Number Placeholder 5">
            <a:extLst>
              <a:ext uri="{FF2B5EF4-FFF2-40B4-BE49-F238E27FC236}">
                <a16:creationId xmlns:a16="http://schemas.microsoft.com/office/drawing/2014/main" id="{A570EC8E-B39A-4811-90FB-C75E83F086E1}"/>
              </a:ext>
            </a:extLst>
          </p:cNvPr>
          <p:cNvSpPr>
            <a:spLocks noGrp="1"/>
          </p:cNvSpPr>
          <p:nvPr>
            <p:ph type="sldNum" sz="quarter" idx="12"/>
          </p:nvPr>
        </p:nvSpPr>
        <p:spPr/>
        <p:txBody>
          <a:bodyPr/>
          <a:lstStyle>
            <a:lvl1pPr>
              <a:defRPr/>
            </a:lvl1pPr>
          </a:lstStyle>
          <a:p>
            <a:pPr>
              <a:defRPr/>
            </a:pPr>
            <a:fld id="{F882313D-5AF2-45EA-B97C-FB248A478FA9}" type="slidenum">
              <a:rPr lang="en-US"/>
              <a:pPr>
                <a:defRPr/>
              </a:pPr>
              <a:t>‹#›</a:t>
            </a:fld>
            <a:endParaRPr lang="en-US" dirty="0"/>
          </a:p>
        </p:txBody>
      </p:sp>
    </p:spTree>
    <p:extLst>
      <p:ext uri="{BB962C8B-B14F-4D97-AF65-F5344CB8AC3E}">
        <p14:creationId xmlns:p14="http://schemas.microsoft.com/office/powerpoint/2010/main" val="291914691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000"/>
            </a:lvl1pPr>
          </a:lstStyle>
          <a:p>
            <a:r>
              <a:rPr lang="en-GB"/>
              <a:t>Click to edit Master title style</a:t>
            </a:r>
            <a:endParaRPr lang="en-US"/>
          </a:p>
        </p:txBody>
      </p:sp>
      <p:sp>
        <p:nvSpPr>
          <p:cNvPr id="3" name="Picture Placeholder 2"/>
          <p:cNvSpPr>
            <a:spLocks noGrp="1" noChangeAspect="1"/>
          </p:cNvSpPr>
          <p:nvPr>
            <p:ph type="pic" idx="1"/>
          </p:nvPr>
        </p:nvSpPr>
        <p:spPr>
          <a:xfrm>
            <a:off x="3887391" y="822856"/>
            <a:ext cx="4629150" cy="4061354"/>
          </a:xfrm>
        </p:spPr>
        <p:txBody>
          <a:bodyPr rtlCol="0">
            <a:normAutofit/>
          </a:bodyPr>
          <a:lstStyle>
            <a:lvl1pPr marL="0" indent="0">
              <a:buNone/>
              <a:defRPr sz="2000"/>
            </a:lvl1pPr>
            <a:lvl2pPr marL="285739" indent="0">
              <a:buNone/>
              <a:defRPr sz="1750"/>
            </a:lvl2pPr>
            <a:lvl3pPr marL="571477" indent="0">
              <a:buNone/>
              <a:defRPr sz="1500"/>
            </a:lvl3pPr>
            <a:lvl4pPr marL="857216" indent="0">
              <a:buNone/>
              <a:defRPr sz="1250"/>
            </a:lvl4pPr>
            <a:lvl5pPr marL="1142954" indent="0">
              <a:buNone/>
              <a:defRPr sz="1250"/>
            </a:lvl5pPr>
            <a:lvl6pPr marL="1428693" indent="0">
              <a:buNone/>
              <a:defRPr sz="1250"/>
            </a:lvl6pPr>
            <a:lvl7pPr marL="1714431" indent="0">
              <a:buNone/>
              <a:defRPr sz="1250"/>
            </a:lvl7pPr>
            <a:lvl8pPr marL="2000170" indent="0">
              <a:buNone/>
              <a:defRPr sz="1250"/>
            </a:lvl8pPr>
            <a:lvl9pPr marL="2285909" indent="0">
              <a:buNone/>
              <a:defRPr sz="1250"/>
            </a:lvl9pPr>
          </a:lstStyle>
          <a:p>
            <a:pPr lvl="0"/>
            <a:r>
              <a:rPr lang="en-GB" noProof="0" dirty="0"/>
              <a:t>Drag picture to placeholder or click icon to add</a:t>
            </a:r>
            <a:endParaRPr lang="en-US" noProof="0"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000"/>
            </a:lvl1pPr>
            <a:lvl2pPr marL="285739" indent="0">
              <a:buNone/>
              <a:defRPr sz="875"/>
            </a:lvl2pPr>
            <a:lvl3pPr marL="571477" indent="0">
              <a:buNone/>
              <a:defRPr sz="750"/>
            </a:lvl3pPr>
            <a:lvl4pPr marL="857216" indent="0">
              <a:buNone/>
              <a:defRPr sz="625"/>
            </a:lvl4pPr>
            <a:lvl5pPr marL="1142954" indent="0">
              <a:buNone/>
              <a:defRPr sz="625"/>
            </a:lvl5pPr>
            <a:lvl6pPr marL="1428693" indent="0">
              <a:buNone/>
              <a:defRPr sz="625"/>
            </a:lvl6pPr>
            <a:lvl7pPr marL="1714431" indent="0">
              <a:buNone/>
              <a:defRPr sz="625"/>
            </a:lvl7pPr>
            <a:lvl8pPr marL="2000170" indent="0">
              <a:buNone/>
              <a:defRPr sz="625"/>
            </a:lvl8pPr>
            <a:lvl9pPr marL="2285909" indent="0">
              <a:buNone/>
              <a:defRPr sz="625"/>
            </a:lvl9pPr>
          </a:lstStyle>
          <a:p>
            <a:pPr lvl="0"/>
            <a:r>
              <a:rPr lang="en-GB"/>
              <a:t>Click to edit Master text styles</a:t>
            </a:r>
          </a:p>
        </p:txBody>
      </p:sp>
      <p:sp>
        <p:nvSpPr>
          <p:cNvPr id="5" name="Date Placeholder 3">
            <a:extLst>
              <a:ext uri="{FF2B5EF4-FFF2-40B4-BE49-F238E27FC236}">
                <a16:creationId xmlns:a16="http://schemas.microsoft.com/office/drawing/2014/main" id="{FD5167BC-CEF5-4B12-98B6-CB1F5CDFD427}"/>
              </a:ext>
            </a:extLst>
          </p:cNvPr>
          <p:cNvSpPr>
            <a:spLocks noGrp="1"/>
          </p:cNvSpPr>
          <p:nvPr>
            <p:ph type="dt" sz="half" idx="10"/>
          </p:nvPr>
        </p:nvSpPr>
        <p:spPr/>
        <p:txBody>
          <a:bodyPr/>
          <a:lstStyle>
            <a:lvl1pPr>
              <a:defRPr/>
            </a:lvl1pPr>
          </a:lstStyle>
          <a:p>
            <a:pPr>
              <a:defRPr/>
            </a:pPr>
            <a:fld id="{A114578E-0BFB-4A0C-B5DE-D32B534A6ECB}" type="datetimeFigureOut">
              <a:rPr lang="en-US"/>
              <a:pPr>
                <a:defRPr/>
              </a:pPr>
              <a:t>4/21/2026</a:t>
            </a:fld>
            <a:endParaRPr lang="en-US" dirty="0"/>
          </a:p>
        </p:txBody>
      </p:sp>
      <p:sp>
        <p:nvSpPr>
          <p:cNvPr id="6" name="Footer Placeholder 4">
            <a:extLst>
              <a:ext uri="{FF2B5EF4-FFF2-40B4-BE49-F238E27FC236}">
                <a16:creationId xmlns:a16="http://schemas.microsoft.com/office/drawing/2014/main" id="{616AC0BF-C04C-4F96-A4B6-353EBB730CB9}"/>
              </a:ext>
            </a:extLst>
          </p:cNvPr>
          <p:cNvSpPr>
            <a:spLocks noGrp="1"/>
          </p:cNvSpPr>
          <p:nvPr>
            <p:ph type="ftr" sz="quarter" idx="11"/>
          </p:nvPr>
        </p:nvSpPr>
        <p:spPr/>
        <p:txBody>
          <a:bodyPr/>
          <a:lstStyle>
            <a:lvl1pPr>
              <a:defRPr/>
            </a:lvl1pPr>
          </a:lstStyle>
          <a:p>
            <a:pPr>
              <a:defRPr/>
            </a:pPr>
            <a:endParaRPr lang="en-US" dirty="0"/>
          </a:p>
        </p:txBody>
      </p:sp>
      <p:sp>
        <p:nvSpPr>
          <p:cNvPr id="7" name="Slide Number Placeholder 5">
            <a:extLst>
              <a:ext uri="{FF2B5EF4-FFF2-40B4-BE49-F238E27FC236}">
                <a16:creationId xmlns:a16="http://schemas.microsoft.com/office/drawing/2014/main" id="{59BB554B-79F6-4346-A89F-212AB8D81520}"/>
              </a:ext>
            </a:extLst>
          </p:cNvPr>
          <p:cNvSpPr>
            <a:spLocks noGrp="1"/>
          </p:cNvSpPr>
          <p:nvPr>
            <p:ph type="sldNum" sz="quarter" idx="12"/>
          </p:nvPr>
        </p:nvSpPr>
        <p:spPr/>
        <p:txBody>
          <a:bodyPr/>
          <a:lstStyle>
            <a:lvl1pPr>
              <a:defRPr/>
            </a:lvl1pPr>
          </a:lstStyle>
          <a:p>
            <a:pPr>
              <a:defRPr/>
            </a:pPr>
            <a:fld id="{1A6BF022-B80E-45AB-AF83-67DAA50A7B09}" type="slidenum">
              <a:rPr lang="en-US"/>
              <a:pPr>
                <a:defRPr/>
              </a:pPr>
              <a:t>‹#›</a:t>
            </a:fld>
            <a:endParaRPr lang="en-US" dirty="0"/>
          </a:p>
        </p:txBody>
      </p:sp>
    </p:spTree>
    <p:extLst>
      <p:ext uri="{BB962C8B-B14F-4D97-AF65-F5344CB8AC3E}">
        <p14:creationId xmlns:p14="http://schemas.microsoft.com/office/powerpoint/2010/main" val="166542748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1599035-F1AC-4B46-B5BB-7ED6FBF90598}"/>
              </a:ext>
            </a:extLst>
          </p:cNvPr>
          <p:cNvSpPr>
            <a:spLocks noGrp="1"/>
          </p:cNvSpPr>
          <p:nvPr>
            <p:ph type="dt" sz="half" idx="10"/>
          </p:nvPr>
        </p:nvSpPr>
        <p:spPr/>
        <p:txBody>
          <a:bodyPr/>
          <a:lstStyle>
            <a:lvl1pPr>
              <a:defRPr/>
            </a:lvl1pPr>
          </a:lstStyle>
          <a:p>
            <a:pPr>
              <a:defRPr/>
            </a:pPr>
            <a:fld id="{5C47EF60-1057-40B0-AA07-8270522B0E4C}" type="datetimeFigureOut">
              <a:rPr lang="en-US"/>
              <a:pPr>
                <a:defRPr/>
              </a:pPr>
              <a:t>4/21/2026</a:t>
            </a:fld>
            <a:endParaRPr lang="en-US" dirty="0"/>
          </a:p>
        </p:txBody>
      </p:sp>
      <p:sp>
        <p:nvSpPr>
          <p:cNvPr id="5" name="Footer Placeholder 4">
            <a:extLst>
              <a:ext uri="{FF2B5EF4-FFF2-40B4-BE49-F238E27FC236}">
                <a16:creationId xmlns:a16="http://schemas.microsoft.com/office/drawing/2014/main" id="{027464F8-203B-4AF6-ADFA-C937E0C4E668}"/>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90F84C38-45BE-498A-9D1D-87BD58193AEE}"/>
              </a:ext>
            </a:extLst>
          </p:cNvPr>
          <p:cNvSpPr>
            <a:spLocks noGrp="1"/>
          </p:cNvSpPr>
          <p:nvPr>
            <p:ph type="sldNum" sz="quarter" idx="12"/>
          </p:nvPr>
        </p:nvSpPr>
        <p:spPr/>
        <p:txBody>
          <a:bodyPr/>
          <a:lstStyle>
            <a:lvl1pPr>
              <a:defRPr/>
            </a:lvl1pPr>
          </a:lstStyle>
          <a:p>
            <a:pPr>
              <a:defRPr/>
            </a:pPr>
            <a:fld id="{34EA5072-CC69-4437-A504-3E4F8F55F457}" type="slidenum">
              <a:rPr lang="en-US"/>
              <a:pPr>
                <a:defRPr/>
              </a:pPr>
              <a:t>‹#›</a:t>
            </a:fld>
            <a:endParaRPr lang="en-US" dirty="0"/>
          </a:p>
        </p:txBody>
      </p:sp>
    </p:spTree>
    <p:extLst>
      <p:ext uri="{BB962C8B-B14F-4D97-AF65-F5344CB8AC3E}">
        <p14:creationId xmlns:p14="http://schemas.microsoft.com/office/powerpoint/2010/main" val="303941594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04271"/>
            <a:ext cx="1971675" cy="484319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28652" y="304271"/>
            <a:ext cx="5800725" cy="484319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AA1E708-3499-4ADF-B90B-E7B87557729E}"/>
              </a:ext>
            </a:extLst>
          </p:cNvPr>
          <p:cNvSpPr>
            <a:spLocks noGrp="1"/>
          </p:cNvSpPr>
          <p:nvPr>
            <p:ph type="dt" sz="half" idx="10"/>
          </p:nvPr>
        </p:nvSpPr>
        <p:spPr/>
        <p:txBody>
          <a:bodyPr/>
          <a:lstStyle>
            <a:lvl1pPr>
              <a:defRPr/>
            </a:lvl1pPr>
          </a:lstStyle>
          <a:p>
            <a:pPr>
              <a:defRPr/>
            </a:pPr>
            <a:fld id="{3C36DD37-ED17-4CA9-BEC8-ABC3AD692519}" type="datetimeFigureOut">
              <a:rPr lang="en-US"/>
              <a:pPr>
                <a:defRPr/>
              </a:pPr>
              <a:t>4/21/2026</a:t>
            </a:fld>
            <a:endParaRPr lang="en-US" dirty="0"/>
          </a:p>
        </p:txBody>
      </p:sp>
      <p:sp>
        <p:nvSpPr>
          <p:cNvPr id="5" name="Footer Placeholder 4">
            <a:extLst>
              <a:ext uri="{FF2B5EF4-FFF2-40B4-BE49-F238E27FC236}">
                <a16:creationId xmlns:a16="http://schemas.microsoft.com/office/drawing/2014/main" id="{86957DDD-DD19-48CA-87DF-1A570FB35382}"/>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BA9F6291-EC06-4013-A934-206D8AD8F586}"/>
              </a:ext>
            </a:extLst>
          </p:cNvPr>
          <p:cNvSpPr>
            <a:spLocks noGrp="1"/>
          </p:cNvSpPr>
          <p:nvPr>
            <p:ph type="sldNum" sz="quarter" idx="12"/>
          </p:nvPr>
        </p:nvSpPr>
        <p:spPr/>
        <p:txBody>
          <a:bodyPr/>
          <a:lstStyle>
            <a:lvl1pPr>
              <a:defRPr/>
            </a:lvl1pPr>
          </a:lstStyle>
          <a:p>
            <a:pPr>
              <a:defRPr/>
            </a:pPr>
            <a:fld id="{D84E7B87-0B9E-4E84-99FA-481BF0D25EF0}" type="slidenum">
              <a:rPr lang="en-US"/>
              <a:pPr>
                <a:defRPr/>
              </a:pPr>
              <a:t>‹#›</a:t>
            </a:fld>
            <a:endParaRPr lang="en-US" dirty="0"/>
          </a:p>
        </p:txBody>
      </p:sp>
    </p:spTree>
    <p:extLst>
      <p:ext uri="{BB962C8B-B14F-4D97-AF65-F5344CB8AC3E}">
        <p14:creationId xmlns:p14="http://schemas.microsoft.com/office/powerpoint/2010/main" val="169974396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a:t>Click to edit Master title style</a:t>
            </a:r>
            <a:endParaRPr lang="en-US"/>
          </a:p>
        </p:txBody>
      </p:sp>
      <p:sp>
        <p:nvSpPr>
          <p:cNvPr id="3" name="Date Placeholder 3">
            <a:extLst>
              <a:ext uri="{FF2B5EF4-FFF2-40B4-BE49-F238E27FC236}">
                <a16:creationId xmlns:a16="http://schemas.microsoft.com/office/drawing/2014/main" id="{E3154939-BEE1-41C6-B25F-57F358D9CEB1}"/>
              </a:ext>
            </a:extLst>
          </p:cNvPr>
          <p:cNvSpPr>
            <a:spLocks noGrp="1"/>
          </p:cNvSpPr>
          <p:nvPr>
            <p:ph type="dt" sz="half" idx="10"/>
          </p:nvPr>
        </p:nvSpPr>
        <p:spPr/>
        <p:txBody>
          <a:bodyPr/>
          <a:lstStyle>
            <a:lvl1pPr>
              <a:defRPr/>
            </a:lvl1pPr>
          </a:lstStyle>
          <a:p>
            <a:pPr>
              <a:defRPr/>
            </a:pPr>
            <a:fld id="{4AE45505-0CA7-4342-9381-5D2EB215DCAB}" type="datetimeFigureOut">
              <a:rPr lang="en-US"/>
              <a:pPr>
                <a:defRPr/>
              </a:pPr>
              <a:t>4/21/2026</a:t>
            </a:fld>
            <a:endParaRPr lang="en-US" dirty="0"/>
          </a:p>
        </p:txBody>
      </p:sp>
      <p:sp>
        <p:nvSpPr>
          <p:cNvPr id="4" name="Footer Placeholder 4">
            <a:extLst>
              <a:ext uri="{FF2B5EF4-FFF2-40B4-BE49-F238E27FC236}">
                <a16:creationId xmlns:a16="http://schemas.microsoft.com/office/drawing/2014/main" id="{5F25E61A-EB24-4BD6-982F-E32552BC5BE0}"/>
              </a:ext>
            </a:extLst>
          </p:cNvPr>
          <p:cNvSpPr>
            <a:spLocks noGrp="1"/>
          </p:cNvSpPr>
          <p:nvPr>
            <p:ph type="ftr" sz="quarter" idx="11"/>
          </p:nvPr>
        </p:nvSpPr>
        <p:spPr/>
        <p:txBody>
          <a:bodyPr/>
          <a:lstStyle>
            <a:lvl1pPr>
              <a:defRPr/>
            </a:lvl1pPr>
          </a:lstStyle>
          <a:p>
            <a:pPr>
              <a:defRPr/>
            </a:pPr>
            <a:endParaRPr lang="en-US" dirty="0"/>
          </a:p>
        </p:txBody>
      </p:sp>
      <p:sp>
        <p:nvSpPr>
          <p:cNvPr id="5" name="Slide Number Placeholder 5">
            <a:extLst>
              <a:ext uri="{FF2B5EF4-FFF2-40B4-BE49-F238E27FC236}">
                <a16:creationId xmlns:a16="http://schemas.microsoft.com/office/drawing/2014/main" id="{0C303CAA-56F9-4D6D-8D9C-3AB7F580C487}"/>
              </a:ext>
            </a:extLst>
          </p:cNvPr>
          <p:cNvSpPr>
            <a:spLocks noGrp="1"/>
          </p:cNvSpPr>
          <p:nvPr>
            <p:ph type="sldNum" sz="quarter" idx="12"/>
          </p:nvPr>
        </p:nvSpPr>
        <p:spPr/>
        <p:txBody>
          <a:bodyPr/>
          <a:lstStyle>
            <a:lvl1pPr>
              <a:defRPr/>
            </a:lvl1pPr>
          </a:lstStyle>
          <a:p>
            <a:pPr>
              <a:defRPr/>
            </a:pPr>
            <a:fld id="{E330E48F-55BB-4077-9FEA-E7EC5E20FD35}" type="slidenum">
              <a:rPr lang="en-US"/>
              <a:pPr>
                <a:defRPr/>
              </a:pPr>
              <a:t>‹#›</a:t>
            </a:fld>
            <a:endParaRPr lang="en-US" dirty="0"/>
          </a:p>
        </p:txBody>
      </p:sp>
    </p:spTree>
    <p:extLst>
      <p:ext uri="{BB962C8B-B14F-4D97-AF65-F5344CB8AC3E}">
        <p14:creationId xmlns:p14="http://schemas.microsoft.com/office/powerpoint/2010/main" val="34747262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a:t>Click to edit Master title style</a:t>
            </a:r>
            <a:endParaRPr lang="en-US"/>
          </a:p>
        </p:txBody>
      </p:sp>
      <p:sp>
        <p:nvSpPr>
          <p:cNvPr id="3" name="Date Placeholder 3">
            <a:extLst>
              <a:ext uri="{FF2B5EF4-FFF2-40B4-BE49-F238E27FC236}">
                <a16:creationId xmlns:a16="http://schemas.microsoft.com/office/drawing/2014/main" id="{A6472EF7-1D21-47EE-A4FC-6FDD8640D046}"/>
              </a:ext>
            </a:extLst>
          </p:cNvPr>
          <p:cNvSpPr>
            <a:spLocks noGrp="1"/>
          </p:cNvSpPr>
          <p:nvPr>
            <p:ph type="dt" sz="half" idx="10"/>
          </p:nvPr>
        </p:nvSpPr>
        <p:spPr/>
        <p:txBody>
          <a:bodyPr/>
          <a:lstStyle>
            <a:lvl1pPr>
              <a:defRPr/>
            </a:lvl1pPr>
          </a:lstStyle>
          <a:p>
            <a:pPr>
              <a:defRPr/>
            </a:pPr>
            <a:fld id="{E9E20925-F9F5-4CBC-9C04-CFA4E003CCD7}" type="datetimeFigureOut">
              <a:rPr lang="en-US"/>
              <a:pPr>
                <a:defRPr/>
              </a:pPr>
              <a:t>4/21/2026</a:t>
            </a:fld>
            <a:endParaRPr lang="en-US" dirty="0"/>
          </a:p>
        </p:txBody>
      </p:sp>
      <p:sp>
        <p:nvSpPr>
          <p:cNvPr id="4" name="Footer Placeholder 4">
            <a:extLst>
              <a:ext uri="{FF2B5EF4-FFF2-40B4-BE49-F238E27FC236}">
                <a16:creationId xmlns:a16="http://schemas.microsoft.com/office/drawing/2014/main" id="{0EB54617-8EC7-4FB7-AB39-893A1B3AB4D4}"/>
              </a:ext>
            </a:extLst>
          </p:cNvPr>
          <p:cNvSpPr>
            <a:spLocks noGrp="1"/>
          </p:cNvSpPr>
          <p:nvPr>
            <p:ph type="ftr" sz="quarter" idx="11"/>
          </p:nvPr>
        </p:nvSpPr>
        <p:spPr/>
        <p:txBody>
          <a:bodyPr/>
          <a:lstStyle>
            <a:lvl1pPr>
              <a:defRPr/>
            </a:lvl1pPr>
          </a:lstStyle>
          <a:p>
            <a:pPr>
              <a:defRPr/>
            </a:pPr>
            <a:endParaRPr lang="en-US" dirty="0"/>
          </a:p>
        </p:txBody>
      </p:sp>
      <p:sp>
        <p:nvSpPr>
          <p:cNvPr id="5" name="Slide Number Placeholder 5">
            <a:extLst>
              <a:ext uri="{FF2B5EF4-FFF2-40B4-BE49-F238E27FC236}">
                <a16:creationId xmlns:a16="http://schemas.microsoft.com/office/drawing/2014/main" id="{62580542-8301-41CA-9718-174011E816F4}"/>
              </a:ext>
            </a:extLst>
          </p:cNvPr>
          <p:cNvSpPr>
            <a:spLocks noGrp="1"/>
          </p:cNvSpPr>
          <p:nvPr>
            <p:ph type="sldNum" sz="quarter" idx="12"/>
          </p:nvPr>
        </p:nvSpPr>
        <p:spPr/>
        <p:txBody>
          <a:bodyPr/>
          <a:lstStyle>
            <a:lvl1pPr>
              <a:defRPr/>
            </a:lvl1pPr>
          </a:lstStyle>
          <a:p>
            <a:pPr>
              <a:defRPr/>
            </a:pPr>
            <a:fld id="{2DD167C7-7287-493E-A865-E09F8A80B3DE}" type="slidenum">
              <a:rPr lang="en-US"/>
              <a:pPr>
                <a:defRPr/>
              </a:pPr>
              <a:t>‹#›</a:t>
            </a:fld>
            <a:endParaRPr lang="en-US" dirty="0"/>
          </a:p>
        </p:txBody>
      </p:sp>
    </p:spTree>
    <p:extLst>
      <p:ext uri="{BB962C8B-B14F-4D97-AF65-F5344CB8AC3E}">
        <p14:creationId xmlns:p14="http://schemas.microsoft.com/office/powerpoint/2010/main" val="321252522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381000" y="571500"/>
            <a:ext cx="8534400" cy="952500"/>
          </a:xfrm>
        </p:spPr>
        <p:txBody>
          <a:bodyPr/>
          <a:lstStyle/>
          <a:p>
            <a:r>
              <a:rPr lang="en-US"/>
              <a:t>Click to edit Master title style</a:t>
            </a:r>
            <a:endParaRPr lang="en-GB"/>
          </a:p>
        </p:txBody>
      </p:sp>
      <p:sp>
        <p:nvSpPr>
          <p:cNvPr id="3" name="SmartArt Placeholder 2"/>
          <p:cNvSpPr>
            <a:spLocks noGrp="1"/>
          </p:cNvSpPr>
          <p:nvPr>
            <p:ph type="dgm" idx="1"/>
          </p:nvPr>
        </p:nvSpPr>
        <p:spPr>
          <a:xfrm>
            <a:off x="533400" y="1651000"/>
            <a:ext cx="7772400" cy="3429000"/>
          </a:xfrm>
        </p:spPr>
        <p:txBody>
          <a:bodyPr rtlCol="0">
            <a:normAutofit/>
          </a:bodyPr>
          <a:lstStyle/>
          <a:p>
            <a:pPr lvl="0"/>
            <a:endParaRPr lang="en-GB" noProof="0" dirty="0"/>
          </a:p>
        </p:txBody>
      </p:sp>
      <p:sp>
        <p:nvSpPr>
          <p:cNvPr id="4" name="Date Placeholder 3">
            <a:extLst>
              <a:ext uri="{FF2B5EF4-FFF2-40B4-BE49-F238E27FC236}">
                <a16:creationId xmlns:a16="http://schemas.microsoft.com/office/drawing/2014/main" id="{68204435-A1EB-40B2-82D0-45CE5BB60D77}"/>
              </a:ext>
            </a:extLst>
          </p:cNvPr>
          <p:cNvSpPr>
            <a:spLocks noGrp="1"/>
          </p:cNvSpPr>
          <p:nvPr>
            <p:ph type="dt" sz="half" idx="10"/>
          </p:nvPr>
        </p:nvSpPr>
        <p:spPr>
          <a:xfrm>
            <a:off x="1173163" y="5221553"/>
            <a:ext cx="1905000" cy="381000"/>
          </a:xfrm>
        </p:spPr>
        <p:txBody>
          <a:bodyPr/>
          <a:lstStyle>
            <a:lvl1pPr>
              <a:defRPr/>
            </a:lvl1pPr>
          </a:lstStyle>
          <a:p>
            <a:pPr>
              <a:defRPr/>
            </a:pPr>
            <a:endParaRPr lang="en-US" altLang="en-US" dirty="0"/>
          </a:p>
        </p:txBody>
      </p:sp>
      <p:sp>
        <p:nvSpPr>
          <p:cNvPr id="5" name="Footer Placeholder 4">
            <a:extLst>
              <a:ext uri="{FF2B5EF4-FFF2-40B4-BE49-F238E27FC236}">
                <a16:creationId xmlns:a16="http://schemas.microsoft.com/office/drawing/2014/main" id="{217F7F37-8EB6-4253-8240-48C2BD81ABCE}"/>
              </a:ext>
            </a:extLst>
          </p:cNvPr>
          <p:cNvSpPr>
            <a:spLocks noGrp="1"/>
          </p:cNvSpPr>
          <p:nvPr>
            <p:ph type="ftr" sz="quarter" idx="11"/>
          </p:nvPr>
        </p:nvSpPr>
        <p:spPr>
          <a:xfrm>
            <a:off x="3581400" y="5207000"/>
            <a:ext cx="2895600" cy="381000"/>
          </a:xfrm>
        </p:spPr>
        <p:txBody>
          <a:bodyPr/>
          <a:lstStyle>
            <a:lvl1pPr>
              <a:defRPr/>
            </a:lvl1pPr>
          </a:lstStyle>
          <a:p>
            <a:pPr>
              <a:defRPr/>
            </a:pPr>
            <a:endParaRPr lang="en-US" altLang="en-US" dirty="0"/>
          </a:p>
        </p:txBody>
      </p:sp>
    </p:spTree>
    <p:extLst>
      <p:ext uri="{BB962C8B-B14F-4D97-AF65-F5344CB8AC3E}">
        <p14:creationId xmlns:p14="http://schemas.microsoft.com/office/powerpoint/2010/main" val="274474836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p:spPr>
        <p:txBody>
          <a:bodyPr anchor="b"/>
          <a:lstStyle>
            <a:lvl1pPr algn="ctr">
              <a:defRPr sz="4050"/>
            </a:lvl1pPr>
          </a:lstStyle>
          <a:p>
            <a:r>
              <a:rPr lang="en-GB"/>
              <a:t>Click to edit Master title style</a:t>
            </a:r>
            <a:endParaRPr lang="en-US"/>
          </a:p>
        </p:txBody>
      </p:sp>
      <p:sp>
        <p:nvSpPr>
          <p:cNvPr id="3" name="Subtitle 2"/>
          <p:cNvSpPr>
            <a:spLocks noGrp="1"/>
          </p:cNvSpPr>
          <p:nvPr>
            <p:ph type="subTitle" idx="1"/>
          </p:nvPr>
        </p:nvSpPr>
        <p:spPr>
          <a:xfrm>
            <a:off x="1143000" y="3001698"/>
            <a:ext cx="6858000" cy="1379802"/>
          </a:xfrm>
        </p:spPr>
        <p:txBody>
          <a:bodyPr/>
          <a:lstStyle>
            <a:lvl1pPr marL="0" indent="0" algn="ctr">
              <a:buNone/>
              <a:defRPr sz="1620"/>
            </a:lvl1pPr>
            <a:lvl2pPr marL="308610" indent="0" algn="ctr">
              <a:buNone/>
              <a:defRPr sz="1350"/>
            </a:lvl2pPr>
            <a:lvl3pPr marL="617220" indent="0" algn="ctr">
              <a:buNone/>
              <a:defRPr sz="1215"/>
            </a:lvl3pPr>
            <a:lvl4pPr marL="925830" indent="0" algn="ctr">
              <a:buNone/>
              <a:defRPr sz="1080"/>
            </a:lvl4pPr>
            <a:lvl5pPr marL="1234440" indent="0" algn="ctr">
              <a:buNone/>
              <a:defRPr sz="1080"/>
            </a:lvl5pPr>
            <a:lvl6pPr marL="1543050" indent="0" algn="ctr">
              <a:buNone/>
              <a:defRPr sz="1080"/>
            </a:lvl6pPr>
            <a:lvl7pPr marL="1851660" indent="0" algn="ctr">
              <a:buNone/>
              <a:defRPr sz="1080"/>
            </a:lvl7pPr>
            <a:lvl8pPr marL="2160270" indent="0" algn="ctr">
              <a:buNone/>
              <a:defRPr sz="1080"/>
            </a:lvl8pPr>
            <a:lvl9pPr marL="2468880" indent="0" algn="ctr">
              <a:buNone/>
              <a:defRPr sz="108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764DE79-268F-4C1A-8933-263129D2AF90}"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973120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10633036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424783"/>
            <a:ext cx="7886700" cy="2377281"/>
          </a:xfrm>
        </p:spPr>
        <p:txBody>
          <a:bodyPr anchor="b"/>
          <a:lstStyle>
            <a:lvl1pPr>
              <a:defRPr sz="4050"/>
            </a:lvl1pPr>
          </a:lstStyle>
          <a:p>
            <a:r>
              <a:rPr lang="en-GB"/>
              <a:t>Click to edit Master title style</a:t>
            </a:r>
            <a:endParaRPr lang="en-US"/>
          </a:p>
        </p:txBody>
      </p:sp>
      <p:sp>
        <p:nvSpPr>
          <p:cNvPr id="3" name="Text Placeholder 2"/>
          <p:cNvSpPr>
            <a:spLocks noGrp="1"/>
          </p:cNvSpPr>
          <p:nvPr>
            <p:ph type="body" idx="1"/>
          </p:nvPr>
        </p:nvSpPr>
        <p:spPr>
          <a:xfrm>
            <a:off x="623888" y="3824554"/>
            <a:ext cx="7886700" cy="1250156"/>
          </a:xfrm>
        </p:spPr>
        <p:txBody>
          <a:bodyPr/>
          <a:lstStyle>
            <a:lvl1pPr marL="0" indent="0">
              <a:buNone/>
              <a:defRPr sz="1620">
                <a:solidFill>
                  <a:schemeClr val="tx1">
                    <a:tint val="75000"/>
                  </a:schemeClr>
                </a:solidFill>
              </a:defRPr>
            </a:lvl1pPr>
            <a:lvl2pPr marL="308610" indent="0">
              <a:buNone/>
              <a:defRPr sz="1350">
                <a:solidFill>
                  <a:schemeClr val="tx1">
                    <a:tint val="75000"/>
                  </a:schemeClr>
                </a:solidFill>
              </a:defRPr>
            </a:lvl2pPr>
            <a:lvl3pPr marL="617220" indent="0">
              <a:buNone/>
              <a:defRPr sz="1215">
                <a:solidFill>
                  <a:schemeClr val="tx1">
                    <a:tint val="75000"/>
                  </a:schemeClr>
                </a:solidFill>
              </a:defRPr>
            </a:lvl3pPr>
            <a:lvl4pPr marL="925830" indent="0">
              <a:buNone/>
              <a:defRPr sz="1080">
                <a:solidFill>
                  <a:schemeClr val="tx1">
                    <a:tint val="75000"/>
                  </a:schemeClr>
                </a:solidFill>
              </a:defRPr>
            </a:lvl4pPr>
            <a:lvl5pPr marL="1234440" indent="0">
              <a:buNone/>
              <a:defRPr sz="1080">
                <a:solidFill>
                  <a:schemeClr val="tx1">
                    <a:tint val="75000"/>
                  </a:schemeClr>
                </a:solidFill>
              </a:defRPr>
            </a:lvl5pPr>
            <a:lvl6pPr marL="1543050" indent="0">
              <a:buNone/>
              <a:defRPr sz="1080">
                <a:solidFill>
                  <a:schemeClr val="tx1">
                    <a:tint val="75000"/>
                  </a:schemeClr>
                </a:solidFill>
              </a:defRPr>
            </a:lvl6pPr>
            <a:lvl7pPr marL="1851660" indent="0">
              <a:buNone/>
              <a:defRPr sz="1080">
                <a:solidFill>
                  <a:schemeClr val="tx1">
                    <a:tint val="75000"/>
                  </a:schemeClr>
                </a:solidFill>
              </a:defRPr>
            </a:lvl7pPr>
            <a:lvl8pPr marL="2160270" indent="0">
              <a:buNone/>
              <a:defRPr sz="1080">
                <a:solidFill>
                  <a:schemeClr val="tx1">
                    <a:tint val="75000"/>
                  </a:schemeClr>
                </a:solidFill>
              </a:defRPr>
            </a:lvl8pPr>
            <a:lvl9pPr marL="2468880" indent="0">
              <a:buNone/>
              <a:defRPr sz="108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199D21A-8FA4-AA48-B44F-FA65CC33588D}"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D30F635-7B0F-FF44-8F0D-41E13FD56924}" type="slidenum">
              <a:rPr lang="en-US" smtClean="0"/>
              <a:t>‹#›</a:t>
            </a:fld>
            <a:endParaRPr lang="en-US" dirty="0"/>
          </a:p>
        </p:txBody>
      </p:sp>
    </p:spTree>
    <p:extLst>
      <p:ext uri="{BB962C8B-B14F-4D97-AF65-F5344CB8AC3E}">
        <p14:creationId xmlns:p14="http://schemas.microsoft.com/office/powerpoint/2010/main" val="391679624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28650" y="1521354"/>
            <a:ext cx="3886200" cy="362611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29150" y="1521354"/>
            <a:ext cx="3886200" cy="362611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199D21A-8FA4-AA48-B44F-FA65CC33588D}" type="datetimeFigureOut">
              <a:rPr lang="en-US" smtClean="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D30F635-7B0F-FF44-8F0D-41E13FD56924}" type="slidenum">
              <a:rPr lang="en-US" smtClean="0"/>
              <a:t>‹#›</a:t>
            </a:fld>
            <a:endParaRPr lang="en-US" dirty="0"/>
          </a:p>
        </p:txBody>
      </p:sp>
    </p:spTree>
    <p:extLst>
      <p:ext uri="{BB962C8B-B14F-4D97-AF65-F5344CB8AC3E}">
        <p14:creationId xmlns:p14="http://schemas.microsoft.com/office/powerpoint/2010/main" val="175327875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04271"/>
            <a:ext cx="7886700" cy="1104636"/>
          </a:xfrm>
        </p:spPr>
        <p:txBody>
          <a:bodyPr/>
          <a:lstStyle/>
          <a:p>
            <a:r>
              <a:rPr lang="en-GB"/>
              <a:t>Click to edit Master title style</a:t>
            </a:r>
            <a:endParaRPr lang="en-US"/>
          </a:p>
        </p:txBody>
      </p:sp>
      <p:sp>
        <p:nvSpPr>
          <p:cNvPr id="3" name="Text Placeholder 2"/>
          <p:cNvSpPr>
            <a:spLocks noGrp="1"/>
          </p:cNvSpPr>
          <p:nvPr>
            <p:ph type="body" idx="1"/>
          </p:nvPr>
        </p:nvSpPr>
        <p:spPr>
          <a:xfrm>
            <a:off x="629842" y="1400969"/>
            <a:ext cx="3868340" cy="686593"/>
          </a:xfrm>
        </p:spPr>
        <p:txBody>
          <a:bodyPr anchor="b"/>
          <a:lstStyle>
            <a:lvl1pPr marL="0" indent="0">
              <a:buNone/>
              <a:defRPr sz="1620" b="1"/>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GB"/>
              <a:t>Click to edit Master text styles</a:t>
            </a:r>
          </a:p>
        </p:txBody>
      </p:sp>
      <p:sp>
        <p:nvSpPr>
          <p:cNvPr id="4" name="Content Placeholder 3"/>
          <p:cNvSpPr>
            <a:spLocks noGrp="1"/>
          </p:cNvSpPr>
          <p:nvPr>
            <p:ph sz="half" idx="2"/>
          </p:nvPr>
        </p:nvSpPr>
        <p:spPr>
          <a:xfrm>
            <a:off x="629842" y="2087563"/>
            <a:ext cx="3868340" cy="307049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29151" y="1400969"/>
            <a:ext cx="3887391" cy="686593"/>
          </a:xfrm>
        </p:spPr>
        <p:txBody>
          <a:bodyPr anchor="b"/>
          <a:lstStyle>
            <a:lvl1pPr marL="0" indent="0">
              <a:buNone/>
              <a:defRPr sz="1620" b="1"/>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GB"/>
              <a:t>Click to edit Master text styles</a:t>
            </a:r>
          </a:p>
        </p:txBody>
      </p:sp>
      <p:sp>
        <p:nvSpPr>
          <p:cNvPr id="6" name="Content Placeholder 5"/>
          <p:cNvSpPr>
            <a:spLocks noGrp="1"/>
          </p:cNvSpPr>
          <p:nvPr>
            <p:ph sz="quarter" idx="4"/>
          </p:nvPr>
        </p:nvSpPr>
        <p:spPr>
          <a:xfrm>
            <a:off x="4629151" y="2087563"/>
            <a:ext cx="3887391" cy="307049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D199D21A-8FA4-AA48-B44F-FA65CC33588D}" type="datetimeFigureOut">
              <a:rPr lang="en-US" smtClean="0"/>
              <a:t>4/21/2026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D30F635-7B0F-FF44-8F0D-41E13FD56924}" type="slidenum">
              <a:rPr lang="en-US" smtClean="0"/>
              <a:t>‹#›</a:t>
            </a:fld>
            <a:endParaRPr lang="en-US" dirty="0"/>
          </a:p>
        </p:txBody>
      </p:sp>
    </p:spTree>
    <p:extLst>
      <p:ext uri="{BB962C8B-B14F-4D97-AF65-F5344CB8AC3E}">
        <p14:creationId xmlns:p14="http://schemas.microsoft.com/office/powerpoint/2010/main" val="128306582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D199D21A-8FA4-AA48-B44F-FA65CC33588D}" type="datetimeFigureOut">
              <a:rPr lang="en-US" smtClean="0"/>
              <a:t>4/21/2026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D30F635-7B0F-FF44-8F0D-41E13FD56924}" type="slidenum">
              <a:rPr lang="en-US" smtClean="0"/>
              <a:t>‹#›</a:t>
            </a:fld>
            <a:endParaRPr lang="en-US" dirty="0"/>
          </a:p>
        </p:txBody>
      </p:sp>
    </p:spTree>
    <p:extLst>
      <p:ext uri="{BB962C8B-B14F-4D97-AF65-F5344CB8AC3E}">
        <p14:creationId xmlns:p14="http://schemas.microsoft.com/office/powerpoint/2010/main" val="260284962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99D21A-8FA4-AA48-B44F-FA65CC33588D}" type="datetimeFigureOut">
              <a:rPr lang="en-US" smtClean="0"/>
              <a:t>4/21/2026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D30F635-7B0F-FF44-8F0D-41E13FD56924}" type="slidenum">
              <a:rPr lang="en-US" smtClean="0"/>
              <a:t>‹#›</a:t>
            </a:fld>
            <a:endParaRPr lang="en-US" dirty="0"/>
          </a:p>
        </p:txBody>
      </p:sp>
    </p:spTree>
    <p:extLst>
      <p:ext uri="{BB962C8B-B14F-4D97-AF65-F5344CB8AC3E}">
        <p14:creationId xmlns:p14="http://schemas.microsoft.com/office/powerpoint/2010/main" val="263502028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160"/>
            </a:lvl1pPr>
          </a:lstStyle>
          <a:p>
            <a:r>
              <a:rPr lang="en-GB"/>
              <a:t>Click to edit Master title style</a:t>
            </a:r>
            <a:endParaRPr lang="en-US"/>
          </a:p>
        </p:txBody>
      </p:sp>
      <p:sp>
        <p:nvSpPr>
          <p:cNvPr id="3" name="Content Placeholder 2"/>
          <p:cNvSpPr>
            <a:spLocks noGrp="1"/>
          </p:cNvSpPr>
          <p:nvPr>
            <p:ph idx="1"/>
          </p:nvPr>
        </p:nvSpPr>
        <p:spPr>
          <a:xfrm>
            <a:off x="3887391" y="822856"/>
            <a:ext cx="4629150" cy="4061354"/>
          </a:xfrm>
        </p:spPr>
        <p:txBody>
          <a:bodyPr/>
          <a:lstStyle>
            <a:lvl1pPr>
              <a:defRPr sz="2160"/>
            </a:lvl1pPr>
            <a:lvl2pPr>
              <a:defRPr sz="1890"/>
            </a:lvl2pPr>
            <a:lvl3pPr>
              <a:defRPr sz="1620"/>
            </a:lvl3pPr>
            <a:lvl4pPr>
              <a:defRPr sz="1350"/>
            </a:lvl4pPr>
            <a:lvl5pPr>
              <a:defRPr sz="1350"/>
            </a:lvl5pPr>
            <a:lvl6pPr>
              <a:defRPr sz="1350"/>
            </a:lvl6pPr>
            <a:lvl7pPr>
              <a:defRPr sz="1350"/>
            </a:lvl7pPr>
            <a:lvl8pPr>
              <a:defRPr sz="1350"/>
            </a:lvl8pPr>
            <a:lvl9pPr>
              <a:defRPr sz="13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080"/>
            </a:lvl1pPr>
            <a:lvl2pPr marL="308610" indent="0">
              <a:buNone/>
              <a:defRPr sz="945"/>
            </a:lvl2pPr>
            <a:lvl3pPr marL="617220" indent="0">
              <a:buNone/>
              <a:defRPr sz="810"/>
            </a:lvl3pPr>
            <a:lvl4pPr marL="925830" indent="0">
              <a:buNone/>
              <a:defRPr sz="675"/>
            </a:lvl4pPr>
            <a:lvl5pPr marL="1234440" indent="0">
              <a:buNone/>
              <a:defRPr sz="675"/>
            </a:lvl5pPr>
            <a:lvl6pPr marL="1543050" indent="0">
              <a:buNone/>
              <a:defRPr sz="675"/>
            </a:lvl6pPr>
            <a:lvl7pPr marL="1851660" indent="0">
              <a:buNone/>
              <a:defRPr sz="675"/>
            </a:lvl7pPr>
            <a:lvl8pPr marL="2160270" indent="0">
              <a:buNone/>
              <a:defRPr sz="675"/>
            </a:lvl8pPr>
            <a:lvl9pPr marL="2468880" indent="0">
              <a:buNone/>
              <a:defRPr sz="675"/>
            </a:lvl9pPr>
          </a:lstStyle>
          <a:p>
            <a:pPr lvl="0"/>
            <a:r>
              <a:rPr lang="en-GB"/>
              <a:t>Click to edit Master text styles</a:t>
            </a:r>
          </a:p>
        </p:txBody>
      </p:sp>
      <p:sp>
        <p:nvSpPr>
          <p:cNvPr id="5" name="Date Placeholder 4"/>
          <p:cNvSpPr>
            <a:spLocks noGrp="1"/>
          </p:cNvSpPr>
          <p:nvPr>
            <p:ph type="dt" sz="half" idx="10"/>
          </p:nvPr>
        </p:nvSpPr>
        <p:spPr/>
        <p:txBody>
          <a:bodyPr/>
          <a:lstStyle/>
          <a:p>
            <a:fld id="{D199D21A-8FA4-AA48-B44F-FA65CC33588D}" type="datetimeFigureOut">
              <a:rPr lang="en-US" smtClean="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D30F635-7B0F-FF44-8F0D-41E13FD56924}" type="slidenum">
              <a:rPr lang="en-US" smtClean="0"/>
              <a:t>‹#›</a:t>
            </a:fld>
            <a:endParaRPr lang="en-US" dirty="0"/>
          </a:p>
        </p:txBody>
      </p:sp>
    </p:spTree>
    <p:extLst>
      <p:ext uri="{BB962C8B-B14F-4D97-AF65-F5344CB8AC3E}">
        <p14:creationId xmlns:p14="http://schemas.microsoft.com/office/powerpoint/2010/main" val="5933374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160"/>
            </a:lvl1pPr>
          </a:lstStyle>
          <a:p>
            <a:r>
              <a:rPr lang="en-GB"/>
              <a:t>Click to edit Master title style</a:t>
            </a:r>
            <a:endParaRPr lang="en-US"/>
          </a:p>
        </p:txBody>
      </p:sp>
      <p:sp>
        <p:nvSpPr>
          <p:cNvPr id="3" name="Picture Placeholder 2"/>
          <p:cNvSpPr>
            <a:spLocks noGrp="1" noChangeAspect="1"/>
          </p:cNvSpPr>
          <p:nvPr>
            <p:ph type="pic" idx="1"/>
          </p:nvPr>
        </p:nvSpPr>
        <p:spPr>
          <a:xfrm>
            <a:off x="3887391" y="822856"/>
            <a:ext cx="4629150" cy="4061354"/>
          </a:xfrm>
        </p:spPr>
        <p:txBody>
          <a:bodyPr anchor="t"/>
          <a:lstStyle>
            <a:lvl1pPr marL="0" indent="0">
              <a:buNone/>
              <a:defRPr sz="2160"/>
            </a:lvl1pPr>
            <a:lvl2pPr marL="308610" indent="0">
              <a:buNone/>
              <a:defRPr sz="1890"/>
            </a:lvl2pPr>
            <a:lvl3pPr marL="617220" indent="0">
              <a:buNone/>
              <a:defRPr sz="1620"/>
            </a:lvl3pPr>
            <a:lvl4pPr marL="925830" indent="0">
              <a:buNone/>
              <a:defRPr sz="1350"/>
            </a:lvl4pPr>
            <a:lvl5pPr marL="1234440" indent="0">
              <a:buNone/>
              <a:defRPr sz="1350"/>
            </a:lvl5pPr>
            <a:lvl6pPr marL="1543050" indent="0">
              <a:buNone/>
              <a:defRPr sz="1350"/>
            </a:lvl6pPr>
            <a:lvl7pPr marL="1851660" indent="0">
              <a:buNone/>
              <a:defRPr sz="1350"/>
            </a:lvl7pPr>
            <a:lvl8pPr marL="2160270" indent="0">
              <a:buNone/>
              <a:defRPr sz="1350"/>
            </a:lvl8pPr>
            <a:lvl9pPr marL="2468880" indent="0">
              <a:buNone/>
              <a:defRPr sz="1350"/>
            </a:lvl9pPr>
          </a:lstStyle>
          <a:p>
            <a:r>
              <a:rPr lang="en-GB" dirty="0"/>
              <a:t>Drag picture to placeholder or click icon to add</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080"/>
            </a:lvl1pPr>
            <a:lvl2pPr marL="308610" indent="0">
              <a:buNone/>
              <a:defRPr sz="945"/>
            </a:lvl2pPr>
            <a:lvl3pPr marL="617220" indent="0">
              <a:buNone/>
              <a:defRPr sz="810"/>
            </a:lvl3pPr>
            <a:lvl4pPr marL="925830" indent="0">
              <a:buNone/>
              <a:defRPr sz="675"/>
            </a:lvl4pPr>
            <a:lvl5pPr marL="1234440" indent="0">
              <a:buNone/>
              <a:defRPr sz="675"/>
            </a:lvl5pPr>
            <a:lvl6pPr marL="1543050" indent="0">
              <a:buNone/>
              <a:defRPr sz="675"/>
            </a:lvl6pPr>
            <a:lvl7pPr marL="1851660" indent="0">
              <a:buNone/>
              <a:defRPr sz="675"/>
            </a:lvl7pPr>
            <a:lvl8pPr marL="2160270" indent="0">
              <a:buNone/>
              <a:defRPr sz="675"/>
            </a:lvl8pPr>
            <a:lvl9pPr marL="2468880" indent="0">
              <a:buNone/>
              <a:defRPr sz="675"/>
            </a:lvl9pPr>
          </a:lstStyle>
          <a:p>
            <a:pPr lvl="0"/>
            <a:r>
              <a:rPr lang="en-GB"/>
              <a:t>Click to edit Master text styles</a:t>
            </a:r>
          </a:p>
        </p:txBody>
      </p:sp>
      <p:sp>
        <p:nvSpPr>
          <p:cNvPr id="5" name="Date Placeholder 4"/>
          <p:cNvSpPr>
            <a:spLocks noGrp="1"/>
          </p:cNvSpPr>
          <p:nvPr>
            <p:ph type="dt" sz="half" idx="10"/>
          </p:nvPr>
        </p:nvSpPr>
        <p:spPr/>
        <p:txBody>
          <a:bodyPr/>
          <a:lstStyle/>
          <a:p>
            <a:fld id="{D199D21A-8FA4-AA48-B44F-FA65CC33588D}" type="datetimeFigureOut">
              <a:rPr lang="en-US" smtClean="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D30F635-7B0F-FF44-8F0D-41E13FD56924}" type="slidenum">
              <a:rPr lang="en-US" smtClean="0"/>
              <a:t>‹#›</a:t>
            </a:fld>
            <a:endParaRPr lang="en-US" dirty="0"/>
          </a:p>
        </p:txBody>
      </p:sp>
    </p:spTree>
    <p:extLst>
      <p:ext uri="{BB962C8B-B14F-4D97-AF65-F5344CB8AC3E}">
        <p14:creationId xmlns:p14="http://schemas.microsoft.com/office/powerpoint/2010/main" val="202102368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D199D21A-8FA4-AA48-B44F-FA65CC33588D}"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D30F635-7B0F-FF44-8F0D-41E13FD56924}" type="slidenum">
              <a:rPr lang="en-US" smtClean="0"/>
              <a:t>‹#›</a:t>
            </a:fld>
            <a:endParaRPr lang="en-US" dirty="0"/>
          </a:p>
        </p:txBody>
      </p:sp>
    </p:spTree>
    <p:extLst>
      <p:ext uri="{BB962C8B-B14F-4D97-AF65-F5344CB8AC3E}">
        <p14:creationId xmlns:p14="http://schemas.microsoft.com/office/powerpoint/2010/main" val="163230224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04271"/>
            <a:ext cx="1971675" cy="484319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28651" y="304271"/>
            <a:ext cx="5800725" cy="484319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D199D21A-8FA4-AA48-B44F-FA65CC33588D}"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D30F635-7B0F-FF44-8F0D-41E13FD56924}" type="slidenum">
              <a:rPr lang="en-US" smtClean="0"/>
              <a:t>‹#›</a:t>
            </a:fld>
            <a:endParaRPr lang="en-US" dirty="0"/>
          </a:p>
        </p:txBody>
      </p:sp>
    </p:spTree>
    <p:extLst>
      <p:ext uri="{BB962C8B-B14F-4D97-AF65-F5344CB8AC3E}">
        <p14:creationId xmlns:p14="http://schemas.microsoft.com/office/powerpoint/2010/main" val="400065267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a:t>Click to edit Master title style</a:t>
            </a:r>
            <a:endParaRPr lang="en-US"/>
          </a:p>
        </p:txBody>
      </p:sp>
      <p:sp>
        <p:nvSpPr>
          <p:cNvPr id="3" name="Date Placeholder 2"/>
          <p:cNvSpPr>
            <a:spLocks noGrp="1"/>
          </p:cNvSpPr>
          <p:nvPr>
            <p:ph type="dt" sz="half" idx="10"/>
          </p:nvPr>
        </p:nvSpPr>
        <p:spPr>
          <a:xfrm>
            <a:off x="628650" y="5296961"/>
            <a:ext cx="2057400" cy="304271"/>
          </a:xfrm>
          <a:prstGeom prst="rect">
            <a:avLst/>
          </a:prstGeom>
        </p:spPr>
        <p:txBody>
          <a:bodyPr/>
          <a:lstStyle/>
          <a:p>
            <a:fld id="{C764DE79-268F-4C1A-8933-263129D2AF90}" type="datetimeFigureOut">
              <a:rPr lang="en-US" smtClean="0"/>
              <a:t>4/21/2026</a:t>
            </a:fld>
            <a:endParaRPr lang="en-US" dirty="0"/>
          </a:p>
        </p:txBody>
      </p:sp>
      <p:sp>
        <p:nvSpPr>
          <p:cNvPr id="4" name="Footer Placeholder 3"/>
          <p:cNvSpPr>
            <a:spLocks noGrp="1"/>
          </p:cNvSpPr>
          <p:nvPr>
            <p:ph type="ftr" sz="quarter" idx="11"/>
          </p:nvPr>
        </p:nvSpPr>
        <p:spPr>
          <a:xfrm>
            <a:off x="3028950" y="5296961"/>
            <a:ext cx="3086100" cy="304271"/>
          </a:xfrm>
          <a:prstGeom prst="rect">
            <a:avLst/>
          </a:prstGeom>
        </p:spPr>
        <p:txBody>
          <a:bodyPr/>
          <a:lstStyle/>
          <a:p>
            <a:endParaRPr lang="en-US" dirty="0"/>
          </a:p>
        </p:txBody>
      </p:sp>
      <p:sp>
        <p:nvSpPr>
          <p:cNvPr id="5" name="Slide Number Placeholder 4"/>
          <p:cNvSpPr>
            <a:spLocks noGrp="1"/>
          </p:cNvSpPr>
          <p:nvPr>
            <p:ph type="sldNum" sz="quarter" idx="12"/>
          </p:nvPr>
        </p:nvSpPr>
        <p:spPr>
          <a:xfrm>
            <a:off x="6457950" y="5296961"/>
            <a:ext cx="2057400" cy="304271"/>
          </a:xfrm>
          <a:prstGeom prst="rect">
            <a:avLst/>
          </a:prstGeom>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3177716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a:t>Click to edit Master title style</a:t>
            </a:r>
            <a:endParaRPr lang="en-US"/>
          </a:p>
        </p:txBody>
      </p:sp>
      <p:sp>
        <p:nvSpPr>
          <p:cNvPr id="3" name="Date Placeholder 2"/>
          <p:cNvSpPr>
            <a:spLocks noGrp="1"/>
          </p:cNvSpPr>
          <p:nvPr>
            <p:ph type="dt" sz="half" idx="10"/>
          </p:nvPr>
        </p:nvSpPr>
        <p:spPr>
          <a:xfrm>
            <a:off x="628650" y="5296961"/>
            <a:ext cx="2057400" cy="304271"/>
          </a:xfrm>
          <a:prstGeom prst="rect">
            <a:avLst/>
          </a:prstGeom>
        </p:spPr>
        <p:txBody>
          <a:bodyPr/>
          <a:lstStyle/>
          <a:p>
            <a:fld id="{C764DE79-268F-4C1A-8933-263129D2AF90}" type="datetimeFigureOut">
              <a:rPr lang="en-US" smtClean="0"/>
              <a:t>4/21/2026</a:t>
            </a:fld>
            <a:endParaRPr lang="en-US" dirty="0"/>
          </a:p>
        </p:txBody>
      </p:sp>
      <p:sp>
        <p:nvSpPr>
          <p:cNvPr id="4" name="Footer Placeholder 3"/>
          <p:cNvSpPr>
            <a:spLocks noGrp="1"/>
          </p:cNvSpPr>
          <p:nvPr>
            <p:ph type="ftr" sz="quarter" idx="11"/>
          </p:nvPr>
        </p:nvSpPr>
        <p:spPr>
          <a:xfrm>
            <a:off x="3028950" y="5296961"/>
            <a:ext cx="3086100" cy="304271"/>
          </a:xfrm>
          <a:prstGeom prst="rect">
            <a:avLst/>
          </a:prstGeom>
        </p:spPr>
        <p:txBody>
          <a:bodyPr/>
          <a:lstStyle/>
          <a:p>
            <a:endParaRPr lang="en-US" dirty="0"/>
          </a:p>
        </p:txBody>
      </p:sp>
      <p:sp>
        <p:nvSpPr>
          <p:cNvPr id="5" name="Slide Number Placeholder 4"/>
          <p:cNvSpPr>
            <a:spLocks noGrp="1"/>
          </p:cNvSpPr>
          <p:nvPr>
            <p:ph type="sldNum" sz="quarter" idx="12"/>
          </p:nvPr>
        </p:nvSpPr>
        <p:spPr>
          <a:xfrm>
            <a:off x="6457950" y="5296961"/>
            <a:ext cx="2057400" cy="304271"/>
          </a:xfrm>
          <a:prstGeom prst="rect">
            <a:avLst/>
          </a:prstGeom>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208851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381000" y="571500"/>
            <a:ext cx="8534400" cy="952500"/>
          </a:xfrm>
        </p:spPr>
        <p:txBody>
          <a:bodyPr/>
          <a:lstStyle/>
          <a:p>
            <a:r>
              <a:rPr lang="en-US"/>
              <a:t>Click to edit Master title style</a:t>
            </a:r>
            <a:endParaRPr lang="en-GB"/>
          </a:p>
        </p:txBody>
      </p:sp>
      <p:sp>
        <p:nvSpPr>
          <p:cNvPr id="3" name="SmartArt Placeholder 2"/>
          <p:cNvSpPr>
            <a:spLocks noGrp="1"/>
          </p:cNvSpPr>
          <p:nvPr>
            <p:ph type="dgm" idx="1"/>
          </p:nvPr>
        </p:nvSpPr>
        <p:spPr>
          <a:xfrm>
            <a:off x="533400" y="1651000"/>
            <a:ext cx="7772400" cy="3429000"/>
          </a:xfrm>
        </p:spPr>
        <p:txBody>
          <a:bodyPr/>
          <a:lstStyle/>
          <a:p>
            <a:endParaRPr lang="en-GB" dirty="0"/>
          </a:p>
        </p:txBody>
      </p:sp>
      <p:sp>
        <p:nvSpPr>
          <p:cNvPr id="4" name="Date Placeholder 3"/>
          <p:cNvSpPr>
            <a:spLocks noGrp="1"/>
          </p:cNvSpPr>
          <p:nvPr>
            <p:ph type="dt" sz="half" idx="10"/>
          </p:nvPr>
        </p:nvSpPr>
        <p:spPr>
          <a:xfrm>
            <a:off x="1173163" y="5221553"/>
            <a:ext cx="1905000" cy="381000"/>
          </a:xfrm>
        </p:spPr>
        <p:txBody>
          <a:bodyPr/>
          <a:lstStyle>
            <a:lvl1pPr>
              <a:defRPr/>
            </a:lvl1pPr>
          </a:lstStyle>
          <a:p>
            <a:endParaRPr lang="en-US" altLang="en-US" dirty="0"/>
          </a:p>
        </p:txBody>
      </p:sp>
      <p:sp>
        <p:nvSpPr>
          <p:cNvPr id="5" name="Footer Placeholder 4"/>
          <p:cNvSpPr>
            <a:spLocks noGrp="1"/>
          </p:cNvSpPr>
          <p:nvPr>
            <p:ph type="ftr" sz="quarter" idx="11"/>
          </p:nvPr>
        </p:nvSpPr>
        <p:spPr>
          <a:xfrm>
            <a:off x="3581400" y="5207000"/>
            <a:ext cx="2895600" cy="381000"/>
          </a:xfrm>
        </p:spPr>
        <p:txBody>
          <a:bodyPr/>
          <a:lstStyle>
            <a:lvl1pPr>
              <a:defRPr/>
            </a:lvl1pPr>
          </a:lstStyle>
          <a:p>
            <a:endParaRPr lang="en-US" altLang="en-US" dirty="0"/>
          </a:p>
        </p:txBody>
      </p:sp>
    </p:spTree>
    <p:extLst>
      <p:ext uri="{BB962C8B-B14F-4D97-AF65-F5344CB8AC3E}">
        <p14:creationId xmlns:p14="http://schemas.microsoft.com/office/powerpoint/2010/main" val="776055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image" Target="../media/image3.emf"/><Relationship Id="rId3" Type="http://schemas.openxmlformats.org/officeDocument/2006/relationships/slideLayout" Target="../slideLayouts/slideLayout26.xml"/><Relationship Id="rId21" Type="http://schemas.openxmlformats.org/officeDocument/2006/relationships/image" Target="../media/image6.emf"/><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image" Target="../media/image2.emf"/><Relationship Id="rId2" Type="http://schemas.openxmlformats.org/officeDocument/2006/relationships/slideLayout" Target="../slideLayouts/slideLayout25.xml"/><Relationship Id="rId16" Type="http://schemas.openxmlformats.org/officeDocument/2006/relationships/image" Target="../media/image1.png"/><Relationship Id="rId20" Type="http://schemas.openxmlformats.org/officeDocument/2006/relationships/image" Target="../media/image5.emf"/><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theme" Target="../theme/theme3.xml"/><Relationship Id="rId10" Type="http://schemas.openxmlformats.org/officeDocument/2006/relationships/slideLayout" Target="../slideLayouts/slideLayout33.xml"/><Relationship Id="rId19" Type="http://schemas.openxmlformats.org/officeDocument/2006/relationships/image" Target="../media/image4.emf"/><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image" Target="../media/image7.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18" Type="http://schemas.openxmlformats.org/officeDocument/2006/relationships/image" Target="../media/image3.emf"/><Relationship Id="rId3" Type="http://schemas.openxmlformats.org/officeDocument/2006/relationships/slideLayout" Target="../slideLayouts/slideLayout40.xml"/><Relationship Id="rId21" Type="http://schemas.openxmlformats.org/officeDocument/2006/relationships/image" Target="../media/image6.emf"/><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image" Target="../media/image2.emf"/><Relationship Id="rId2" Type="http://schemas.openxmlformats.org/officeDocument/2006/relationships/slideLayout" Target="../slideLayouts/slideLayout39.xml"/><Relationship Id="rId16" Type="http://schemas.openxmlformats.org/officeDocument/2006/relationships/image" Target="../media/image1.png"/><Relationship Id="rId20" Type="http://schemas.openxmlformats.org/officeDocument/2006/relationships/image" Target="../media/image5.emf"/><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theme" Target="../theme/theme4.xml"/><Relationship Id="rId10" Type="http://schemas.openxmlformats.org/officeDocument/2006/relationships/slideLayout" Target="../slideLayouts/slideLayout47.xml"/><Relationship Id="rId19" Type="http://schemas.openxmlformats.org/officeDocument/2006/relationships/image" Target="../media/image4.emf"/><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 Id="rId22" Type="http://schemas.openxmlformats.org/officeDocument/2006/relationships/image" Target="../media/image7.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18" Type="http://schemas.openxmlformats.org/officeDocument/2006/relationships/image" Target="../media/image3.emf"/><Relationship Id="rId3" Type="http://schemas.openxmlformats.org/officeDocument/2006/relationships/slideLayout" Target="../slideLayouts/slideLayout54.xml"/><Relationship Id="rId21" Type="http://schemas.openxmlformats.org/officeDocument/2006/relationships/image" Target="../media/image6.emf"/><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image" Target="../media/image2.emf"/><Relationship Id="rId2" Type="http://schemas.openxmlformats.org/officeDocument/2006/relationships/slideLayout" Target="../slideLayouts/slideLayout53.xml"/><Relationship Id="rId16" Type="http://schemas.openxmlformats.org/officeDocument/2006/relationships/image" Target="../media/image1.png"/><Relationship Id="rId20" Type="http://schemas.openxmlformats.org/officeDocument/2006/relationships/image" Target="../media/image5.emf"/><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theme" Target="../theme/theme5.xml"/><Relationship Id="rId10" Type="http://schemas.openxmlformats.org/officeDocument/2006/relationships/slideLayout" Target="../slideLayouts/slideLayout61.xml"/><Relationship Id="rId19" Type="http://schemas.openxmlformats.org/officeDocument/2006/relationships/image" Target="../media/image4.emf"/><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 Id="rId22"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628650" y="1521354"/>
            <a:ext cx="7886700" cy="362611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628650" y="5296960"/>
            <a:ext cx="2057400" cy="304271"/>
          </a:xfrm>
          <a:prstGeom prst="rect">
            <a:avLst/>
          </a:prstGeom>
        </p:spPr>
        <p:txBody>
          <a:bodyPr vert="horz" lIns="91440" tIns="45720" rIns="91440" bIns="45720" rtlCol="0" anchor="ctr"/>
          <a:lstStyle>
            <a:lvl1pPr algn="l">
              <a:defRPr sz="1200">
                <a:solidFill>
                  <a:schemeClr val="tx1">
                    <a:tint val="75000"/>
                  </a:schemeClr>
                </a:solidFill>
              </a:defRPr>
            </a:lvl1pPr>
          </a:lstStyle>
          <a:p>
            <a:fld id="{2BECFEC1-1344-AD44-8D2E-702E20925CC3}" type="datetimeFigureOut">
              <a:rPr lang="en-US" smtClean="0"/>
              <a:t>4/21/2026</a:t>
            </a:fld>
            <a:endParaRPr lang="en-US" dirty="0"/>
          </a:p>
        </p:txBody>
      </p:sp>
      <p:sp>
        <p:nvSpPr>
          <p:cNvPr id="5" name="Footer Placeholder 4"/>
          <p:cNvSpPr>
            <a:spLocks noGrp="1"/>
          </p:cNvSpPr>
          <p:nvPr>
            <p:ph type="ftr" sz="quarter" idx="3"/>
          </p:nvPr>
        </p:nvSpPr>
        <p:spPr>
          <a:xfrm>
            <a:off x="3028950" y="5296960"/>
            <a:ext cx="3086100" cy="304271"/>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5296960"/>
            <a:ext cx="2057400" cy="304271"/>
          </a:xfrm>
          <a:prstGeom prst="rect">
            <a:avLst/>
          </a:prstGeom>
        </p:spPr>
        <p:txBody>
          <a:bodyPr vert="horz" lIns="91440" tIns="45720" rIns="91440" bIns="45720" rtlCol="0" anchor="ctr"/>
          <a:lstStyle>
            <a:lvl1pPr algn="r">
              <a:defRPr sz="1200">
                <a:solidFill>
                  <a:schemeClr val="tx1">
                    <a:tint val="75000"/>
                  </a:schemeClr>
                </a:solidFill>
              </a:defRPr>
            </a:lvl1pPr>
          </a:lstStyle>
          <a:p>
            <a:fld id="{FEC44133-C343-9242-9975-8039D7B91997}" type="slidenum">
              <a:rPr lang="en-US" smtClean="0"/>
              <a:t>‹#›</a:t>
            </a:fld>
            <a:endParaRPr lang="en-US" dirty="0"/>
          </a:p>
        </p:txBody>
      </p:sp>
    </p:spTree>
    <p:extLst>
      <p:ext uri="{BB962C8B-B14F-4D97-AF65-F5344CB8AC3E}">
        <p14:creationId xmlns:p14="http://schemas.microsoft.com/office/powerpoint/2010/main" val="287515790"/>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28650" y="5296959"/>
            <a:ext cx="2057400" cy="304271"/>
          </a:xfrm>
          <a:prstGeom prst="rect">
            <a:avLst/>
          </a:prstGeom>
        </p:spPr>
        <p:txBody>
          <a:bodyPr vert="horz" lIns="91440" tIns="45720" rIns="91440" bIns="45720" rtlCol="0" anchor="ctr"/>
          <a:lstStyle>
            <a:lvl1pPr algn="l">
              <a:defRPr sz="900">
                <a:solidFill>
                  <a:schemeClr val="tx1">
                    <a:tint val="75000"/>
                  </a:schemeClr>
                </a:solidFill>
              </a:defRPr>
            </a:lvl1pPr>
          </a:lstStyle>
          <a:p>
            <a:fld id="{2BECFEC1-1344-AD44-8D2E-702E20925CC3}" type="datetimeFigureOut">
              <a:rPr lang="en-US" smtClean="0"/>
              <a:t>4/21/2026</a:t>
            </a:fld>
            <a:endParaRPr lang="en-US" dirty="0"/>
          </a:p>
        </p:txBody>
      </p:sp>
      <p:sp>
        <p:nvSpPr>
          <p:cNvPr id="5" name="Footer Placeholder 4"/>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900">
                <a:solidFill>
                  <a:schemeClr val="tx1">
                    <a:tint val="75000"/>
                  </a:schemeClr>
                </a:solidFill>
              </a:defRPr>
            </a:lvl1pPr>
          </a:lstStyle>
          <a:p>
            <a:fld id="{FEC44133-C343-9242-9975-8039D7B91997}" type="slidenum">
              <a:rPr lang="en-US" smtClean="0"/>
              <a:t>‹#›</a:t>
            </a:fld>
            <a:endParaRPr lang="en-US" dirty="0"/>
          </a:p>
        </p:txBody>
      </p:sp>
    </p:spTree>
    <p:extLst>
      <p:ext uri="{BB962C8B-B14F-4D97-AF65-F5344CB8AC3E}">
        <p14:creationId xmlns:p14="http://schemas.microsoft.com/office/powerpoint/2010/main" val="1924506321"/>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 id="2147483834"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p:cNvSpPr>
            <a:spLocks noGrp="1"/>
          </p:cNvSpPr>
          <p:nvPr>
            <p:ph type="dt" sz="half" idx="2"/>
          </p:nvPr>
        </p:nvSpPr>
        <p:spPr>
          <a:xfrm>
            <a:off x="628650" y="5296959"/>
            <a:ext cx="2057400" cy="304271"/>
          </a:xfrm>
          <a:prstGeom prst="rect">
            <a:avLst/>
          </a:prstGeom>
        </p:spPr>
        <p:txBody>
          <a:bodyPr vert="horz" lIns="91440" tIns="45720" rIns="91440" bIns="45720" rtlCol="0" anchor="ctr"/>
          <a:lstStyle>
            <a:lvl1pPr algn="l">
              <a:defRPr sz="900">
                <a:solidFill>
                  <a:schemeClr val="tx1">
                    <a:tint val="75000"/>
                  </a:schemeClr>
                </a:solidFill>
              </a:defRPr>
            </a:lvl1pPr>
          </a:lstStyle>
          <a:p>
            <a:fld id="{2BECFEC1-1344-AD44-8D2E-702E20925CC3}" type="datetimeFigureOut">
              <a:rPr lang="en-US" smtClean="0"/>
              <a:t>4/21/2026</a:t>
            </a:fld>
            <a:endParaRPr lang="en-US" dirty="0"/>
          </a:p>
        </p:txBody>
      </p:sp>
      <p:sp>
        <p:nvSpPr>
          <p:cNvPr id="5" name="Footer Placeholder 4"/>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900">
                <a:solidFill>
                  <a:schemeClr val="tx1">
                    <a:tint val="75000"/>
                  </a:schemeClr>
                </a:solidFill>
              </a:defRPr>
            </a:lvl1pPr>
          </a:lstStyle>
          <a:p>
            <a:fld id="{FEC44133-C343-9242-9975-8039D7B91997}" type="slidenum">
              <a:rPr lang="en-US" smtClean="0"/>
              <a:t>‹#›</a:t>
            </a:fld>
            <a:endParaRPr lang="en-US" dirty="0"/>
          </a:p>
        </p:txBody>
      </p:sp>
      <p:pic>
        <p:nvPicPr>
          <p:cNvPr id="7" name="Picture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2" y="0"/>
            <a:ext cx="9140219" cy="411238"/>
          </a:xfrm>
          <a:prstGeom prst="rect">
            <a:avLst/>
          </a:prstGeom>
        </p:spPr>
      </p:pic>
      <p:cxnSp>
        <p:nvCxnSpPr>
          <p:cNvPr id="9" name="Straight Connector 8"/>
          <p:cNvCxnSpPr/>
          <p:nvPr userDrawn="1"/>
        </p:nvCxnSpPr>
        <p:spPr>
          <a:xfrm>
            <a:off x="89943" y="5021706"/>
            <a:ext cx="8881673"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userDrawn="1"/>
        </p:nvSpPr>
        <p:spPr>
          <a:xfrm>
            <a:off x="7481968" y="5216047"/>
            <a:ext cx="1720121" cy="308418"/>
          </a:xfrm>
          <a:prstGeom prst="rect">
            <a:avLst/>
          </a:prstGeom>
          <a:noFill/>
        </p:spPr>
        <p:txBody>
          <a:bodyPr wrap="square" rtlCol="0">
            <a:spAutoFit/>
          </a:bodyPr>
          <a:lstStyle/>
          <a:p>
            <a:r>
              <a:rPr lang="en-US" sz="1404" b="1" dirty="0">
                <a:solidFill>
                  <a:schemeClr val="accent5">
                    <a:lumMod val="50000"/>
                  </a:schemeClr>
                </a:solidFill>
              </a:rPr>
              <a:t>www.weston.ac.uk</a:t>
            </a:r>
          </a:p>
        </p:txBody>
      </p:sp>
      <p:pic>
        <p:nvPicPr>
          <p:cNvPr id="18" name="Picture 17"/>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234222" y="-204816"/>
            <a:ext cx="935215" cy="1232108"/>
          </a:xfrm>
          <a:prstGeom prst="rect">
            <a:avLst/>
          </a:prstGeom>
        </p:spPr>
      </p:pic>
      <p:pic>
        <p:nvPicPr>
          <p:cNvPr id="19" name="Picture 18"/>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230471" y="5171197"/>
            <a:ext cx="507584" cy="421503"/>
          </a:xfrm>
          <a:prstGeom prst="rect">
            <a:avLst/>
          </a:prstGeom>
        </p:spPr>
      </p:pic>
      <p:pic>
        <p:nvPicPr>
          <p:cNvPr id="20" name="Picture 19"/>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930742" y="5171197"/>
            <a:ext cx="491088" cy="424006"/>
          </a:xfrm>
          <a:prstGeom prst="rect">
            <a:avLst/>
          </a:prstGeom>
        </p:spPr>
      </p:pic>
      <p:pic>
        <p:nvPicPr>
          <p:cNvPr id="21" name="Picture 20"/>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1664203" y="5171197"/>
            <a:ext cx="432279" cy="430033"/>
          </a:xfrm>
          <a:prstGeom prst="rect">
            <a:avLst/>
          </a:prstGeom>
        </p:spPr>
      </p:pic>
      <p:pic>
        <p:nvPicPr>
          <p:cNvPr id="22" name="Picture 21"/>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4008033" y="5243445"/>
            <a:ext cx="1202180" cy="267151"/>
          </a:xfrm>
          <a:prstGeom prst="rect">
            <a:avLst/>
          </a:prstGeom>
        </p:spPr>
      </p:pic>
      <p:pic>
        <p:nvPicPr>
          <p:cNvPr id="24" name="Picture 23"/>
          <p:cNvPicPr>
            <a:picLocks noChangeAspect="1"/>
          </p:cNvPicPr>
          <p:nvPr userDrawn="1"/>
        </p:nvPicPr>
        <p:blipFill>
          <a:blip r:embed="rId22">
            <a:extLst>
              <a:ext uri="{28A0092B-C50C-407E-A947-70E740481C1C}">
                <a14:useLocalDpi xmlns:a14="http://schemas.microsoft.com/office/drawing/2010/main" val="0"/>
              </a:ext>
            </a:extLst>
          </a:blip>
          <a:stretch>
            <a:fillRect/>
          </a:stretch>
        </p:blipFill>
        <p:spPr>
          <a:xfrm>
            <a:off x="2394447" y="5237835"/>
            <a:ext cx="1315621" cy="264841"/>
          </a:xfrm>
          <a:prstGeom prst="rect">
            <a:avLst/>
          </a:prstGeom>
        </p:spPr>
      </p:pic>
      <p:pic>
        <p:nvPicPr>
          <p:cNvPr id="25" name="Picture 24"/>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5447657" y="5243445"/>
            <a:ext cx="1202180" cy="267151"/>
          </a:xfrm>
          <a:prstGeom prst="rect">
            <a:avLst/>
          </a:prstGeom>
        </p:spPr>
      </p:pic>
      <p:sp>
        <p:nvSpPr>
          <p:cNvPr id="26" name="TextBox 25"/>
          <p:cNvSpPr txBox="1"/>
          <p:nvPr userDrawn="1"/>
        </p:nvSpPr>
        <p:spPr>
          <a:xfrm>
            <a:off x="6392049" y="5247144"/>
            <a:ext cx="990600" cy="246221"/>
          </a:xfrm>
          <a:prstGeom prst="rect">
            <a:avLst/>
          </a:prstGeom>
          <a:solidFill>
            <a:schemeClr val="bg1"/>
          </a:solidFill>
        </p:spPr>
        <p:txBody>
          <a:bodyPr wrap="square" rtlCol="0">
            <a:spAutoFit/>
          </a:bodyPr>
          <a:lstStyle/>
          <a:p>
            <a:r>
              <a:rPr lang="en-US" sz="1000" dirty="0">
                <a:latin typeface="+mj-lt"/>
              </a:rPr>
              <a:t>Champion</a:t>
            </a:r>
          </a:p>
        </p:txBody>
      </p:sp>
    </p:spTree>
    <p:extLst>
      <p:ext uri="{BB962C8B-B14F-4D97-AF65-F5344CB8AC3E}">
        <p14:creationId xmlns:p14="http://schemas.microsoft.com/office/powerpoint/2010/main" val="591989088"/>
      </p:ext>
    </p:extLst>
  </p:cSld>
  <p:clrMap bg1="lt1" tx1="dk1" bg2="lt2" tx2="dk2" accent1="accent1" accent2="accent2" accent3="accent3" accent4="accent4" accent5="accent5" accent6="accent6" hlink="hlink" folHlink="folHlink"/>
  <p:sldLayoutIdLst>
    <p:sldLayoutId id="2147483821" r:id="rId1"/>
    <p:sldLayoutId id="2147483822" r:id="rId2"/>
    <p:sldLayoutId id="2147483823" r:id="rId3"/>
    <p:sldLayoutId id="2147483824" r:id="rId4"/>
    <p:sldLayoutId id="2147483825" r:id="rId5"/>
    <p:sldLayoutId id="2147483826" r:id="rId6"/>
    <p:sldLayoutId id="2147483827" r:id="rId7"/>
    <p:sldLayoutId id="2147483828" r:id="rId8"/>
    <p:sldLayoutId id="2147483829" r:id="rId9"/>
    <p:sldLayoutId id="2147483830" r:id="rId10"/>
    <p:sldLayoutId id="2147483831" r:id="rId11"/>
    <p:sldLayoutId id="2147483744" r:id="rId12"/>
    <p:sldLayoutId id="2147483745" r:id="rId13"/>
    <p:sldLayoutId id="2147483832" r:id="rId1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Title Placeholder 1">
            <a:extLst>
              <a:ext uri="{FF2B5EF4-FFF2-40B4-BE49-F238E27FC236}">
                <a16:creationId xmlns:a16="http://schemas.microsoft.com/office/drawing/2014/main" id="{4D536D56-5CEB-4F36-8688-DA2FCCECB1CA}"/>
              </a:ext>
            </a:extLst>
          </p:cNvPr>
          <p:cNvSpPr>
            <a:spLocks noGrp="1" noChangeArrowheads="1"/>
          </p:cNvSpPr>
          <p:nvPr>
            <p:ph type="title"/>
          </p:nvPr>
        </p:nvSpPr>
        <p:spPr bwMode="auto">
          <a:xfrm>
            <a:off x="628650" y="304271"/>
            <a:ext cx="7886700" cy="1104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endParaRPr lang="en-US" altLang="en-US"/>
          </a:p>
        </p:txBody>
      </p:sp>
      <p:sp>
        <p:nvSpPr>
          <p:cNvPr id="4099" name="Text Placeholder 2">
            <a:extLst>
              <a:ext uri="{FF2B5EF4-FFF2-40B4-BE49-F238E27FC236}">
                <a16:creationId xmlns:a16="http://schemas.microsoft.com/office/drawing/2014/main" id="{B8D25B4C-F625-44CF-A6B8-BD341F8F809F}"/>
              </a:ext>
            </a:extLst>
          </p:cNvPr>
          <p:cNvSpPr>
            <a:spLocks noGrp="1" noChangeArrowheads="1"/>
          </p:cNvSpPr>
          <p:nvPr>
            <p:ph type="body" idx="1"/>
          </p:nvPr>
        </p:nvSpPr>
        <p:spPr bwMode="auto">
          <a:xfrm>
            <a:off x="628650" y="1521354"/>
            <a:ext cx="7886700" cy="3626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4" name="Date Placeholder 3">
            <a:extLst>
              <a:ext uri="{FF2B5EF4-FFF2-40B4-BE49-F238E27FC236}">
                <a16:creationId xmlns:a16="http://schemas.microsoft.com/office/drawing/2014/main" id="{5095EB46-D7C0-4E71-9CA0-8D4DD4B2A0C0}"/>
              </a:ext>
            </a:extLst>
          </p:cNvPr>
          <p:cNvSpPr>
            <a:spLocks noGrp="1"/>
          </p:cNvSpPr>
          <p:nvPr>
            <p:ph type="dt" sz="half" idx="2"/>
          </p:nvPr>
        </p:nvSpPr>
        <p:spPr>
          <a:xfrm>
            <a:off x="628650" y="5296959"/>
            <a:ext cx="2057400" cy="304271"/>
          </a:xfrm>
          <a:prstGeom prst="rect">
            <a:avLst/>
          </a:prstGeom>
        </p:spPr>
        <p:txBody>
          <a:bodyPr vert="horz" lIns="91440" tIns="45720" rIns="91440" bIns="45720" rtlCol="0" anchor="ctr"/>
          <a:lstStyle>
            <a:lvl1pPr algn="l">
              <a:defRPr sz="750">
                <a:solidFill>
                  <a:schemeClr val="tx1">
                    <a:tint val="75000"/>
                  </a:schemeClr>
                </a:solidFill>
              </a:defRPr>
            </a:lvl1pPr>
          </a:lstStyle>
          <a:p>
            <a:pPr>
              <a:defRPr/>
            </a:pPr>
            <a:fld id="{6AEA014F-0EAD-4283-8D2F-ADD054B26657}" type="datetimeFigureOut">
              <a:rPr lang="en-US"/>
              <a:pPr>
                <a:defRPr/>
              </a:pPr>
              <a:t>4/21/2026</a:t>
            </a:fld>
            <a:endParaRPr lang="en-US" dirty="0"/>
          </a:p>
        </p:txBody>
      </p:sp>
      <p:sp>
        <p:nvSpPr>
          <p:cNvPr id="5" name="Footer Placeholder 4">
            <a:extLst>
              <a:ext uri="{FF2B5EF4-FFF2-40B4-BE49-F238E27FC236}">
                <a16:creationId xmlns:a16="http://schemas.microsoft.com/office/drawing/2014/main" id="{51641DB9-7B34-4AF2-A18D-33FA8895D1B5}"/>
              </a:ext>
            </a:extLst>
          </p:cNvPr>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750">
                <a:solidFill>
                  <a:schemeClr val="tx1">
                    <a:tint val="75000"/>
                  </a:schemeClr>
                </a:solidFill>
              </a:defRPr>
            </a:lvl1pPr>
          </a:lstStyle>
          <a:p>
            <a:pPr>
              <a:defRPr/>
            </a:pPr>
            <a:endParaRPr lang="en-US" dirty="0"/>
          </a:p>
        </p:txBody>
      </p:sp>
      <p:sp>
        <p:nvSpPr>
          <p:cNvPr id="6" name="Slide Number Placeholder 5">
            <a:extLst>
              <a:ext uri="{FF2B5EF4-FFF2-40B4-BE49-F238E27FC236}">
                <a16:creationId xmlns:a16="http://schemas.microsoft.com/office/drawing/2014/main" id="{D1F0E851-D62A-4097-B7B9-BD6944FF6C80}"/>
              </a:ext>
            </a:extLst>
          </p:cNvPr>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750">
                <a:solidFill>
                  <a:schemeClr val="tx1">
                    <a:tint val="75000"/>
                  </a:schemeClr>
                </a:solidFill>
              </a:defRPr>
            </a:lvl1pPr>
          </a:lstStyle>
          <a:p>
            <a:pPr>
              <a:defRPr/>
            </a:pPr>
            <a:fld id="{D9CB2C68-FE47-44F7-89BC-34FDF60B97BB}" type="slidenum">
              <a:rPr lang="en-US"/>
              <a:pPr>
                <a:defRPr/>
              </a:pPr>
              <a:t>‹#›</a:t>
            </a:fld>
            <a:endParaRPr lang="en-US" dirty="0"/>
          </a:p>
        </p:txBody>
      </p:sp>
      <p:pic>
        <p:nvPicPr>
          <p:cNvPr id="4103" name="Picture 6">
            <a:extLst>
              <a:ext uri="{FF2B5EF4-FFF2-40B4-BE49-F238E27FC236}">
                <a16:creationId xmlns:a16="http://schemas.microsoft.com/office/drawing/2014/main" id="{BECAB72B-08C6-4130-B083-A81F8153D538}"/>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 y="0"/>
            <a:ext cx="9140825" cy="411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Straight Connector 8">
            <a:extLst>
              <a:ext uri="{FF2B5EF4-FFF2-40B4-BE49-F238E27FC236}">
                <a16:creationId xmlns:a16="http://schemas.microsoft.com/office/drawing/2014/main" id="{05E4F5A8-8242-434C-87D9-87CD4F6B06AE}"/>
              </a:ext>
            </a:extLst>
          </p:cNvPr>
          <p:cNvCxnSpPr/>
          <p:nvPr userDrawn="1"/>
        </p:nvCxnSpPr>
        <p:spPr>
          <a:xfrm>
            <a:off x="90489" y="5021792"/>
            <a:ext cx="8880475"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3AEF77B-1A17-4253-9DC4-31EB9CE954D7}"/>
              </a:ext>
            </a:extLst>
          </p:cNvPr>
          <p:cNvSpPr txBox="1"/>
          <p:nvPr userDrawn="1"/>
        </p:nvSpPr>
        <p:spPr>
          <a:xfrm>
            <a:off x="7481888" y="5216261"/>
            <a:ext cx="1720850" cy="272382"/>
          </a:xfrm>
          <a:prstGeom prst="rect">
            <a:avLst/>
          </a:prstGeom>
          <a:noFill/>
        </p:spPr>
        <p:txBody>
          <a:bodyPr>
            <a:spAutoFit/>
          </a:bodyPr>
          <a:lstStyle/>
          <a:p>
            <a:pPr>
              <a:defRPr/>
            </a:pPr>
            <a:r>
              <a:rPr lang="en-US" sz="1170" b="1" dirty="0">
                <a:solidFill>
                  <a:schemeClr val="accent5">
                    <a:lumMod val="50000"/>
                  </a:schemeClr>
                </a:solidFill>
              </a:rPr>
              <a:t>www.weston.ac.uk</a:t>
            </a:r>
          </a:p>
        </p:txBody>
      </p:sp>
      <p:pic>
        <p:nvPicPr>
          <p:cNvPr id="4106" name="Picture 17">
            <a:extLst>
              <a:ext uri="{FF2B5EF4-FFF2-40B4-BE49-F238E27FC236}">
                <a16:creationId xmlns:a16="http://schemas.microsoft.com/office/drawing/2014/main" id="{6739ABAC-51AC-41BB-9B4D-426EAB01B4F4}"/>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234950" y="-205052"/>
            <a:ext cx="935038" cy="1232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7" name="Picture 18">
            <a:extLst>
              <a:ext uri="{FF2B5EF4-FFF2-40B4-BE49-F238E27FC236}">
                <a16:creationId xmlns:a16="http://schemas.microsoft.com/office/drawing/2014/main" id="{9777A8EB-DEAB-4ABE-9127-3CF0345F5BE1}"/>
              </a:ext>
            </a:extLst>
          </p:cNvPr>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230188" y="5171282"/>
            <a:ext cx="508000" cy="422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8" name="Picture 19">
            <a:extLst>
              <a:ext uri="{FF2B5EF4-FFF2-40B4-BE49-F238E27FC236}">
                <a16:creationId xmlns:a16="http://schemas.microsoft.com/office/drawing/2014/main" id="{24253219-2D5F-4672-AB85-573A04C0A7AF}"/>
              </a:ext>
            </a:extLst>
          </p:cNvPr>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930276" y="5171282"/>
            <a:ext cx="492125" cy="423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9" name="Picture 20">
            <a:extLst>
              <a:ext uri="{FF2B5EF4-FFF2-40B4-BE49-F238E27FC236}">
                <a16:creationId xmlns:a16="http://schemas.microsoft.com/office/drawing/2014/main" id="{F718E3DE-C6C9-479F-BAC7-CD1A8C210399}"/>
              </a:ext>
            </a:extLst>
          </p:cNvPr>
          <p:cNvPicPr>
            <a:picLocks noChangeAspect="1" noChangeArrowheads="1"/>
          </p:cNvPicPr>
          <p:nvPr userDrawn="1"/>
        </p:nvPicPr>
        <p:blipFill>
          <a:blip r:embed="rId20">
            <a:extLst>
              <a:ext uri="{28A0092B-C50C-407E-A947-70E740481C1C}">
                <a14:useLocalDpi xmlns:a14="http://schemas.microsoft.com/office/drawing/2010/main" val="0"/>
              </a:ext>
            </a:extLst>
          </a:blip>
          <a:srcRect/>
          <a:stretch>
            <a:fillRect/>
          </a:stretch>
        </p:blipFill>
        <p:spPr bwMode="auto">
          <a:xfrm>
            <a:off x="1663700" y="5171282"/>
            <a:ext cx="433388" cy="429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0" name="Picture 21">
            <a:extLst>
              <a:ext uri="{FF2B5EF4-FFF2-40B4-BE49-F238E27FC236}">
                <a16:creationId xmlns:a16="http://schemas.microsoft.com/office/drawing/2014/main" id="{912D12D7-05F7-4DE3-8F38-96D53A73ECC1}"/>
              </a:ext>
            </a:extLst>
          </p:cNvPr>
          <p:cNvPicPr>
            <a:picLocks noChangeAspect="1" noChangeArrowheads="1"/>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4008439" y="5244042"/>
            <a:ext cx="1201737" cy="265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1" name="Picture 23">
            <a:extLst>
              <a:ext uri="{FF2B5EF4-FFF2-40B4-BE49-F238E27FC236}">
                <a16:creationId xmlns:a16="http://schemas.microsoft.com/office/drawing/2014/main" id="{69CC9E1E-94AE-4A83-AAC1-574219893B63}"/>
              </a:ext>
            </a:extLst>
          </p:cNvPr>
          <p:cNvPicPr>
            <a:picLocks noChangeAspect="1" noChangeArrowheads="1"/>
          </p:cNvPicPr>
          <p:nvPr userDrawn="1"/>
        </p:nvPicPr>
        <p:blipFill>
          <a:blip r:embed="rId22">
            <a:extLst>
              <a:ext uri="{28A0092B-C50C-407E-A947-70E740481C1C}">
                <a14:useLocalDpi xmlns:a14="http://schemas.microsoft.com/office/drawing/2010/main" val="0"/>
              </a:ext>
            </a:extLst>
          </a:blip>
          <a:srcRect/>
          <a:stretch>
            <a:fillRect/>
          </a:stretch>
        </p:blipFill>
        <p:spPr bwMode="auto">
          <a:xfrm>
            <a:off x="2393950" y="5237428"/>
            <a:ext cx="1316038" cy="265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2" name="Picture 24">
            <a:extLst>
              <a:ext uri="{FF2B5EF4-FFF2-40B4-BE49-F238E27FC236}">
                <a16:creationId xmlns:a16="http://schemas.microsoft.com/office/drawing/2014/main" id="{6F7144FE-AB79-4363-940F-65E6877897D2}"/>
              </a:ext>
            </a:extLst>
          </p:cNvPr>
          <p:cNvPicPr>
            <a:picLocks noChangeAspect="1" noChangeArrowheads="1"/>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5448300" y="5244042"/>
            <a:ext cx="1201738" cy="265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13" name="TextBox 25">
            <a:extLst>
              <a:ext uri="{FF2B5EF4-FFF2-40B4-BE49-F238E27FC236}">
                <a16:creationId xmlns:a16="http://schemas.microsoft.com/office/drawing/2014/main" id="{C8DA7BBE-BC40-4DB1-8968-CF07F6C9FA1F}"/>
              </a:ext>
            </a:extLst>
          </p:cNvPr>
          <p:cNvSpPr txBox="1">
            <a:spLocks noChangeArrowheads="1"/>
          </p:cNvSpPr>
          <p:nvPr userDrawn="1"/>
        </p:nvSpPr>
        <p:spPr bwMode="auto">
          <a:xfrm>
            <a:off x="6391275" y="5246688"/>
            <a:ext cx="990600" cy="2205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defRPr/>
            </a:pPr>
            <a:r>
              <a:rPr lang="en-US" altLang="en-US" sz="833" dirty="0">
                <a:latin typeface="Calibri Light" panose="020F0302020204030204" pitchFamily="34" charset="0"/>
              </a:rPr>
              <a:t>Champion</a:t>
            </a:r>
          </a:p>
        </p:txBody>
      </p:sp>
    </p:spTree>
    <p:extLst>
      <p:ext uri="{BB962C8B-B14F-4D97-AF65-F5344CB8AC3E}">
        <p14:creationId xmlns:p14="http://schemas.microsoft.com/office/powerpoint/2010/main" val="2253722961"/>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49" r:id="rId14"/>
  </p:sldLayoutIdLst>
  <p:txStyles>
    <p:titleStyle>
      <a:lvl1pPr algn="l" defTabSz="571477" rtl="0" eaLnBrk="0" fontAlgn="base" hangingPunct="0">
        <a:lnSpc>
          <a:spcPct val="90000"/>
        </a:lnSpc>
        <a:spcBef>
          <a:spcPct val="0"/>
        </a:spcBef>
        <a:spcAft>
          <a:spcPct val="0"/>
        </a:spcAft>
        <a:defRPr sz="2750" kern="1200">
          <a:solidFill>
            <a:schemeClr val="tx1"/>
          </a:solidFill>
          <a:latin typeface="+mj-lt"/>
          <a:ea typeface="+mj-ea"/>
          <a:cs typeface="+mj-cs"/>
        </a:defRPr>
      </a:lvl1pPr>
      <a:lvl2pPr algn="l" defTabSz="571477" rtl="0" eaLnBrk="0" fontAlgn="base" hangingPunct="0">
        <a:lnSpc>
          <a:spcPct val="90000"/>
        </a:lnSpc>
        <a:spcBef>
          <a:spcPct val="0"/>
        </a:spcBef>
        <a:spcAft>
          <a:spcPct val="0"/>
        </a:spcAft>
        <a:defRPr sz="2750">
          <a:solidFill>
            <a:schemeClr val="tx1"/>
          </a:solidFill>
          <a:latin typeface="Calibri Light" panose="020F0302020204030204" pitchFamily="34" charset="0"/>
        </a:defRPr>
      </a:lvl2pPr>
      <a:lvl3pPr algn="l" defTabSz="571477" rtl="0" eaLnBrk="0" fontAlgn="base" hangingPunct="0">
        <a:lnSpc>
          <a:spcPct val="90000"/>
        </a:lnSpc>
        <a:spcBef>
          <a:spcPct val="0"/>
        </a:spcBef>
        <a:spcAft>
          <a:spcPct val="0"/>
        </a:spcAft>
        <a:defRPr sz="2750">
          <a:solidFill>
            <a:schemeClr val="tx1"/>
          </a:solidFill>
          <a:latin typeface="Calibri Light" panose="020F0302020204030204" pitchFamily="34" charset="0"/>
        </a:defRPr>
      </a:lvl3pPr>
      <a:lvl4pPr algn="l" defTabSz="571477" rtl="0" eaLnBrk="0" fontAlgn="base" hangingPunct="0">
        <a:lnSpc>
          <a:spcPct val="90000"/>
        </a:lnSpc>
        <a:spcBef>
          <a:spcPct val="0"/>
        </a:spcBef>
        <a:spcAft>
          <a:spcPct val="0"/>
        </a:spcAft>
        <a:defRPr sz="2750">
          <a:solidFill>
            <a:schemeClr val="tx1"/>
          </a:solidFill>
          <a:latin typeface="Calibri Light" panose="020F0302020204030204" pitchFamily="34" charset="0"/>
        </a:defRPr>
      </a:lvl4pPr>
      <a:lvl5pPr algn="l" defTabSz="571477" rtl="0" eaLnBrk="0" fontAlgn="base" hangingPunct="0">
        <a:lnSpc>
          <a:spcPct val="90000"/>
        </a:lnSpc>
        <a:spcBef>
          <a:spcPct val="0"/>
        </a:spcBef>
        <a:spcAft>
          <a:spcPct val="0"/>
        </a:spcAft>
        <a:defRPr sz="2750">
          <a:solidFill>
            <a:schemeClr val="tx1"/>
          </a:solidFill>
          <a:latin typeface="Calibri Light" panose="020F0302020204030204" pitchFamily="34" charset="0"/>
        </a:defRPr>
      </a:lvl5pPr>
      <a:lvl6pPr marL="380985" algn="l" defTabSz="571477" rtl="0" fontAlgn="base">
        <a:lnSpc>
          <a:spcPct val="90000"/>
        </a:lnSpc>
        <a:spcBef>
          <a:spcPct val="0"/>
        </a:spcBef>
        <a:spcAft>
          <a:spcPct val="0"/>
        </a:spcAft>
        <a:defRPr sz="2750">
          <a:solidFill>
            <a:schemeClr val="tx1"/>
          </a:solidFill>
          <a:latin typeface="Calibri Light" panose="020F0302020204030204" pitchFamily="34" charset="0"/>
        </a:defRPr>
      </a:lvl6pPr>
      <a:lvl7pPr marL="761970" algn="l" defTabSz="571477" rtl="0" fontAlgn="base">
        <a:lnSpc>
          <a:spcPct val="90000"/>
        </a:lnSpc>
        <a:spcBef>
          <a:spcPct val="0"/>
        </a:spcBef>
        <a:spcAft>
          <a:spcPct val="0"/>
        </a:spcAft>
        <a:defRPr sz="2750">
          <a:solidFill>
            <a:schemeClr val="tx1"/>
          </a:solidFill>
          <a:latin typeface="Calibri Light" panose="020F0302020204030204" pitchFamily="34" charset="0"/>
        </a:defRPr>
      </a:lvl7pPr>
      <a:lvl8pPr marL="1142954" algn="l" defTabSz="571477" rtl="0" fontAlgn="base">
        <a:lnSpc>
          <a:spcPct val="90000"/>
        </a:lnSpc>
        <a:spcBef>
          <a:spcPct val="0"/>
        </a:spcBef>
        <a:spcAft>
          <a:spcPct val="0"/>
        </a:spcAft>
        <a:defRPr sz="2750">
          <a:solidFill>
            <a:schemeClr val="tx1"/>
          </a:solidFill>
          <a:latin typeface="Calibri Light" panose="020F0302020204030204" pitchFamily="34" charset="0"/>
        </a:defRPr>
      </a:lvl8pPr>
      <a:lvl9pPr marL="1523939" algn="l" defTabSz="571477" rtl="0" fontAlgn="base">
        <a:lnSpc>
          <a:spcPct val="90000"/>
        </a:lnSpc>
        <a:spcBef>
          <a:spcPct val="0"/>
        </a:spcBef>
        <a:spcAft>
          <a:spcPct val="0"/>
        </a:spcAft>
        <a:defRPr sz="2750">
          <a:solidFill>
            <a:schemeClr val="tx1"/>
          </a:solidFill>
          <a:latin typeface="Calibri Light" panose="020F0302020204030204" pitchFamily="34" charset="0"/>
        </a:defRPr>
      </a:lvl9pPr>
    </p:titleStyle>
    <p:bodyStyle>
      <a:lvl1pPr marL="142869" indent="-142869" algn="l" defTabSz="571477" rtl="0" eaLnBrk="0" fontAlgn="base" hangingPunct="0">
        <a:lnSpc>
          <a:spcPct val="90000"/>
        </a:lnSpc>
        <a:spcBef>
          <a:spcPts val="625"/>
        </a:spcBef>
        <a:spcAft>
          <a:spcPct val="0"/>
        </a:spcAft>
        <a:buFont typeface="Arial" panose="020B0604020202020204" pitchFamily="34" charset="0"/>
        <a:buChar char="•"/>
        <a:defRPr sz="1750" kern="1200">
          <a:solidFill>
            <a:schemeClr val="tx1"/>
          </a:solidFill>
          <a:latin typeface="+mn-lt"/>
          <a:ea typeface="+mn-ea"/>
          <a:cs typeface="+mn-cs"/>
        </a:defRPr>
      </a:lvl1pPr>
      <a:lvl2pPr marL="428608" indent="-142869" algn="l" defTabSz="571477" rtl="0" eaLnBrk="0" fontAlgn="base" hangingPunct="0">
        <a:lnSpc>
          <a:spcPct val="90000"/>
        </a:lnSpc>
        <a:spcBef>
          <a:spcPts val="312"/>
        </a:spcBef>
        <a:spcAft>
          <a:spcPct val="0"/>
        </a:spcAft>
        <a:buFont typeface="Arial" panose="020B0604020202020204" pitchFamily="34" charset="0"/>
        <a:buChar char="•"/>
        <a:defRPr kern="1200">
          <a:solidFill>
            <a:schemeClr val="tx1"/>
          </a:solidFill>
          <a:latin typeface="+mn-lt"/>
          <a:ea typeface="+mn-ea"/>
          <a:cs typeface="+mn-cs"/>
        </a:defRPr>
      </a:lvl2pPr>
      <a:lvl3pPr marL="714346" indent="-142869" algn="l" defTabSz="571477" rtl="0" eaLnBrk="0" fontAlgn="base" hangingPunct="0">
        <a:lnSpc>
          <a:spcPct val="90000"/>
        </a:lnSpc>
        <a:spcBef>
          <a:spcPts val="312"/>
        </a:spcBef>
        <a:spcAft>
          <a:spcPct val="0"/>
        </a:spcAft>
        <a:buFont typeface="Arial" panose="020B0604020202020204" pitchFamily="34" charset="0"/>
        <a:buChar char="•"/>
        <a:defRPr sz="1250" kern="1200">
          <a:solidFill>
            <a:schemeClr val="tx1"/>
          </a:solidFill>
          <a:latin typeface="+mn-lt"/>
          <a:ea typeface="+mn-ea"/>
          <a:cs typeface="+mn-cs"/>
        </a:defRPr>
      </a:lvl3pPr>
      <a:lvl4pPr marL="1000085" indent="-142869" algn="l" defTabSz="571477" rtl="0" eaLnBrk="0" fontAlgn="base" hangingPunct="0">
        <a:lnSpc>
          <a:spcPct val="90000"/>
        </a:lnSpc>
        <a:spcBef>
          <a:spcPts val="312"/>
        </a:spcBef>
        <a:spcAft>
          <a:spcPct val="0"/>
        </a:spcAft>
        <a:buFont typeface="Arial" panose="020B0604020202020204" pitchFamily="34" charset="0"/>
        <a:buChar char="•"/>
        <a:defRPr sz="1083" kern="1200">
          <a:solidFill>
            <a:schemeClr val="tx1"/>
          </a:solidFill>
          <a:latin typeface="+mn-lt"/>
          <a:ea typeface="+mn-ea"/>
          <a:cs typeface="+mn-cs"/>
        </a:defRPr>
      </a:lvl4pPr>
      <a:lvl5pPr marL="1285824" indent="-142869" algn="l" defTabSz="571477" rtl="0" eaLnBrk="0" fontAlgn="base" hangingPunct="0">
        <a:lnSpc>
          <a:spcPct val="90000"/>
        </a:lnSpc>
        <a:spcBef>
          <a:spcPts val="312"/>
        </a:spcBef>
        <a:spcAft>
          <a:spcPct val="0"/>
        </a:spcAft>
        <a:buFont typeface="Arial" panose="020B0604020202020204" pitchFamily="34" charset="0"/>
        <a:buChar char="•"/>
        <a:defRPr sz="1083" kern="1200">
          <a:solidFill>
            <a:schemeClr val="tx1"/>
          </a:solidFill>
          <a:latin typeface="+mn-lt"/>
          <a:ea typeface="+mn-ea"/>
          <a:cs typeface="+mn-cs"/>
        </a:defRPr>
      </a:lvl5pPr>
      <a:lvl6pPr marL="1571562" indent="-142869" algn="l" defTabSz="571477" rtl="0" eaLnBrk="1" latinLnBrk="0" hangingPunct="1">
        <a:lnSpc>
          <a:spcPct val="90000"/>
        </a:lnSpc>
        <a:spcBef>
          <a:spcPts val="312"/>
        </a:spcBef>
        <a:buFont typeface="Arial" panose="020B0604020202020204" pitchFamily="34" charset="0"/>
        <a:buChar char="•"/>
        <a:defRPr sz="1125" kern="1200">
          <a:solidFill>
            <a:schemeClr val="tx1"/>
          </a:solidFill>
          <a:latin typeface="+mn-lt"/>
          <a:ea typeface="+mn-ea"/>
          <a:cs typeface="+mn-cs"/>
        </a:defRPr>
      </a:lvl6pPr>
      <a:lvl7pPr marL="1857301" indent="-142869" algn="l" defTabSz="571477" rtl="0" eaLnBrk="1" latinLnBrk="0" hangingPunct="1">
        <a:lnSpc>
          <a:spcPct val="90000"/>
        </a:lnSpc>
        <a:spcBef>
          <a:spcPts val="312"/>
        </a:spcBef>
        <a:buFont typeface="Arial" panose="020B0604020202020204" pitchFamily="34" charset="0"/>
        <a:buChar char="•"/>
        <a:defRPr sz="1125" kern="1200">
          <a:solidFill>
            <a:schemeClr val="tx1"/>
          </a:solidFill>
          <a:latin typeface="+mn-lt"/>
          <a:ea typeface="+mn-ea"/>
          <a:cs typeface="+mn-cs"/>
        </a:defRPr>
      </a:lvl7pPr>
      <a:lvl8pPr marL="2143039" indent="-142869" algn="l" defTabSz="571477" rtl="0" eaLnBrk="1" latinLnBrk="0" hangingPunct="1">
        <a:lnSpc>
          <a:spcPct val="90000"/>
        </a:lnSpc>
        <a:spcBef>
          <a:spcPts val="312"/>
        </a:spcBef>
        <a:buFont typeface="Arial" panose="020B0604020202020204" pitchFamily="34" charset="0"/>
        <a:buChar char="•"/>
        <a:defRPr sz="1125" kern="1200">
          <a:solidFill>
            <a:schemeClr val="tx1"/>
          </a:solidFill>
          <a:latin typeface="+mn-lt"/>
          <a:ea typeface="+mn-ea"/>
          <a:cs typeface="+mn-cs"/>
        </a:defRPr>
      </a:lvl8pPr>
      <a:lvl9pPr marL="2428778" indent="-142869" algn="l" defTabSz="571477" rtl="0" eaLnBrk="1" latinLnBrk="0" hangingPunct="1">
        <a:lnSpc>
          <a:spcPct val="90000"/>
        </a:lnSpc>
        <a:spcBef>
          <a:spcPts val="312"/>
        </a:spcBef>
        <a:buFont typeface="Arial" panose="020B0604020202020204" pitchFamily="34" charset="0"/>
        <a:buChar char="•"/>
        <a:defRPr sz="1125" kern="1200">
          <a:solidFill>
            <a:schemeClr val="tx1"/>
          </a:solidFill>
          <a:latin typeface="+mn-lt"/>
          <a:ea typeface="+mn-ea"/>
          <a:cs typeface="+mn-cs"/>
        </a:defRPr>
      </a:lvl9pPr>
    </p:bodyStyle>
    <p:otherStyle>
      <a:defPPr>
        <a:defRPr lang="en-US"/>
      </a:defPPr>
      <a:lvl1pPr marL="0" algn="l" defTabSz="571477" rtl="0" eaLnBrk="1" latinLnBrk="0" hangingPunct="1">
        <a:defRPr sz="1125" kern="1200">
          <a:solidFill>
            <a:schemeClr val="tx1"/>
          </a:solidFill>
          <a:latin typeface="+mn-lt"/>
          <a:ea typeface="+mn-ea"/>
          <a:cs typeface="+mn-cs"/>
        </a:defRPr>
      </a:lvl1pPr>
      <a:lvl2pPr marL="285739" algn="l" defTabSz="571477" rtl="0" eaLnBrk="1" latinLnBrk="0" hangingPunct="1">
        <a:defRPr sz="1125" kern="1200">
          <a:solidFill>
            <a:schemeClr val="tx1"/>
          </a:solidFill>
          <a:latin typeface="+mn-lt"/>
          <a:ea typeface="+mn-ea"/>
          <a:cs typeface="+mn-cs"/>
        </a:defRPr>
      </a:lvl2pPr>
      <a:lvl3pPr marL="571477" algn="l" defTabSz="571477" rtl="0" eaLnBrk="1" latinLnBrk="0" hangingPunct="1">
        <a:defRPr sz="1125" kern="1200">
          <a:solidFill>
            <a:schemeClr val="tx1"/>
          </a:solidFill>
          <a:latin typeface="+mn-lt"/>
          <a:ea typeface="+mn-ea"/>
          <a:cs typeface="+mn-cs"/>
        </a:defRPr>
      </a:lvl3pPr>
      <a:lvl4pPr marL="857216" algn="l" defTabSz="571477" rtl="0" eaLnBrk="1" latinLnBrk="0" hangingPunct="1">
        <a:defRPr sz="1125" kern="1200">
          <a:solidFill>
            <a:schemeClr val="tx1"/>
          </a:solidFill>
          <a:latin typeface="+mn-lt"/>
          <a:ea typeface="+mn-ea"/>
          <a:cs typeface="+mn-cs"/>
        </a:defRPr>
      </a:lvl4pPr>
      <a:lvl5pPr marL="1142954" algn="l" defTabSz="571477" rtl="0" eaLnBrk="1" latinLnBrk="0" hangingPunct="1">
        <a:defRPr sz="1125" kern="1200">
          <a:solidFill>
            <a:schemeClr val="tx1"/>
          </a:solidFill>
          <a:latin typeface="+mn-lt"/>
          <a:ea typeface="+mn-ea"/>
          <a:cs typeface="+mn-cs"/>
        </a:defRPr>
      </a:lvl5pPr>
      <a:lvl6pPr marL="1428693" algn="l" defTabSz="571477" rtl="0" eaLnBrk="1" latinLnBrk="0" hangingPunct="1">
        <a:defRPr sz="1125" kern="1200">
          <a:solidFill>
            <a:schemeClr val="tx1"/>
          </a:solidFill>
          <a:latin typeface="+mn-lt"/>
          <a:ea typeface="+mn-ea"/>
          <a:cs typeface="+mn-cs"/>
        </a:defRPr>
      </a:lvl6pPr>
      <a:lvl7pPr marL="1714431" algn="l" defTabSz="571477" rtl="0" eaLnBrk="1" latinLnBrk="0" hangingPunct="1">
        <a:defRPr sz="1125" kern="1200">
          <a:solidFill>
            <a:schemeClr val="tx1"/>
          </a:solidFill>
          <a:latin typeface="+mn-lt"/>
          <a:ea typeface="+mn-ea"/>
          <a:cs typeface="+mn-cs"/>
        </a:defRPr>
      </a:lvl7pPr>
      <a:lvl8pPr marL="2000170" algn="l" defTabSz="571477" rtl="0" eaLnBrk="1" latinLnBrk="0" hangingPunct="1">
        <a:defRPr sz="1125" kern="1200">
          <a:solidFill>
            <a:schemeClr val="tx1"/>
          </a:solidFill>
          <a:latin typeface="+mn-lt"/>
          <a:ea typeface="+mn-ea"/>
          <a:cs typeface="+mn-cs"/>
        </a:defRPr>
      </a:lvl8pPr>
      <a:lvl9pPr marL="2285909" algn="l" defTabSz="571477" rtl="0" eaLnBrk="1" latinLnBrk="0" hangingPunct="1">
        <a:defRPr sz="112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628650" y="5296960"/>
            <a:ext cx="2057400" cy="304271"/>
          </a:xfrm>
          <a:prstGeom prst="rect">
            <a:avLst/>
          </a:prstGeom>
        </p:spPr>
        <p:txBody>
          <a:bodyPr vert="horz" lIns="91440" tIns="45720" rIns="91440" bIns="45720" rtlCol="0" anchor="ctr"/>
          <a:lstStyle>
            <a:lvl1pPr algn="l">
              <a:defRPr sz="810">
                <a:solidFill>
                  <a:schemeClr val="tx1">
                    <a:tint val="75000"/>
                  </a:schemeClr>
                </a:solidFill>
              </a:defRPr>
            </a:lvl1pPr>
          </a:lstStyle>
          <a:p>
            <a:fld id="{2BECFEC1-1344-AD44-8D2E-702E20925CC3}" type="datetimeFigureOut">
              <a:rPr lang="en-US" smtClean="0"/>
              <a:t>4/21/2026</a:t>
            </a:fld>
            <a:endParaRPr lang="en-US" dirty="0"/>
          </a:p>
        </p:txBody>
      </p:sp>
      <p:sp>
        <p:nvSpPr>
          <p:cNvPr id="5" name="Footer Placeholder 4"/>
          <p:cNvSpPr>
            <a:spLocks noGrp="1"/>
          </p:cNvSpPr>
          <p:nvPr>
            <p:ph type="ftr" sz="quarter" idx="3"/>
          </p:nvPr>
        </p:nvSpPr>
        <p:spPr>
          <a:xfrm>
            <a:off x="3028950" y="5296960"/>
            <a:ext cx="3086100" cy="304271"/>
          </a:xfrm>
          <a:prstGeom prst="rect">
            <a:avLst/>
          </a:prstGeom>
        </p:spPr>
        <p:txBody>
          <a:bodyPr vert="horz" lIns="91440" tIns="45720" rIns="91440" bIns="45720" rtlCol="0" anchor="ctr"/>
          <a:lstStyle>
            <a:lvl1pPr algn="ctr">
              <a:defRPr sz="81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5296960"/>
            <a:ext cx="2057400" cy="304271"/>
          </a:xfrm>
          <a:prstGeom prst="rect">
            <a:avLst/>
          </a:prstGeom>
        </p:spPr>
        <p:txBody>
          <a:bodyPr vert="horz" lIns="91440" tIns="45720" rIns="91440" bIns="45720" rtlCol="0" anchor="ctr"/>
          <a:lstStyle>
            <a:lvl1pPr algn="r">
              <a:defRPr sz="810">
                <a:solidFill>
                  <a:schemeClr val="tx1">
                    <a:tint val="75000"/>
                  </a:schemeClr>
                </a:solidFill>
              </a:defRPr>
            </a:lvl1pPr>
          </a:lstStyle>
          <a:p>
            <a:fld id="{FEC44133-C343-9242-9975-8039D7B91997}" type="slidenum">
              <a:rPr lang="en-US" smtClean="0"/>
              <a:t>‹#›</a:t>
            </a:fld>
            <a:endParaRPr lang="en-US" dirty="0"/>
          </a:p>
        </p:txBody>
      </p:sp>
      <p:pic>
        <p:nvPicPr>
          <p:cNvPr id="7" name="Picture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 y="0"/>
            <a:ext cx="9140219" cy="411238"/>
          </a:xfrm>
          <a:prstGeom prst="rect">
            <a:avLst/>
          </a:prstGeom>
        </p:spPr>
      </p:pic>
      <p:cxnSp>
        <p:nvCxnSpPr>
          <p:cNvPr id="9" name="Straight Connector 8"/>
          <p:cNvCxnSpPr/>
          <p:nvPr userDrawn="1"/>
        </p:nvCxnSpPr>
        <p:spPr>
          <a:xfrm>
            <a:off x="89944" y="5021706"/>
            <a:ext cx="8881673"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userDrawn="1"/>
        </p:nvSpPr>
        <p:spPr>
          <a:xfrm>
            <a:off x="7481969" y="5216048"/>
            <a:ext cx="1720121" cy="286873"/>
          </a:xfrm>
          <a:prstGeom prst="rect">
            <a:avLst/>
          </a:prstGeom>
          <a:noFill/>
        </p:spPr>
        <p:txBody>
          <a:bodyPr wrap="square" rtlCol="0">
            <a:spAutoFit/>
          </a:bodyPr>
          <a:lstStyle/>
          <a:p>
            <a:r>
              <a:rPr lang="en-US" sz="1264" b="1" dirty="0">
                <a:solidFill>
                  <a:schemeClr val="accent5">
                    <a:lumMod val="50000"/>
                  </a:schemeClr>
                </a:solidFill>
              </a:rPr>
              <a:t>www.weston.ac.uk</a:t>
            </a:r>
          </a:p>
        </p:txBody>
      </p:sp>
      <p:pic>
        <p:nvPicPr>
          <p:cNvPr id="18" name="Picture 17"/>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234223" y="-204816"/>
            <a:ext cx="935215" cy="1232108"/>
          </a:xfrm>
          <a:prstGeom prst="rect">
            <a:avLst/>
          </a:prstGeom>
        </p:spPr>
      </p:pic>
      <p:pic>
        <p:nvPicPr>
          <p:cNvPr id="19" name="Picture 18"/>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230472" y="5171198"/>
            <a:ext cx="507584" cy="421503"/>
          </a:xfrm>
          <a:prstGeom prst="rect">
            <a:avLst/>
          </a:prstGeom>
        </p:spPr>
      </p:pic>
      <p:pic>
        <p:nvPicPr>
          <p:cNvPr id="20" name="Picture 19"/>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930742" y="5171198"/>
            <a:ext cx="491088" cy="424006"/>
          </a:xfrm>
          <a:prstGeom prst="rect">
            <a:avLst/>
          </a:prstGeom>
        </p:spPr>
      </p:pic>
      <p:pic>
        <p:nvPicPr>
          <p:cNvPr id="21" name="Picture 20"/>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1664204" y="5171198"/>
            <a:ext cx="432279" cy="430033"/>
          </a:xfrm>
          <a:prstGeom prst="rect">
            <a:avLst/>
          </a:prstGeom>
        </p:spPr>
      </p:pic>
      <p:pic>
        <p:nvPicPr>
          <p:cNvPr id="22" name="Picture 21"/>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4008034" y="5243446"/>
            <a:ext cx="1202180" cy="267151"/>
          </a:xfrm>
          <a:prstGeom prst="rect">
            <a:avLst/>
          </a:prstGeom>
        </p:spPr>
      </p:pic>
      <p:pic>
        <p:nvPicPr>
          <p:cNvPr id="24" name="Picture 23"/>
          <p:cNvPicPr>
            <a:picLocks noChangeAspect="1"/>
          </p:cNvPicPr>
          <p:nvPr userDrawn="1"/>
        </p:nvPicPr>
        <p:blipFill>
          <a:blip r:embed="rId22">
            <a:extLst>
              <a:ext uri="{28A0092B-C50C-407E-A947-70E740481C1C}">
                <a14:useLocalDpi xmlns:a14="http://schemas.microsoft.com/office/drawing/2010/main" val="0"/>
              </a:ext>
            </a:extLst>
          </a:blip>
          <a:stretch>
            <a:fillRect/>
          </a:stretch>
        </p:blipFill>
        <p:spPr>
          <a:xfrm>
            <a:off x="2394448" y="5237836"/>
            <a:ext cx="1315621" cy="264841"/>
          </a:xfrm>
          <a:prstGeom prst="rect">
            <a:avLst/>
          </a:prstGeom>
        </p:spPr>
      </p:pic>
      <p:pic>
        <p:nvPicPr>
          <p:cNvPr id="25" name="Picture 24"/>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5447658" y="5243446"/>
            <a:ext cx="1202180" cy="267151"/>
          </a:xfrm>
          <a:prstGeom prst="rect">
            <a:avLst/>
          </a:prstGeom>
        </p:spPr>
      </p:pic>
      <p:sp>
        <p:nvSpPr>
          <p:cNvPr id="26" name="TextBox 25"/>
          <p:cNvSpPr txBox="1"/>
          <p:nvPr userDrawn="1"/>
        </p:nvSpPr>
        <p:spPr>
          <a:xfrm>
            <a:off x="6392049" y="5247144"/>
            <a:ext cx="990600" cy="230832"/>
          </a:xfrm>
          <a:prstGeom prst="rect">
            <a:avLst/>
          </a:prstGeom>
          <a:solidFill>
            <a:schemeClr val="bg1"/>
          </a:solidFill>
        </p:spPr>
        <p:txBody>
          <a:bodyPr wrap="square" rtlCol="0">
            <a:spAutoFit/>
          </a:bodyPr>
          <a:lstStyle/>
          <a:p>
            <a:r>
              <a:rPr lang="en-US" sz="900" dirty="0">
                <a:latin typeface="+mj-lt"/>
              </a:rPr>
              <a:t>Champion</a:t>
            </a:r>
          </a:p>
        </p:txBody>
      </p:sp>
    </p:spTree>
    <p:extLst>
      <p:ext uri="{BB962C8B-B14F-4D97-AF65-F5344CB8AC3E}">
        <p14:creationId xmlns:p14="http://schemas.microsoft.com/office/powerpoint/2010/main" val="1379003091"/>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 id="2147483862" r:id="rId12"/>
    <p:sldLayoutId id="2147483863" r:id="rId13"/>
    <p:sldLayoutId id="2147483864" r:id="rId14"/>
  </p:sldLayoutIdLst>
  <p:txStyles>
    <p:titleStyle>
      <a:lvl1pPr algn="l" defTabSz="617220" rtl="0" eaLnBrk="1" latinLnBrk="0" hangingPunct="1">
        <a:lnSpc>
          <a:spcPct val="90000"/>
        </a:lnSpc>
        <a:spcBef>
          <a:spcPct val="0"/>
        </a:spcBef>
        <a:buNone/>
        <a:defRPr sz="2970" kern="1200">
          <a:solidFill>
            <a:schemeClr val="tx1"/>
          </a:solidFill>
          <a:latin typeface="+mj-lt"/>
          <a:ea typeface="+mj-ea"/>
          <a:cs typeface="+mj-cs"/>
        </a:defRPr>
      </a:lvl1pPr>
    </p:titleStyle>
    <p:bodyStyle>
      <a:lvl1pPr marL="154305" indent="-154305" algn="l" defTabSz="617220" rtl="0" eaLnBrk="1" latinLnBrk="0" hangingPunct="1">
        <a:lnSpc>
          <a:spcPct val="90000"/>
        </a:lnSpc>
        <a:spcBef>
          <a:spcPts val="675"/>
        </a:spcBef>
        <a:buFont typeface="Arial" panose="020B0604020202020204" pitchFamily="34" charset="0"/>
        <a:buChar char="•"/>
        <a:defRPr sz="1890" kern="1200">
          <a:solidFill>
            <a:schemeClr val="tx1"/>
          </a:solidFill>
          <a:latin typeface="+mn-lt"/>
          <a:ea typeface="+mn-ea"/>
          <a:cs typeface="+mn-cs"/>
        </a:defRPr>
      </a:lvl1pPr>
      <a:lvl2pPr marL="462915" indent="-154305" algn="l" defTabSz="617220" rtl="0" eaLnBrk="1" latinLnBrk="0" hangingPunct="1">
        <a:lnSpc>
          <a:spcPct val="90000"/>
        </a:lnSpc>
        <a:spcBef>
          <a:spcPts val="338"/>
        </a:spcBef>
        <a:buFont typeface="Arial" panose="020B0604020202020204" pitchFamily="34" charset="0"/>
        <a:buChar char="•"/>
        <a:defRPr sz="1620" kern="1200">
          <a:solidFill>
            <a:schemeClr val="tx1"/>
          </a:solidFill>
          <a:latin typeface="+mn-lt"/>
          <a:ea typeface="+mn-ea"/>
          <a:cs typeface="+mn-cs"/>
        </a:defRPr>
      </a:lvl2pPr>
      <a:lvl3pPr marL="771525" indent="-154305" algn="l" defTabSz="617220" rtl="0" eaLnBrk="1" latinLnBrk="0" hangingPunct="1">
        <a:lnSpc>
          <a:spcPct val="90000"/>
        </a:lnSpc>
        <a:spcBef>
          <a:spcPts val="338"/>
        </a:spcBef>
        <a:buFont typeface="Arial" panose="020B0604020202020204" pitchFamily="34" charset="0"/>
        <a:buChar char="•"/>
        <a:defRPr sz="1350" kern="1200">
          <a:solidFill>
            <a:schemeClr val="tx1"/>
          </a:solidFill>
          <a:latin typeface="+mn-lt"/>
          <a:ea typeface="+mn-ea"/>
          <a:cs typeface="+mn-cs"/>
        </a:defRPr>
      </a:lvl3pPr>
      <a:lvl4pPr marL="1080135" indent="-154305" algn="l" defTabSz="617220" rtl="0" eaLnBrk="1" latinLnBrk="0" hangingPunct="1">
        <a:lnSpc>
          <a:spcPct val="90000"/>
        </a:lnSpc>
        <a:spcBef>
          <a:spcPts val="338"/>
        </a:spcBef>
        <a:buFont typeface="Arial" panose="020B0604020202020204" pitchFamily="34" charset="0"/>
        <a:buChar char="•"/>
        <a:defRPr sz="1215" kern="1200">
          <a:solidFill>
            <a:schemeClr val="tx1"/>
          </a:solidFill>
          <a:latin typeface="+mn-lt"/>
          <a:ea typeface="+mn-ea"/>
          <a:cs typeface="+mn-cs"/>
        </a:defRPr>
      </a:lvl4pPr>
      <a:lvl5pPr marL="1388745" indent="-154305" algn="l" defTabSz="617220" rtl="0" eaLnBrk="1" latinLnBrk="0" hangingPunct="1">
        <a:lnSpc>
          <a:spcPct val="90000"/>
        </a:lnSpc>
        <a:spcBef>
          <a:spcPts val="338"/>
        </a:spcBef>
        <a:buFont typeface="Arial" panose="020B0604020202020204" pitchFamily="34" charset="0"/>
        <a:buChar char="•"/>
        <a:defRPr sz="1215" kern="1200">
          <a:solidFill>
            <a:schemeClr val="tx1"/>
          </a:solidFill>
          <a:latin typeface="+mn-lt"/>
          <a:ea typeface="+mn-ea"/>
          <a:cs typeface="+mn-cs"/>
        </a:defRPr>
      </a:lvl5pPr>
      <a:lvl6pPr marL="1697355" indent="-154305" algn="l" defTabSz="617220" rtl="0" eaLnBrk="1" latinLnBrk="0" hangingPunct="1">
        <a:lnSpc>
          <a:spcPct val="90000"/>
        </a:lnSpc>
        <a:spcBef>
          <a:spcPts val="338"/>
        </a:spcBef>
        <a:buFont typeface="Arial" panose="020B0604020202020204" pitchFamily="34" charset="0"/>
        <a:buChar char="•"/>
        <a:defRPr sz="1215" kern="1200">
          <a:solidFill>
            <a:schemeClr val="tx1"/>
          </a:solidFill>
          <a:latin typeface="+mn-lt"/>
          <a:ea typeface="+mn-ea"/>
          <a:cs typeface="+mn-cs"/>
        </a:defRPr>
      </a:lvl6pPr>
      <a:lvl7pPr marL="2005965" indent="-154305" algn="l" defTabSz="617220" rtl="0" eaLnBrk="1" latinLnBrk="0" hangingPunct="1">
        <a:lnSpc>
          <a:spcPct val="90000"/>
        </a:lnSpc>
        <a:spcBef>
          <a:spcPts val="338"/>
        </a:spcBef>
        <a:buFont typeface="Arial" panose="020B0604020202020204" pitchFamily="34" charset="0"/>
        <a:buChar char="•"/>
        <a:defRPr sz="1215" kern="1200">
          <a:solidFill>
            <a:schemeClr val="tx1"/>
          </a:solidFill>
          <a:latin typeface="+mn-lt"/>
          <a:ea typeface="+mn-ea"/>
          <a:cs typeface="+mn-cs"/>
        </a:defRPr>
      </a:lvl7pPr>
      <a:lvl8pPr marL="2314575" indent="-154305" algn="l" defTabSz="617220" rtl="0" eaLnBrk="1" latinLnBrk="0" hangingPunct="1">
        <a:lnSpc>
          <a:spcPct val="90000"/>
        </a:lnSpc>
        <a:spcBef>
          <a:spcPts val="338"/>
        </a:spcBef>
        <a:buFont typeface="Arial" panose="020B0604020202020204" pitchFamily="34" charset="0"/>
        <a:buChar char="•"/>
        <a:defRPr sz="1215" kern="1200">
          <a:solidFill>
            <a:schemeClr val="tx1"/>
          </a:solidFill>
          <a:latin typeface="+mn-lt"/>
          <a:ea typeface="+mn-ea"/>
          <a:cs typeface="+mn-cs"/>
        </a:defRPr>
      </a:lvl8pPr>
      <a:lvl9pPr marL="2623185" indent="-154305" algn="l" defTabSz="617220" rtl="0" eaLnBrk="1" latinLnBrk="0" hangingPunct="1">
        <a:lnSpc>
          <a:spcPct val="90000"/>
        </a:lnSpc>
        <a:spcBef>
          <a:spcPts val="338"/>
        </a:spcBef>
        <a:buFont typeface="Arial" panose="020B0604020202020204" pitchFamily="34" charset="0"/>
        <a:buChar char="•"/>
        <a:defRPr sz="1215" kern="1200">
          <a:solidFill>
            <a:schemeClr val="tx1"/>
          </a:solidFill>
          <a:latin typeface="+mn-lt"/>
          <a:ea typeface="+mn-ea"/>
          <a:cs typeface="+mn-cs"/>
        </a:defRPr>
      </a:lvl9pPr>
    </p:bodyStyle>
    <p:otherStyle>
      <a:defPPr>
        <a:defRPr lang="en-US"/>
      </a:defPPr>
      <a:lvl1pPr marL="0" algn="l" defTabSz="617220" rtl="0" eaLnBrk="1" latinLnBrk="0" hangingPunct="1">
        <a:defRPr sz="1215" kern="1200">
          <a:solidFill>
            <a:schemeClr val="tx1"/>
          </a:solidFill>
          <a:latin typeface="+mn-lt"/>
          <a:ea typeface="+mn-ea"/>
          <a:cs typeface="+mn-cs"/>
        </a:defRPr>
      </a:lvl1pPr>
      <a:lvl2pPr marL="308610" algn="l" defTabSz="617220" rtl="0" eaLnBrk="1" latinLnBrk="0" hangingPunct="1">
        <a:defRPr sz="1215" kern="1200">
          <a:solidFill>
            <a:schemeClr val="tx1"/>
          </a:solidFill>
          <a:latin typeface="+mn-lt"/>
          <a:ea typeface="+mn-ea"/>
          <a:cs typeface="+mn-cs"/>
        </a:defRPr>
      </a:lvl2pPr>
      <a:lvl3pPr marL="617220" algn="l" defTabSz="617220" rtl="0" eaLnBrk="1" latinLnBrk="0" hangingPunct="1">
        <a:defRPr sz="1215" kern="1200">
          <a:solidFill>
            <a:schemeClr val="tx1"/>
          </a:solidFill>
          <a:latin typeface="+mn-lt"/>
          <a:ea typeface="+mn-ea"/>
          <a:cs typeface="+mn-cs"/>
        </a:defRPr>
      </a:lvl3pPr>
      <a:lvl4pPr marL="925830" algn="l" defTabSz="617220" rtl="0" eaLnBrk="1" latinLnBrk="0" hangingPunct="1">
        <a:defRPr sz="1215" kern="1200">
          <a:solidFill>
            <a:schemeClr val="tx1"/>
          </a:solidFill>
          <a:latin typeface="+mn-lt"/>
          <a:ea typeface="+mn-ea"/>
          <a:cs typeface="+mn-cs"/>
        </a:defRPr>
      </a:lvl4pPr>
      <a:lvl5pPr marL="1234440" algn="l" defTabSz="617220" rtl="0" eaLnBrk="1" latinLnBrk="0" hangingPunct="1">
        <a:defRPr sz="1215" kern="1200">
          <a:solidFill>
            <a:schemeClr val="tx1"/>
          </a:solidFill>
          <a:latin typeface="+mn-lt"/>
          <a:ea typeface="+mn-ea"/>
          <a:cs typeface="+mn-cs"/>
        </a:defRPr>
      </a:lvl5pPr>
      <a:lvl6pPr marL="1543050" algn="l" defTabSz="617220" rtl="0" eaLnBrk="1" latinLnBrk="0" hangingPunct="1">
        <a:defRPr sz="1215" kern="1200">
          <a:solidFill>
            <a:schemeClr val="tx1"/>
          </a:solidFill>
          <a:latin typeface="+mn-lt"/>
          <a:ea typeface="+mn-ea"/>
          <a:cs typeface="+mn-cs"/>
        </a:defRPr>
      </a:lvl6pPr>
      <a:lvl7pPr marL="1851660" algn="l" defTabSz="617220" rtl="0" eaLnBrk="1" latinLnBrk="0" hangingPunct="1">
        <a:defRPr sz="1215" kern="1200">
          <a:solidFill>
            <a:schemeClr val="tx1"/>
          </a:solidFill>
          <a:latin typeface="+mn-lt"/>
          <a:ea typeface="+mn-ea"/>
          <a:cs typeface="+mn-cs"/>
        </a:defRPr>
      </a:lvl7pPr>
      <a:lvl8pPr marL="2160270" algn="l" defTabSz="617220" rtl="0" eaLnBrk="1" latinLnBrk="0" hangingPunct="1">
        <a:defRPr sz="1215" kern="1200">
          <a:solidFill>
            <a:schemeClr val="tx1"/>
          </a:solidFill>
          <a:latin typeface="+mn-lt"/>
          <a:ea typeface="+mn-ea"/>
          <a:cs typeface="+mn-cs"/>
        </a:defRPr>
      </a:lvl8pPr>
      <a:lvl9pPr marL="2468880" algn="l" defTabSz="61722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9.emf"/></Relationships>
</file>

<file path=ppt/slides/_rels/slide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30.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8" Type="http://schemas.openxmlformats.org/officeDocument/2006/relationships/image" Target="../media/image19.jpeg"/><Relationship Id="rId13" Type="http://schemas.openxmlformats.org/officeDocument/2006/relationships/image" Target="../media/image22.jpeg"/><Relationship Id="rId3" Type="http://schemas.openxmlformats.org/officeDocument/2006/relationships/hyperlink" Target="http://www.cnq.ca/Storage.asp?StorageID=88814&amp;SiteLanguageID=1" TargetMode="External"/><Relationship Id="rId7" Type="http://schemas.openxmlformats.org/officeDocument/2006/relationships/hyperlink" Target="http://images.google.co.uk/imgres?imgurl=http://141.163.7.212/files/courses/images/2100/wind2.jpg&amp;imgrefurl=http://www.plymouth.ac.uk/courses/postgraduate/taught/1905/MSc/PgDip%2BSustainable%2BEnvironmental%2BManagement&amp;h=378&amp;w=600&amp;sz=42&amp;hl=en&amp;start=7&amp;tbnid=_ZFFYT_16W1vaM:&amp;tbnh=85&amp;tbnw=135&amp;prev=" TargetMode="External"/><Relationship Id="rId12" Type="http://schemas.openxmlformats.org/officeDocument/2006/relationships/image" Target="../media/image21.jpeg"/><Relationship Id="rId2" Type="http://schemas.openxmlformats.org/officeDocument/2006/relationships/notesSlide" Target="../notesSlides/notesSlide8.xml"/><Relationship Id="rId1" Type="http://schemas.openxmlformats.org/officeDocument/2006/relationships/slideLayout" Target="../slideLayouts/slideLayout30.xml"/><Relationship Id="rId6" Type="http://schemas.openxmlformats.org/officeDocument/2006/relationships/image" Target="../media/image18.jpeg"/><Relationship Id="rId11" Type="http://schemas.openxmlformats.org/officeDocument/2006/relationships/hyperlink" Target="http://images.google.co.uk/imgres?imgurl=http://longevity2.stanford.edu/images/picPeople.png&amp;imgrefurl=http://longevity2.stanford.edu/Mobility.html&amp;h=233&amp;w=250&amp;sz=306&amp;hl=en&amp;start=6&amp;tbnid=6j3lmeNa3dgwJM:&amp;tbnh=103&amp;tbnw=111&amp;prev=" TargetMode="External"/><Relationship Id="rId5" Type="http://schemas.openxmlformats.org/officeDocument/2006/relationships/hyperlink" Target="http://libpweb.nus.edu.sg/llb/g/gavel.jpg" TargetMode="External"/><Relationship Id="rId10" Type="http://schemas.openxmlformats.org/officeDocument/2006/relationships/image" Target="../media/image20.jpeg"/><Relationship Id="rId4" Type="http://schemas.openxmlformats.org/officeDocument/2006/relationships/image" Target="../media/image17.jpeg"/><Relationship Id="rId9" Type="http://schemas.openxmlformats.org/officeDocument/2006/relationships/hyperlink" Target="http://images.google.co.uk/imgres?imgurl=http://www.bradford.gov.uk/NR/rdonlyres/1B71DFE0-876C-4200-8CF7-262BE05902AC/0/Social.jpg&amp;imgrefurl=http://www.bradford.gov.uk/housing/social_housing/&amp;h=300&amp;w=300&amp;sz=14&amp;hl=en&amp;start=6&amp;tbnid=XYmxsvEuonW-YM:&amp;tbnh=116&amp;tbnw=116&amp;prev="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19.jpeg"/><Relationship Id="rId13" Type="http://schemas.openxmlformats.org/officeDocument/2006/relationships/image" Target="../media/image22.jpeg"/><Relationship Id="rId3" Type="http://schemas.openxmlformats.org/officeDocument/2006/relationships/hyperlink" Target="http://libpweb.nus.edu.sg/llb/g/gavel.jpg" TargetMode="External"/><Relationship Id="rId7" Type="http://schemas.openxmlformats.org/officeDocument/2006/relationships/hyperlink" Target="http://images.google.co.uk/imgres?imgurl=http://141.163.7.212/files/courses/images/2100/wind2.jpg&amp;imgrefurl=http://www.plymouth.ac.uk/courses/postgraduate/taught/1905/MSc/PgDip%2BSustainable%2BEnvironmental%2BManagement&amp;h=378&amp;w=600&amp;sz=42&amp;hl=en&amp;start=7&amp;tbnid=_ZFFYT_16W1vaM:&amp;tbnh=85&amp;tbnw=135&amp;prev=" TargetMode="External"/><Relationship Id="rId12" Type="http://schemas.openxmlformats.org/officeDocument/2006/relationships/image" Target="../media/image21.jpeg"/><Relationship Id="rId2" Type="http://schemas.openxmlformats.org/officeDocument/2006/relationships/notesSlide" Target="../notesSlides/notesSlide9.xml"/><Relationship Id="rId1" Type="http://schemas.openxmlformats.org/officeDocument/2006/relationships/slideLayout" Target="../slideLayouts/slideLayout30.xml"/><Relationship Id="rId6" Type="http://schemas.openxmlformats.org/officeDocument/2006/relationships/image" Target="../media/image17.jpeg"/><Relationship Id="rId11" Type="http://schemas.openxmlformats.org/officeDocument/2006/relationships/hyperlink" Target="http://images.google.co.uk/imgres?imgurl=http://longevity2.stanford.edu/images/picPeople.png&amp;imgrefurl=http://longevity2.stanford.edu/Mobility.html&amp;h=233&amp;w=250&amp;sz=306&amp;hl=en&amp;start=6&amp;tbnid=6j3lmeNa3dgwJM:&amp;tbnh=103&amp;tbnw=111&amp;prev=" TargetMode="External"/><Relationship Id="rId5" Type="http://schemas.openxmlformats.org/officeDocument/2006/relationships/hyperlink" Target="http://www.cnq.ca/Storage.asp?StorageID=88814&amp;SiteLanguageID=1" TargetMode="External"/><Relationship Id="rId10" Type="http://schemas.openxmlformats.org/officeDocument/2006/relationships/image" Target="../media/image20.jpeg"/><Relationship Id="rId4" Type="http://schemas.openxmlformats.org/officeDocument/2006/relationships/image" Target="../media/image18.jpeg"/><Relationship Id="rId9" Type="http://schemas.openxmlformats.org/officeDocument/2006/relationships/hyperlink" Target="http://images.google.co.uk/imgres?imgurl=http://www.bradford.gov.uk/NR/rdonlyres/1B71DFE0-876C-4200-8CF7-262BE05902AC/0/Social.jpg&amp;imgrefurl=http://www.bradford.gov.uk/housing/social_housing/&amp;h=300&amp;w=300&amp;sz=14&amp;hl=en&amp;start=6&amp;tbnid=XYmxsvEuonW-YM:&amp;tbnh=116&amp;tbnw=116&amp;prev="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44.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5.xml"/><Relationship Id="rId1" Type="http://schemas.openxmlformats.org/officeDocument/2006/relationships/video" Target="https://www.youtube.com/embed/b82SXJqBaFI?feature=oembed" TargetMode="External"/><Relationship Id="rId4" Type="http://schemas.openxmlformats.org/officeDocument/2006/relationships/image" Target="../media/image28.jpeg"/></Relationships>
</file>

<file path=ppt/slides/_rels/slide17.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9.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5.xml"/><Relationship Id="rId1" Type="http://schemas.openxmlformats.org/officeDocument/2006/relationships/video" Target="https://www.youtube.com/embed/dG_K-PFsj3o?feature=oembed" TargetMode="External"/><Relationship Id="rId4" Type="http://schemas.openxmlformats.org/officeDocument/2006/relationships/image" Target="../media/image46.jpeg"/></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5.xml"/><Relationship Id="rId1" Type="http://schemas.openxmlformats.org/officeDocument/2006/relationships/slideLayout" Target="../slideLayouts/slideLayout44.xml"/></Relationships>
</file>

<file path=ppt/slides/_rels/slide3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6.xml"/><Relationship Id="rId1" Type="http://schemas.openxmlformats.org/officeDocument/2006/relationships/slideLayout" Target="../slideLayouts/slideLayout4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0.xml"/></Relationships>
</file>

<file path=ppt/slides/_rels/slide37.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28.xml"/><Relationship Id="rId1" Type="http://schemas.openxmlformats.org/officeDocument/2006/relationships/slideLayout" Target="../slideLayouts/slideLayout30.xml"/><Relationship Id="rId5" Type="http://schemas.openxmlformats.org/officeDocument/2006/relationships/image" Target="../media/image52.wmf"/><Relationship Id="rId4" Type="http://schemas.openxmlformats.org/officeDocument/2006/relationships/image" Target="../media/image5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0.xml"/></Relationships>
</file>

<file path=ppt/slides/_rels/slide4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1.xml"/><Relationship Id="rId1" Type="http://schemas.openxmlformats.org/officeDocument/2006/relationships/slideLayout" Target="../slideLayouts/slideLayout30.xml"/></Relationships>
</file>

<file path=ppt/slides/_rels/slide4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2.xml"/><Relationship Id="rId1" Type="http://schemas.openxmlformats.org/officeDocument/2006/relationships/slideLayout" Target="../slideLayouts/slideLayout30.xml"/></Relationships>
</file>

<file path=ppt/slides/_rels/slide43.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notesSlide" Target="../notesSlides/notesSlide33.xml"/><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34.xml"/><Relationship Id="rId1" Type="http://schemas.openxmlformats.org/officeDocument/2006/relationships/slideLayout" Target="../slideLayouts/slideLayout29.xml"/></Relationships>
</file>

<file path=ppt/slides/_rels/slide45.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35.xml"/><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6.xml"/><Relationship Id="rId1" Type="http://schemas.openxmlformats.org/officeDocument/2006/relationships/slideLayout" Target="../slideLayouts/slideLayout25.xml"/></Relationships>
</file>

<file path=ppt/slides/_rels/slide4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7.xml"/><Relationship Id="rId1" Type="http://schemas.openxmlformats.org/officeDocument/2006/relationships/slideLayout" Target="../slideLayouts/slideLayout25.xml"/></Relationships>
</file>

<file path=ppt/slides/_rels/slide4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8.xml"/><Relationship Id="rId1" Type="http://schemas.openxmlformats.org/officeDocument/2006/relationships/slideLayout" Target="../slideLayouts/slideLayout2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9.xml"/></Relationships>
</file>

<file path=ppt/slides/_rels/slide5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1.xml"/><Relationship Id="rId1" Type="http://schemas.openxmlformats.org/officeDocument/2006/relationships/slideLayout" Target="../slideLayouts/slideLayout30.xml"/><Relationship Id="rId4" Type="http://schemas.openxmlformats.org/officeDocument/2006/relationships/image" Target="../media/image12.png"/></Relationships>
</file>

<file path=ppt/slides/_rels/slide5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2.xml"/><Relationship Id="rId1" Type="http://schemas.openxmlformats.org/officeDocument/2006/relationships/slideLayout" Target="../slideLayouts/slideLayout30.xml"/><Relationship Id="rId4" Type="http://schemas.openxmlformats.org/officeDocument/2006/relationships/image" Target="../media/image12.png"/></Relationships>
</file>

<file path=ppt/slides/_rels/slide53.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notesSlide" Target="../notesSlides/notesSlide43.xml"/><Relationship Id="rId1" Type="http://schemas.openxmlformats.org/officeDocument/2006/relationships/slideLayout" Target="../slideLayouts/slideLayout25.xml"/></Relationships>
</file>

<file path=ppt/slides/_rels/slide5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44.xml"/><Relationship Id="rId1" Type="http://schemas.openxmlformats.org/officeDocument/2006/relationships/slideLayout" Target="../slideLayouts/slideLayout25.xml"/></Relationships>
</file>

<file path=ppt/slides/_rels/slide5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5.xml"/><Relationship Id="rId1" Type="http://schemas.openxmlformats.org/officeDocument/2006/relationships/slideLayout" Target="../slideLayouts/slideLayout25.xml"/></Relationships>
</file>

<file path=ppt/slides/_rels/slide5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6.xml"/><Relationship Id="rId1" Type="http://schemas.openxmlformats.org/officeDocument/2006/relationships/slideLayout" Target="../slideLayouts/slideLayout25.xml"/></Relationships>
</file>

<file path=ppt/slides/_rels/slide57.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47.xml"/><Relationship Id="rId1" Type="http://schemas.openxmlformats.org/officeDocument/2006/relationships/slideLayout" Target="../slideLayouts/slideLayout25.xml"/><Relationship Id="rId4" Type="http://schemas.openxmlformats.org/officeDocument/2006/relationships/image" Target="../media/image61.png"/></Relationships>
</file>

<file path=ppt/slides/_rels/slide58.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0.jpeg"/><Relationship Id="rId2" Type="http://schemas.openxmlformats.org/officeDocument/2006/relationships/notesSlide" Target="../notesSlides/notesSlide48.xml"/><Relationship Id="rId1" Type="http://schemas.openxmlformats.org/officeDocument/2006/relationships/slideLayout" Target="../slideLayouts/slideLayout25.xml"/><Relationship Id="rId6" Type="http://schemas.openxmlformats.org/officeDocument/2006/relationships/image" Target="../media/image64.png"/><Relationship Id="rId5" Type="http://schemas.microsoft.com/office/2007/relationships/hdphoto" Target="../media/hdphoto1.wdp"/><Relationship Id="rId4" Type="http://schemas.openxmlformats.org/officeDocument/2006/relationships/image" Target="../media/image63.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5.xml"/><Relationship Id="rId1" Type="http://schemas.openxmlformats.org/officeDocument/2006/relationships/video" Target="https://www.youtube.com/embed/J88aaHWXeaM?feature=oembed" TargetMode="External"/><Relationship Id="rId5" Type="http://schemas.openxmlformats.org/officeDocument/2006/relationships/image" Target="../media/image65.jpeg"/><Relationship Id="rId4" Type="http://schemas.openxmlformats.org/officeDocument/2006/relationships/hyperlink" Target="https://youtu.be/J88aaHWXeaM" TargetMode="External"/></Relationships>
</file>

<file path=ppt/slides/_rels/slide60.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notesSlide" Target="../notesSlides/notesSlide50.xml"/><Relationship Id="rId1" Type="http://schemas.openxmlformats.org/officeDocument/2006/relationships/slideLayout" Target="../slideLayouts/slideLayout25.xml"/></Relationships>
</file>

<file path=ppt/slides/_rels/slide61.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51.xml"/><Relationship Id="rId1" Type="http://schemas.openxmlformats.org/officeDocument/2006/relationships/slideLayout" Target="../slideLayouts/slideLayout25.xml"/></Relationships>
</file>

<file path=ppt/slides/_rels/slide62.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slideLayout" Target="../slideLayouts/slideLayout53.xml"/><Relationship Id="rId1" Type="http://schemas.openxmlformats.org/officeDocument/2006/relationships/video" Target="https://www.youtube.com/embed/11uG2gvzPXM?feature=oembed" TargetMode="External"/></Relationships>
</file>

<file path=ppt/slides/_rels/slide6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4.xml"/></Relationships>
</file>

<file path=ppt/slides/_rels/slide6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2.xml"/><Relationship Id="rId1" Type="http://schemas.openxmlformats.org/officeDocument/2006/relationships/slideLayout" Target="../slideLayouts/slideLayout25.xml"/></Relationships>
</file>

<file path=ppt/slides/_rels/slide6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3.xml"/><Relationship Id="rId1" Type="http://schemas.openxmlformats.org/officeDocument/2006/relationships/slideLayout" Target="../slideLayouts/slideLayout25.xml"/></Relationships>
</file>

<file path=ppt/slides/_rels/slide6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4.xml"/><Relationship Id="rId1" Type="http://schemas.openxmlformats.org/officeDocument/2006/relationships/slideLayout" Target="../slideLayouts/slideLayout25.xml"/></Relationships>
</file>

<file path=ppt/slides/_rels/slide6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5.xml"/><Relationship Id="rId1" Type="http://schemas.openxmlformats.org/officeDocument/2006/relationships/slideLayout" Target="../slideLayouts/slideLayout25.xml"/></Relationships>
</file>

<file path=ppt/slides/_rels/slide68.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56.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5904846" y="-450197"/>
            <a:ext cx="4452079" cy="6591671"/>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4043" y="-450198"/>
            <a:ext cx="4452079" cy="6591671"/>
          </a:xfrm>
          <a:prstGeom prst="rect">
            <a:avLst/>
          </a:prstGeom>
        </p:spPr>
      </p:pic>
      <p:sp>
        <p:nvSpPr>
          <p:cNvPr id="9" name="TextBox 8"/>
          <p:cNvSpPr txBox="1"/>
          <p:nvPr/>
        </p:nvSpPr>
        <p:spPr>
          <a:xfrm>
            <a:off x="1325862" y="2393265"/>
            <a:ext cx="6805023" cy="707886"/>
          </a:xfrm>
          <a:prstGeom prst="rect">
            <a:avLst/>
          </a:prstGeom>
          <a:noFill/>
        </p:spPr>
        <p:txBody>
          <a:bodyPr wrap="square" rtlCol="0">
            <a:spAutoFit/>
          </a:bodyPr>
          <a:lstStyle/>
          <a:p>
            <a:pPr algn="ctr"/>
            <a:r>
              <a:rPr lang="en-US" sz="4000" b="1" dirty="0">
                <a:solidFill>
                  <a:schemeClr val="accent5">
                    <a:lumMod val="50000"/>
                  </a:schemeClr>
                </a:solidFill>
                <a:effectLst>
                  <a:outerShdw blurRad="38100" dist="38100" dir="2700000" algn="tl">
                    <a:srgbClr val="000000">
                      <a:alpha val="43137"/>
                    </a:srgbClr>
                  </a:outerShdw>
                </a:effectLst>
              </a:rPr>
              <a:t>OPERATIONAL MANAGEMENT</a:t>
            </a:r>
          </a:p>
        </p:txBody>
      </p:sp>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0957" y="376556"/>
            <a:ext cx="1976997" cy="1967096"/>
          </a:xfrm>
          <a:prstGeom prst="rect">
            <a:avLst/>
          </a:prstGeom>
        </p:spPr>
      </p:pic>
    </p:spTree>
    <p:extLst>
      <p:ext uri="{BB962C8B-B14F-4D97-AF65-F5344CB8AC3E}">
        <p14:creationId xmlns:p14="http://schemas.microsoft.com/office/powerpoint/2010/main" val="163751876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519" y="304271"/>
            <a:ext cx="7886700" cy="1104636"/>
          </a:xfrm>
        </p:spPr>
        <p:txBody>
          <a:bodyPr>
            <a:normAutofit/>
          </a:bodyPr>
          <a:lstStyle/>
          <a:p>
            <a:pPr algn="ctr"/>
            <a:r>
              <a:rPr lang="en-GB" sz="3000" dirty="0"/>
              <a:t>How organisational strategy is developed</a:t>
            </a:r>
          </a:p>
        </p:txBody>
      </p:sp>
      <p:pic>
        <p:nvPicPr>
          <p:cNvPr id="5" name="Content Placeholder 4"/>
          <p:cNvPicPr>
            <a:picLocks noGrp="1" noChangeAspect="1"/>
          </p:cNvPicPr>
          <p:nvPr>
            <p:ph idx="1"/>
          </p:nvPr>
        </p:nvPicPr>
        <p:blipFill>
          <a:blip r:embed="rId3"/>
          <a:stretch>
            <a:fillRect/>
          </a:stretch>
        </p:blipFill>
        <p:spPr>
          <a:xfrm>
            <a:off x="3110991" y="1546168"/>
            <a:ext cx="2922018" cy="2522292"/>
          </a:xfrm>
          <a:prstGeom prst="rect">
            <a:avLst/>
          </a:prstGeom>
        </p:spPr>
      </p:pic>
    </p:spTree>
    <p:extLst>
      <p:ext uri="{BB962C8B-B14F-4D97-AF65-F5344CB8AC3E}">
        <p14:creationId xmlns:p14="http://schemas.microsoft.com/office/powerpoint/2010/main" val="286343819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14E68B3B-6478-41D2-931D-92E50D4EF3DC}"/>
              </a:ext>
            </a:extLst>
          </p:cNvPr>
          <p:cNvSpPr>
            <a:spLocks noGrp="1" noChangeArrowheads="1"/>
          </p:cNvSpPr>
          <p:nvPr>
            <p:ph type="title" idx="4294967295"/>
          </p:nvPr>
        </p:nvSpPr>
        <p:spPr>
          <a:xfrm>
            <a:off x="1207177" y="593527"/>
            <a:ext cx="7302500" cy="952500"/>
          </a:xfrm>
        </p:spPr>
        <p:txBody>
          <a:bodyPr>
            <a:normAutofit/>
          </a:bodyPr>
          <a:lstStyle/>
          <a:p>
            <a:pPr algn="ctr">
              <a:defRPr/>
            </a:pPr>
            <a:r>
              <a:rPr lang="en-GB" altLang="en-US" dirty="0"/>
              <a:t>Operational Management</a:t>
            </a:r>
          </a:p>
        </p:txBody>
      </p:sp>
      <p:sp>
        <p:nvSpPr>
          <p:cNvPr id="13315" name="Rectangle 3">
            <a:extLst>
              <a:ext uri="{FF2B5EF4-FFF2-40B4-BE49-F238E27FC236}">
                <a16:creationId xmlns:a16="http://schemas.microsoft.com/office/drawing/2014/main" id="{2D9978C5-71F5-4DEC-B03D-EF5D801C5B62}"/>
              </a:ext>
            </a:extLst>
          </p:cNvPr>
          <p:cNvSpPr>
            <a:spLocks noGrp="1" noChangeArrowheads="1"/>
          </p:cNvSpPr>
          <p:nvPr>
            <p:ph type="body" idx="4294967295"/>
          </p:nvPr>
        </p:nvSpPr>
        <p:spPr>
          <a:xfrm>
            <a:off x="158750" y="1439789"/>
            <a:ext cx="8213354" cy="3429000"/>
          </a:xfrm>
        </p:spPr>
        <p:txBody>
          <a:bodyPr/>
          <a:lstStyle/>
          <a:p>
            <a:pPr lvl="1">
              <a:spcBef>
                <a:spcPct val="100000"/>
              </a:spcBef>
              <a:buNone/>
              <a:tabLst>
                <a:tab pos="1269949" algn="l"/>
                <a:tab pos="1587437" algn="l"/>
              </a:tabLst>
            </a:pPr>
            <a:endParaRPr lang="en-GB" altLang="en-US" sz="1667" dirty="0"/>
          </a:p>
          <a:p>
            <a:pPr lvl="1">
              <a:spcBef>
                <a:spcPct val="100000"/>
              </a:spcBef>
              <a:buNone/>
              <a:tabLst>
                <a:tab pos="1269949" algn="l"/>
                <a:tab pos="1587437" algn="l"/>
              </a:tabLst>
            </a:pPr>
            <a:r>
              <a:rPr lang="en-GB" altLang="en-US" sz="1600" dirty="0"/>
              <a:t>What is Operational Management?</a:t>
            </a:r>
          </a:p>
          <a:p>
            <a:pPr lvl="1">
              <a:spcBef>
                <a:spcPct val="100000"/>
              </a:spcBef>
              <a:buNone/>
              <a:tabLst>
                <a:tab pos="1269949" algn="l"/>
                <a:tab pos="1587437" algn="l"/>
              </a:tabLst>
            </a:pPr>
            <a:endParaRPr lang="en-GB" altLang="en-US" sz="1600" dirty="0"/>
          </a:p>
          <a:p>
            <a:pPr lvl="1">
              <a:spcBef>
                <a:spcPct val="100000"/>
              </a:spcBef>
              <a:buNone/>
              <a:tabLst>
                <a:tab pos="1269949" algn="l"/>
                <a:tab pos="1587437" algn="l"/>
              </a:tabLst>
            </a:pPr>
            <a:r>
              <a:rPr lang="en-GB" sz="1600" dirty="0"/>
              <a:t>According to the online dictionary, operations management is defined as:</a:t>
            </a:r>
            <a:endParaRPr lang="en-GB" altLang="en-US" sz="1600" dirty="0"/>
          </a:p>
          <a:p>
            <a:pPr lvl="1">
              <a:spcBef>
                <a:spcPct val="100000"/>
              </a:spcBef>
              <a:buNone/>
              <a:tabLst>
                <a:tab pos="1269949" algn="l"/>
                <a:tab pos="1587437" algn="l"/>
              </a:tabLst>
            </a:pPr>
            <a:r>
              <a:rPr lang="en-GB" dirty="0"/>
              <a:t>‘The design, execution and control of operations that convert resources into desired goods and services, and implement a company's business strategy’</a:t>
            </a:r>
          </a:p>
          <a:p>
            <a:pPr lvl="1">
              <a:spcBef>
                <a:spcPct val="100000"/>
              </a:spcBef>
              <a:buNone/>
              <a:tabLst>
                <a:tab pos="1269949" algn="l"/>
                <a:tab pos="1587437" algn="l"/>
              </a:tabLst>
            </a:pPr>
            <a:endParaRPr lang="en-GB" altLang="en-US" sz="1600" dirty="0"/>
          </a:p>
          <a:p>
            <a:pPr marL="342900" lvl="1" indent="0">
              <a:spcBef>
                <a:spcPct val="100000"/>
              </a:spcBef>
              <a:buNone/>
              <a:tabLst>
                <a:tab pos="1269949" algn="l"/>
                <a:tab pos="1587437" algn="l"/>
              </a:tabLst>
            </a:pPr>
            <a:endParaRPr lang="en-GB" altLang="en-US" sz="1667" dirty="0"/>
          </a:p>
          <a:p>
            <a:pPr marL="342900" lvl="1" indent="0">
              <a:spcBef>
                <a:spcPct val="100000"/>
              </a:spcBef>
              <a:buNone/>
              <a:tabLst>
                <a:tab pos="1269949" algn="l"/>
                <a:tab pos="1587437" algn="l"/>
              </a:tabLst>
            </a:pPr>
            <a:endParaRPr lang="en-GB" altLang="en-US" sz="1667" dirty="0"/>
          </a:p>
          <a:p>
            <a:pPr marL="342900" lvl="1" indent="0">
              <a:spcBef>
                <a:spcPct val="100000"/>
              </a:spcBef>
              <a:buNone/>
              <a:tabLst>
                <a:tab pos="1269949" algn="l"/>
                <a:tab pos="1587437" algn="l"/>
              </a:tabLst>
            </a:pPr>
            <a:endParaRPr lang="en-GB" altLang="en-US" sz="1667" dirty="0"/>
          </a:p>
          <a:p>
            <a:pPr marL="342900" lvl="1" indent="0">
              <a:spcBef>
                <a:spcPct val="100000"/>
              </a:spcBef>
              <a:buNone/>
              <a:tabLst>
                <a:tab pos="1269949" algn="l"/>
                <a:tab pos="1587437" algn="l"/>
              </a:tabLst>
            </a:pPr>
            <a:endParaRPr lang="en-GB" altLang="en-US" sz="1667" dirty="0"/>
          </a:p>
          <a:p>
            <a:pPr lvl="1">
              <a:spcBef>
                <a:spcPct val="100000"/>
              </a:spcBef>
              <a:buFont typeface="Wingdings" panose="05000000000000000000" pitchFamily="2" charset="2"/>
              <a:buChar char="Ø"/>
              <a:tabLst>
                <a:tab pos="1269949" algn="l"/>
                <a:tab pos="1587437" algn="l"/>
              </a:tabLst>
            </a:pPr>
            <a:endParaRPr lang="en-GB" altLang="en-US" sz="1667" dirty="0"/>
          </a:p>
        </p:txBody>
      </p:sp>
      <p:pic>
        <p:nvPicPr>
          <p:cNvPr id="13316" name="Picture 2" descr="World in hands.">
            <a:extLst>
              <a:ext uri="{FF2B5EF4-FFF2-40B4-BE49-F238E27FC236}">
                <a16:creationId xmlns:a16="http://schemas.microsoft.com/office/drawing/2014/main" id="{24B0F95B-1EA2-4D8A-A515-064343B247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1296" y="1505164"/>
            <a:ext cx="1804703" cy="164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196662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315">
                                            <p:txEl>
                                              <p:pRg st="1" end="1"/>
                                            </p:txEl>
                                          </p:spTgt>
                                        </p:tgtEl>
                                        <p:attrNameLst>
                                          <p:attrName>style.visibility</p:attrName>
                                        </p:attrNameLst>
                                      </p:cBhvr>
                                      <p:to>
                                        <p:strVal val="visible"/>
                                      </p:to>
                                    </p:set>
                                    <p:animEffect transition="in" filter="fade">
                                      <p:cBhvr>
                                        <p:cTn id="7" dur="1000"/>
                                        <p:tgtEl>
                                          <p:spTgt spid="13315">
                                            <p:txEl>
                                              <p:pRg st="1" end="1"/>
                                            </p:txEl>
                                          </p:spTgt>
                                        </p:tgtEl>
                                      </p:cBhvr>
                                    </p:animEffect>
                                    <p:anim calcmode="lin" valueType="num">
                                      <p:cBhvr>
                                        <p:cTn id="8" dur="1000" fill="hold"/>
                                        <p:tgtEl>
                                          <p:spTgt spid="1331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331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315">
                                            <p:txEl>
                                              <p:pRg st="3" end="3"/>
                                            </p:txEl>
                                          </p:spTgt>
                                        </p:tgtEl>
                                        <p:attrNameLst>
                                          <p:attrName>style.visibility</p:attrName>
                                        </p:attrNameLst>
                                      </p:cBhvr>
                                      <p:to>
                                        <p:strVal val="visible"/>
                                      </p:to>
                                    </p:set>
                                    <p:animEffect transition="in" filter="fade">
                                      <p:cBhvr>
                                        <p:cTn id="14" dur="1000"/>
                                        <p:tgtEl>
                                          <p:spTgt spid="13315">
                                            <p:txEl>
                                              <p:pRg st="3" end="3"/>
                                            </p:txEl>
                                          </p:spTgt>
                                        </p:tgtEl>
                                      </p:cBhvr>
                                    </p:animEffect>
                                    <p:anim calcmode="lin" valueType="num">
                                      <p:cBhvr>
                                        <p:cTn id="15" dur="1000" fill="hold"/>
                                        <p:tgtEl>
                                          <p:spTgt spid="13315">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3315">
                                            <p:txEl>
                                              <p:pRg st="3" end="3"/>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3315">
                                            <p:txEl>
                                              <p:pRg st="4" end="4"/>
                                            </p:txEl>
                                          </p:spTgt>
                                        </p:tgtEl>
                                        <p:attrNameLst>
                                          <p:attrName>style.visibility</p:attrName>
                                        </p:attrNameLst>
                                      </p:cBhvr>
                                      <p:to>
                                        <p:strVal val="visible"/>
                                      </p:to>
                                    </p:set>
                                    <p:animEffect transition="in" filter="fade">
                                      <p:cBhvr>
                                        <p:cTn id="19" dur="1000"/>
                                        <p:tgtEl>
                                          <p:spTgt spid="13315">
                                            <p:txEl>
                                              <p:pRg st="4" end="4"/>
                                            </p:txEl>
                                          </p:spTgt>
                                        </p:tgtEl>
                                      </p:cBhvr>
                                    </p:animEffect>
                                    <p:anim calcmode="lin" valueType="num">
                                      <p:cBhvr>
                                        <p:cTn id="20" dur="1000" fill="hold"/>
                                        <p:tgtEl>
                                          <p:spTgt spid="13315">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1331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06C46ED2-476F-4C81-9CEB-E90D1105128A}"/>
              </a:ext>
            </a:extLst>
          </p:cNvPr>
          <p:cNvSpPr>
            <a:spLocks noGrp="1" noChangeArrowheads="1"/>
          </p:cNvSpPr>
          <p:nvPr>
            <p:ph type="title" idx="4294967295"/>
          </p:nvPr>
        </p:nvSpPr>
        <p:spPr>
          <a:xfrm>
            <a:off x="783771" y="198437"/>
            <a:ext cx="7886700" cy="1104900"/>
          </a:xfrm>
        </p:spPr>
        <p:txBody>
          <a:bodyPr>
            <a:normAutofit/>
          </a:bodyPr>
          <a:lstStyle/>
          <a:p>
            <a:pPr algn="ctr">
              <a:defRPr/>
            </a:pPr>
            <a:r>
              <a:rPr lang="en-GB" altLang="en-US" sz="3000" dirty="0"/>
              <a:t>Vision &amp; Values</a:t>
            </a:r>
          </a:p>
        </p:txBody>
      </p:sp>
      <p:sp>
        <p:nvSpPr>
          <p:cNvPr id="20483" name="Rectangle 3">
            <a:extLst>
              <a:ext uri="{FF2B5EF4-FFF2-40B4-BE49-F238E27FC236}">
                <a16:creationId xmlns:a16="http://schemas.microsoft.com/office/drawing/2014/main" id="{4EB0E5E6-DDB0-4451-8394-32F19FD83496}"/>
              </a:ext>
            </a:extLst>
          </p:cNvPr>
          <p:cNvSpPr>
            <a:spLocks noGrp="1" noChangeArrowheads="1"/>
          </p:cNvSpPr>
          <p:nvPr>
            <p:ph type="body" idx="4294967295"/>
          </p:nvPr>
        </p:nvSpPr>
        <p:spPr>
          <a:xfrm>
            <a:off x="307867" y="1468582"/>
            <a:ext cx="8695113" cy="3679681"/>
          </a:xfrm>
        </p:spPr>
        <p:txBody>
          <a:bodyPr/>
          <a:lstStyle/>
          <a:p>
            <a:r>
              <a:rPr lang="en-GB" altLang="en-US" sz="2000" dirty="0"/>
              <a:t>Vision describes how the company will look and feel in the future</a:t>
            </a:r>
          </a:p>
          <a:p>
            <a:r>
              <a:rPr lang="en-GB" altLang="en-US" sz="2000" dirty="0"/>
              <a:t>Values define how the organisation and its people are expected to behave</a:t>
            </a:r>
          </a:p>
        </p:txBody>
      </p:sp>
      <p:pic>
        <p:nvPicPr>
          <p:cNvPr id="45060" name="Picture 4" descr="lockyer-debt-report-binoculars.bmp">
            <a:extLst>
              <a:ext uri="{FF2B5EF4-FFF2-40B4-BE49-F238E27FC236}">
                <a16:creationId xmlns:a16="http://schemas.microsoft.com/office/drawing/2014/main" id="{1A2FABB1-03D4-435A-BE71-34BFA1B3BC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1979" y="2249213"/>
            <a:ext cx="3540125" cy="2510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019526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1" presetClass="entr" presetSubtype="0" fill="hold" nodeType="withEffect">
                                  <p:stCondLst>
                                    <p:cond delay="0"/>
                                  </p:stCondLst>
                                  <p:iterate type="lt">
                                    <p:tmPct val="5000"/>
                                  </p:iterate>
                                  <p:childTnLst>
                                    <p:set>
                                      <p:cBhvr>
                                        <p:cTn id="6" dur="1" fill="hold">
                                          <p:stCondLst>
                                            <p:cond delay="0"/>
                                          </p:stCondLst>
                                        </p:cTn>
                                        <p:tgtEl>
                                          <p:spTgt spid="45060"/>
                                        </p:tgtEl>
                                        <p:attrNameLst>
                                          <p:attrName>style.visibility</p:attrName>
                                        </p:attrNameLst>
                                      </p:cBhvr>
                                      <p:to>
                                        <p:strVal val="visible"/>
                                      </p:to>
                                    </p:set>
                                    <p:anim calcmode="lin" valueType="num">
                                      <p:cBhvr>
                                        <p:cTn id="7" dur="1000" fill="hold"/>
                                        <p:tgtEl>
                                          <p:spTgt spid="45060"/>
                                        </p:tgtEl>
                                        <p:attrNameLst>
                                          <p:attrName>ppt_w</p:attrName>
                                        </p:attrNameLst>
                                      </p:cBhvr>
                                      <p:tavLst>
                                        <p:tav tm="0">
                                          <p:val>
                                            <p:fltVal val="0"/>
                                          </p:val>
                                        </p:tav>
                                        <p:tav tm="100000">
                                          <p:val>
                                            <p:strVal val="#ppt_w"/>
                                          </p:val>
                                        </p:tav>
                                      </p:tavLst>
                                    </p:anim>
                                    <p:anim calcmode="lin" valueType="num">
                                      <p:cBhvr>
                                        <p:cTn id="8" dur="1000" fill="hold"/>
                                        <p:tgtEl>
                                          <p:spTgt spid="45060"/>
                                        </p:tgtEl>
                                        <p:attrNameLst>
                                          <p:attrName>ppt_h</p:attrName>
                                        </p:attrNameLst>
                                      </p:cBhvr>
                                      <p:tavLst>
                                        <p:tav tm="0">
                                          <p:val>
                                            <p:fltVal val="0"/>
                                          </p:val>
                                        </p:tav>
                                        <p:tav tm="100000">
                                          <p:val>
                                            <p:strVal val="#ppt_h"/>
                                          </p:val>
                                        </p:tav>
                                      </p:tavLst>
                                    </p:anim>
                                    <p:anim calcmode="lin" valueType="num">
                                      <p:cBhvr>
                                        <p:cTn id="9" dur="1000" fill="hold"/>
                                        <p:tgtEl>
                                          <p:spTgt spid="45060"/>
                                        </p:tgtEl>
                                        <p:attrNameLst>
                                          <p:attrName>style.rotation</p:attrName>
                                        </p:attrNameLst>
                                      </p:cBhvr>
                                      <p:tavLst>
                                        <p:tav tm="0">
                                          <p:val>
                                            <p:fltVal val="90"/>
                                          </p:val>
                                        </p:tav>
                                        <p:tav tm="100000">
                                          <p:val>
                                            <p:fltVal val="0"/>
                                          </p:val>
                                        </p:tav>
                                      </p:tavLst>
                                    </p:anim>
                                    <p:animEffect transition="in" filter="fade">
                                      <p:cBhvr>
                                        <p:cTn id="10" dur="1000"/>
                                        <p:tgtEl>
                                          <p:spTgt spid="45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E12ECBF8-5EBA-4C64-ACBC-6AAC0D922870}"/>
              </a:ext>
            </a:extLst>
          </p:cNvPr>
          <p:cNvSpPr>
            <a:spLocks noGrp="1" noChangeArrowheads="1"/>
          </p:cNvSpPr>
          <p:nvPr>
            <p:ph type="title"/>
          </p:nvPr>
        </p:nvSpPr>
        <p:spPr/>
        <p:txBody>
          <a:bodyPr/>
          <a:lstStyle/>
          <a:p>
            <a:pPr algn="ctr">
              <a:defRPr/>
            </a:pPr>
            <a:r>
              <a:rPr lang="en-GB" altLang="en-US" sz="3000" dirty="0"/>
              <a:t>Mission Statements and Values</a:t>
            </a:r>
            <a:br>
              <a:rPr lang="en-GB" altLang="en-US" sz="3600" dirty="0"/>
            </a:br>
            <a:endParaRPr lang="en-GB" altLang="en-US" dirty="0"/>
          </a:p>
        </p:txBody>
      </p:sp>
      <p:sp>
        <p:nvSpPr>
          <p:cNvPr id="18435" name="Rectangle 3">
            <a:extLst>
              <a:ext uri="{FF2B5EF4-FFF2-40B4-BE49-F238E27FC236}">
                <a16:creationId xmlns:a16="http://schemas.microsoft.com/office/drawing/2014/main" id="{8BDEB776-D433-4ABD-BE06-1BD7F35DDBCA}"/>
              </a:ext>
            </a:extLst>
          </p:cNvPr>
          <p:cNvSpPr>
            <a:spLocks noGrp="1" noChangeArrowheads="1"/>
          </p:cNvSpPr>
          <p:nvPr>
            <p:ph sz="half" idx="1"/>
          </p:nvPr>
        </p:nvSpPr>
        <p:spPr>
          <a:xfrm>
            <a:off x="129886" y="1408907"/>
            <a:ext cx="8385464" cy="3634553"/>
          </a:xfrm>
        </p:spPr>
        <p:txBody>
          <a:bodyPr>
            <a:normAutofit/>
          </a:bodyPr>
          <a:lstStyle/>
          <a:p>
            <a:pPr>
              <a:spcBef>
                <a:spcPct val="100000"/>
              </a:spcBef>
            </a:pPr>
            <a:r>
              <a:rPr lang="en-GB" altLang="en-US" sz="1800" dirty="0"/>
              <a:t>An organisation’s statement of purpose should ideally say three things, preferably in one short sentence – a mission statement</a:t>
            </a:r>
          </a:p>
          <a:p>
            <a:pPr lvl="1">
              <a:spcBef>
                <a:spcPct val="100000"/>
              </a:spcBef>
            </a:pPr>
            <a:r>
              <a:rPr lang="en-GB" altLang="en-US" dirty="0"/>
              <a:t>Who we are</a:t>
            </a:r>
          </a:p>
          <a:p>
            <a:pPr lvl="1">
              <a:spcBef>
                <a:spcPct val="100000"/>
              </a:spcBef>
            </a:pPr>
            <a:r>
              <a:rPr lang="en-GB" altLang="en-US" dirty="0"/>
              <a:t>Who our customers are</a:t>
            </a:r>
          </a:p>
          <a:p>
            <a:pPr lvl="1">
              <a:spcBef>
                <a:spcPct val="100000"/>
              </a:spcBef>
            </a:pPr>
            <a:r>
              <a:rPr lang="en-GB" altLang="en-US" dirty="0"/>
              <a:t>What we do for them</a:t>
            </a:r>
          </a:p>
        </p:txBody>
      </p:sp>
      <p:pic>
        <p:nvPicPr>
          <p:cNvPr id="4" name="Picture 1028" descr="World in hands.">
            <a:extLst>
              <a:ext uri="{FF2B5EF4-FFF2-40B4-BE49-F238E27FC236}">
                <a16:creationId xmlns:a16="http://schemas.microsoft.com/office/drawing/2014/main" id="{BC556EC5-800F-4953-9C03-CFB85C6AF9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6915" y="2685142"/>
            <a:ext cx="2196839" cy="2007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913469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fade">
                                      <p:cBhvr>
                                        <p:cTn id="7" dur="1000"/>
                                        <p:tgtEl>
                                          <p:spTgt spid="18435">
                                            <p:txEl>
                                              <p:pRg st="0" end="0"/>
                                            </p:txEl>
                                          </p:spTgt>
                                        </p:tgtEl>
                                      </p:cBhvr>
                                    </p:animEffect>
                                    <p:anim calcmode="lin" valueType="num">
                                      <p:cBhvr>
                                        <p:cTn id="8" dur="1000" fill="hold"/>
                                        <p:tgtEl>
                                          <p:spTgt spid="1843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843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fade">
                                      <p:cBhvr>
                                        <p:cTn id="12" dur="1000"/>
                                        <p:tgtEl>
                                          <p:spTgt spid="18435">
                                            <p:txEl>
                                              <p:pRg st="1" end="1"/>
                                            </p:txEl>
                                          </p:spTgt>
                                        </p:tgtEl>
                                      </p:cBhvr>
                                    </p:animEffect>
                                    <p:anim calcmode="lin" valueType="num">
                                      <p:cBhvr>
                                        <p:cTn id="13" dur="1000" fill="hold"/>
                                        <p:tgtEl>
                                          <p:spTgt spid="1843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843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8435">
                                            <p:txEl>
                                              <p:pRg st="2" end="2"/>
                                            </p:txEl>
                                          </p:spTgt>
                                        </p:tgtEl>
                                        <p:attrNameLst>
                                          <p:attrName>style.visibility</p:attrName>
                                        </p:attrNameLst>
                                      </p:cBhvr>
                                      <p:to>
                                        <p:strVal val="visible"/>
                                      </p:to>
                                    </p:set>
                                    <p:animEffect transition="in" filter="fade">
                                      <p:cBhvr>
                                        <p:cTn id="17" dur="1000"/>
                                        <p:tgtEl>
                                          <p:spTgt spid="18435">
                                            <p:txEl>
                                              <p:pRg st="2" end="2"/>
                                            </p:txEl>
                                          </p:spTgt>
                                        </p:tgtEl>
                                      </p:cBhvr>
                                    </p:animEffect>
                                    <p:anim calcmode="lin" valueType="num">
                                      <p:cBhvr>
                                        <p:cTn id="18" dur="1000" fill="hold"/>
                                        <p:tgtEl>
                                          <p:spTgt spid="1843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8435">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8435">
                                            <p:txEl>
                                              <p:pRg st="3" end="3"/>
                                            </p:txEl>
                                          </p:spTgt>
                                        </p:tgtEl>
                                        <p:attrNameLst>
                                          <p:attrName>style.visibility</p:attrName>
                                        </p:attrNameLst>
                                      </p:cBhvr>
                                      <p:to>
                                        <p:strVal val="visible"/>
                                      </p:to>
                                    </p:set>
                                    <p:animEffect transition="in" filter="fade">
                                      <p:cBhvr>
                                        <p:cTn id="22" dur="1000"/>
                                        <p:tgtEl>
                                          <p:spTgt spid="18435">
                                            <p:txEl>
                                              <p:pRg st="3" end="3"/>
                                            </p:txEl>
                                          </p:spTgt>
                                        </p:tgtEl>
                                      </p:cBhvr>
                                    </p:animEffect>
                                    <p:anim calcmode="lin" valueType="num">
                                      <p:cBhvr>
                                        <p:cTn id="23" dur="1000" fill="hold"/>
                                        <p:tgtEl>
                                          <p:spTgt spid="18435">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1843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1026">
            <a:extLst>
              <a:ext uri="{FF2B5EF4-FFF2-40B4-BE49-F238E27FC236}">
                <a16:creationId xmlns:a16="http://schemas.microsoft.com/office/drawing/2014/main" id="{0AE36745-442B-4BA6-A89E-753D33F6195F}"/>
              </a:ext>
            </a:extLst>
          </p:cNvPr>
          <p:cNvSpPr>
            <a:spLocks noGrp="1" noChangeArrowheads="1"/>
          </p:cNvSpPr>
          <p:nvPr>
            <p:ph type="title" idx="4294967295"/>
          </p:nvPr>
        </p:nvSpPr>
        <p:spPr>
          <a:xfrm>
            <a:off x="0" y="254000"/>
            <a:ext cx="7302500" cy="952500"/>
          </a:xfrm>
        </p:spPr>
        <p:txBody>
          <a:bodyPr/>
          <a:lstStyle/>
          <a:p>
            <a:pPr algn="ctr">
              <a:defRPr/>
            </a:pPr>
            <a:r>
              <a:rPr lang="en-GB" altLang="en-US" b="0" dirty="0"/>
              <a:t>An organisation must have.. </a:t>
            </a:r>
            <a:endParaRPr lang="en-GB" altLang="en-US" dirty="0"/>
          </a:p>
        </p:txBody>
      </p:sp>
      <p:sp>
        <p:nvSpPr>
          <p:cNvPr id="15363" name="Rectangle 1027">
            <a:extLst>
              <a:ext uri="{FF2B5EF4-FFF2-40B4-BE49-F238E27FC236}">
                <a16:creationId xmlns:a16="http://schemas.microsoft.com/office/drawing/2014/main" id="{65B0230D-B5A6-4FA0-BF32-053695CCA95B}"/>
              </a:ext>
            </a:extLst>
          </p:cNvPr>
          <p:cNvSpPr>
            <a:spLocks noGrp="1" noChangeArrowheads="1"/>
          </p:cNvSpPr>
          <p:nvPr>
            <p:ph type="body" idx="4294967295"/>
          </p:nvPr>
        </p:nvSpPr>
        <p:spPr>
          <a:xfrm>
            <a:off x="0" y="1546167"/>
            <a:ext cx="8684029" cy="3504969"/>
          </a:xfrm>
        </p:spPr>
        <p:txBody>
          <a:bodyPr/>
          <a:lstStyle/>
          <a:p>
            <a:pPr lvl="1">
              <a:spcBef>
                <a:spcPct val="100000"/>
              </a:spcBef>
              <a:buNone/>
              <a:tabLst>
                <a:tab pos="1269949" algn="l"/>
                <a:tab pos="1587437" algn="l"/>
              </a:tabLst>
            </a:pPr>
            <a:r>
              <a:rPr lang="en-GB" altLang="en-US" sz="1667" b="1" dirty="0"/>
              <a:t>CRITICAL SUCCESS FACTORS</a:t>
            </a:r>
            <a:r>
              <a:rPr lang="en-GB" altLang="en-US" sz="1667" dirty="0"/>
              <a:t>: - what it has to do right in order to fulfil its strategic intent </a:t>
            </a:r>
          </a:p>
          <a:p>
            <a:pPr lvl="1">
              <a:spcBef>
                <a:spcPct val="100000"/>
              </a:spcBef>
              <a:buNone/>
              <a:tabLst>
                <a:tab pos="1269949" algn="l"/>
                <a:tab pos="1587437" algn="l"/>
              </a:tabLst>
            </a:pPr>
            <a:r>
              <a:rPr lang="en-GB" altLang="en-US" sz="1667" b="1" dirty="0"/>
              <a:t>OBJECTIVES</a:t>
            </a:r>
            <a:r>
              <a:rPr lang="en-GB" altLang="en-US" sz="1667" dirty="0"/>
              <a:t>: - specific, measurable statements of the results it must achieve</a:t>
            </a:r>
          </a:p>
          <a:p>
            <a:pPr lvl="1">
              <a:spcBef>
                <a:spcPct val="100000"/>
              </a:spcBef>
              <a:buNone/>
              <a:tabLst>
                <a:tab pos="1269949" algn="l"/>
                <a:tab pos="1587437" algn="l"/>
              </a:tabLst>
            </a:pPr>
            <a:r>
              <a:rPr lang="en-GB" altLang="en-US" sz="1667" b="1" dirty="0"/>
              <a:t>ACTION PLANS</a:t>
            </a:r>
            <a:r>
              <a:rPr lang="en-GB" altLang="en-US" sz="1667" dirty="0"/>
              <a:t>: - detailed plans of the activities to be undertaken with responsibilities assigned</a:t>
            </a:r>
          </a:p>
          <a:p>
            <a:pPr lvl="1">
              <a:spcBef>
                <a:spcPct val="0"/>
              </a:spcBef>
              <a:buNone/>
              <a:tabLst>
                <a:tab pos="1269949" algn="l"/>
                <a:tab pos="1587437" algn="l"/>
              </a:tabLst>
            </a:pPr>
            <a:endParaRPr lang="en-GB" altLang="en-US" dirty="0"/>
          </a:p>
        </p:txBody>
      </p:sp>
      <p:pic>
        <p:nvPicPr>
          <p:cNvPr id="15364" name="Picture 1028" descr="World in hands.">
            <a:extLst>
              <a:ext uri="{FF2B5EF4-FFF2-40B4-BE49-F238E27FC236}">
                <a16:creationId xmlns:a16="http://schemas.microsoft.com/office/drawing/2014/main" id="{CCEB8E68-974A-4623-B0D0-82D199F555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2500" y="3243613"/>
            <a:ext cx="1841500" cy="168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9333972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12" descr="What Makes You Snap?">
            <a:extLst>
              <a:ext uri="{FF2B5EF4-FFF2-40B4-BE49-F238E27FC236}">
                <a16:creationId xmlns:a16="http://schemas.microsoft.com/office/drawing/2014/main" id="{3D663B1A-3D53-4E95-AD6C-EC275F00DA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9096" y="1724247"/>
            <a:ext cx="1578271" cy="851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BEF399F9-AED1-4504-8B98-193E76213CC7}"/>
              </a:ext>
            </a:extLst>
          </p:cNvPr>
          <p:cNvSpPr>
            <a:spLocks noGrp="1"/>
          </p:cNvSpPr>
          <p:nvPr>
            <p:ph type="title" idx="4294967295"/>
          </p:nvPr>
        </p:nvSpPr>
        <p:spPr>
          <a:xfrm>
            <a:off x="1092530" y="300842"/>
            <a:ext cx="7886700" cy="1104900"/>
          </a:xfrm>
        </p:spPr>
        <p:txBody>
          <a:bodyPr/>
          <a:lstStyle/>
          <a:p>
            <a:r>
              <a:rPr lang="en-GB" b="1" dirty="0">
                <a:latin typeface="+mn-lt"/>
              </a:rPr>
              <a:t>Internal Factors</a:t>
            </a:r>
          </a:p>
        </p:txBody>
      </p:sp>
      <p:sp>
        <p:nvSpPr>
          <p:cNvPr id="5" name="Content Placeholder 4">
            <a:extLst>
              <a:ext uri="{FF2B5EF4-FFF2-40B4-BE49-F238E27FC236}">
                <a16:creationId xmlns:a16="http://schemas.microsoft.com/office/drawing/2014/main" id="{1809251F-7CE2-4F43-81B1-ABADE5E529F8}"/>
              </a:ext>
            </a:extLst>
          </p:cNvPr>
          <p:cNvSpPr>
            <a:spLocks noGrp="1"/>
          </p:cNvSpPr>
          <p:nvPr>
            <p:ph idx="4294967295"/>
          </p:nvPr>
        </p:nvSpPr>
        <p:spPr>
          <a:xfrm>
            <a:off x="510639" y="1250168"/>
            <a:ext cx="6902450" cy="3429000"/>
          </a:xfrm>
        </p:spPr>
        <p:txBody>
          <a:bodyPr>
            <a:normAutofit fontScale="85000" lnSpcReduction="20000"/>
          </a:bodyPr>
          <a:lstStyle/>
          <a:p>
            <a:pPr marL="0" indent="0">
              <a:buNone/>
            </a:pPr>
            <a:r>
              <a:rPr lang="en-GB" dirty="0"/>
              <a:t>• </a:t>
            </a:r>
            <a:r>
              <a:rPr lang="en-GB" b="1" dirty="0"/>
              <a:t>physical resources </a:t>
            </a:r>
          </a:p>
          <a:p>
            <a:pPr marL="0" indent="0">
              <a:buNone/>
            </a:pPr>
            <a:r>
              <a:rPr lang="en-GB" dirty="0"/>
              <a:t>- materials, equipment, machinery or premises </a:t>
            </a:r>
          </a:p>
          <a:p>
            <a:pPr marL="0" indent="0">
              <a:buNone/>
            </a:pPr>
            <a:endParaRPr lang="en-GB" dirty="0"/>
          </a:p>
          <a:p>
            <a:pPr marL="0" indent="0">
              <a:buNone/>
            </a:pPr>
            <a:r>
              <a:rPr lang="en-GB" dirty="0"/>
              <a:t>• </a:t>
            </a:r>
            <a:r>
              <a:rPr lang="en-GB" b="1" dirty="0"/>
              <a:t>human resources </a:t>
            </a:r>
          </a:p>
          <a:p>
            <a:pPr marL="0" indent="0">
              <a:buNone/>
            </a:pPr>
            <a:r>
              <a:rPr lang="en-GB" b="1" dirty="0"/>
              <a:t>- </a:t>
            </a:r>
            <a:r>
              <a:rPr lang="en-GB" dirty="0"/>
              <a:t>team members, team leaders, supervisors, managers and directors; employees, contractors, agency workers or volunteers </a:t>
            </a:r>
          </a:p>
          <a:p>
            <a:pPr marL="0" indent="0">
              <a:buNone/>
            </a:pPr>
            <a:endParaRPr lang="en-GB" dirty="0"/>
          </a:p>
          <a:p>
            <a:pPr marL="0" indent="0">
              <a:buNone/>
            </a:pPr>
            <a:r>
              <a:rPr lang="en-GB" dirty="0"/>
              <a:t>• </a:t>
            </a:r>
            <a:r>
              <a:rPr lang="en-GB" b="1" dirty="0"/>
              <a:t>time </a:t>
            </a:r>
          </a:p>
          <a:p>
            <a:pPr marL="0" indent="0">
              <a:buNone/>
            </a:pPr>
            <a:r>
              <a:rPr lang="en-GB" dirty="0"/>
              <a:t>– working hours, opening hours, delivery times or production deadlines </a:t>
            </a:r>
            <a:endParaRPr lang="en-GB" b="1" dirty="0"/>
          </a:p>
          <a:p>
            <a:pPr marL="0" indent="0">
              <a:buNone/>
            </a:pPr>
            <a:endParaRPr lang="en-GB" dirty="0"/>
          </a:p>
          <a:p>
            <a:pPr marL="0" indent="0">
              <a:buNone/>
            </a:pPr>
            <a:r>
              <a:rPr lang="en-GB" dirty="0"/>
              <a:t>• </a:t>
            </a:r>
            <a:r>
              <a:rPr lang="en-GB" b="1" dirty="0"/>
              <a:t>stakeholders </a:t>
            </a:r>
          </a:p>
          <a:p>
            <a:pPr marL="0" indent="0">
              <a:buNone/>
            </a:pPr>
            <a:r>
              <a:rPr lang="en-GB" dirty="0"/>
              <a:t>– shareholders or investors or an interested party</a:t>
            </a:r>
          </a:p>
          <a:p>
            <a:pPr marL="0" indent="0">
              <a:buNone/>
            </a:pPr>
            <a:endParaRPr lang="en-GB" sz="1667" dirty="0"/>
          </a:p>
        </p:txBody>
      </p:sp>
      <p:pic>
        <p:nvPicPr>
          <p:cNvPr id="30" name="Picture 6" descr="Abs exercises with dumb-bells">
            <a:extLst>
              <a:ext uri="{FF2B5EF4-FFF2-40B4-BE49-F238E27FC236}">
                <a16:creationId xmlns:a16="http://schemas.microsoft.com/office/drawing/2014/main" id="{63605522-2561-491C-9DF3-5BADAED372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7643" y="545697"/>
            <a:ext cx="1689130" cy="1117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Picture 17" descr="key_to_opportunities_291.jpg">
            <a:extLst>
              <a:ext uri="{FF2B5EF4-FFF2-40B4-BE49-F238E27FC236}">
                <a16:creationId xmlns:a16="http://schemas.microsoft.com/office/drawing/2014/main" id="{358096EE-CF9D-48DC-89A9-7D90E8C2FC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7720528" y="2488563"/>
            <a:ext cx="915407" cy="1530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21" descr="tigers">
            <a:extLst>
              <a:ext uri="{FF2B5EF4-FFF2-40B4-BE49-F238E27FC236}">
                <a16:creationId xmlns:a16="http://schemas.microsoft.com/office/drawing/2014/main" id="{42C99146-2E52-4330-857E-D932843167B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57643" y="3932068"/>
            <a:ext cx="1645125" cy="1038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5395978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4" end="4"/>
                                            </p:txEl>
                                          </p:spTgt>
                                        </p:tgtEl>
                                        <p:attrNameLst>
                                          <p:attrName>style.visibility</p:attrName>
                                        </p:attrNameLst>
                                      </p:cBhvr>
                                      <p:to>
                                        <p:strVal val="visible"/>
                                      </p:to>
                                    </p:set>
                                    <p:animEffect transition="in" filter="fade">
                                      <p:cBhvr>
                                        <p:cTn id="14" dur="1000"/>
                                        <p:tgtEl>
                                          <p:spTgt spid="5">
                                            <p:txEl>
                                              <p:pRg st="4" end="4"/>
                                            </p:txEl>
                                          </p:spTgt>
                                        </p:tgtEl>
                                      </p:cBhvr>
                                    </p:animEffect>
                                    <p:anim calcmode="lin" valueType="num">
                                      <p:cBhvr>
                                        <p:cTn id="15"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animEffect transition="in" filter="fade">
                                      <p:cBhvr>
                                        <p:cTn id="21" dur="1000"/>
                                        <p:tgtEl>
                                          <p:spTgt spid="5">
                                            <p:txEl>
                                              <p:pRg st="7" end="7"/>
                                            </p:txEl>
                                          </p:spTgt>
                                        </p:tgtEl>
                                      </p:cBhvr>
                                    </p:animEffect>
                                    <p:anim calcmode="lin" valueType="num">
                                      <p:cBhvr>
                                        <p:cTn id="22"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xEl>
                                              <p:pRg st="10" end="10"/>
                                            </p:txEl>
                                          </p:spTgt>
                                        </p:tgtEl>
                                        <p:attrNameLst>
                                          <p:attrName>style.visibility</p:attrName>
                                        </p:attrNameLst>
                                      </p:cBhvr>
                                      <p:to>
                                        <p:strVal val="visible"/>
                                      </p:to>
                                    </p:set>
                                    <p:animEffect transition="in" filter="fade">
                                      <p:cBhvr>
                                        <p:cTn id="28" dur="1000"/>
                                        <p:tgtEl>
                                          <p:spTgt spid="5">
                                            <p:txEl>
                                              <p:pRg st="10" end="10"/>
                                            </p:txEl>
                                          </p:spTgt>
                                        </p:tgtEl>
                                      </p:cBhvr>
                                    </p:animEffect>
                                    <p:anim calcmode="lin" valueType="num">
                                      <p:cBhvr>
                                        <p:cTn id="29" dur="1000" fill="hold"/>
                                        <p:tgtEl>
                                          <p:spTgt spid="5">
                                            <p:txEl>
                                              <p:pRg st="10" end="10"/>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F399F9-AED1-4504-8B98-193E76213CC7}"/>
              </a:ext>
            </a:extLst>
          </p:cNvPr>
          <p:cNvSpPr>
            <a:spLocks noGrp="1"/>
          </p:cNvSpPr>
          <p:nvPr>
            <p:ph type="title" idx="4294967295"/>
          </p:nvPr>
        </p:nvSpPr>
        <p:spPr>
          <a:xfrm>
            <a:off x="1257300" y="435429"/>
            <a:ext cx="7886700" cy="1104900"/>
          </a:xfrm>
        </p:spPr>
        <p:txBody>
          <a:bodyPr/>
          <a:lstStyle/>
          <a:p>
            <a:r>
              <a:rPr lang="en-GB" b="1" dirty="0">
                <a:latin typeface="+mn-lt"/>
              </a:rPr>
              <a:t>External Factors</a:t>
            </a:r>
          </a:p>
        </p:txBody>
      </p:sp>
      <p:sp>
        <p:nvSpPr>
          <p:cNvPr id="5" name="Content Placeholder 4">
            <a:extLst>
              <a:ext uri="{FF2B5EF4-FFF2-40B4-BE49-F238E27FC236}">
                <a16:creationId xmlns:a16="http://schemas.microsoft.com/office/drawing/2014/main" id="{1809251F-7CE2-4F43-81B1-ABADE5E529F8}"/>
              </a:ext>
            </a:extLst>
          </p:cNvPr>
          <p:cNvSpPr>
            <a:spLocks noGrp="1"/>
          </p:cNvSpPr>
          <p:nvPr>
            <p:ph idx="4294967295"/>
          </p:nvPr>
        </p:nvSpPr>
        <p:spPr>
          <a:xfrm>
            <a:off x="344384" y="1555665"/>
            <a:ext cx="7542316" cy="4115789"/>
          </a:xfrm>
        </p:spPr>
        <p:txBody>
          <a:bodyPr/>
          <a:lstStyle/>
          <a:p>
            <a:pPr marL="0" indent="0">
              <a:buNone/>
            </a:pPr>
            <a:r>
              <a:rPr lang="en-GB" sz="1667" dirty="0"/>
              <a:t>• </a:t>
            </a:r>
            <a:r>
              <a:rPr lang="en-GB" sz="1667" b="1" dirty="0"/>
              <a:t>external customers</a:t>
            </a:r>
            <a:endParaRPr lang="en-GB" sz="1667" dirty="0"/>
          </a:p>
          <a:p>
            <a:pPr marL="0" indent="0">
              <a:buNone/>
            </a:pPr>
            <a:r>
              <a:rPr lang="en-GB" sz="1667" dirty="0"/>
              <a:t>• </a:t>
            </a:r>
            <a:r>
              <a:rPr lang="en-GB" sz="1667" b="1" dirty="0"/>
              <a:t>suppliers</a:t>
            </a:r>
            <a:r>
              <a:rPr lang="en-GB" sz="1667" dirty="0"/>
              <a:t> </a:t>
            </a:r>
          </a:p>
          <a:p>
            <a:pPr marL="0" indent="0">
              <a:buNone/>
            </a:pPr>
            <a:r>
              <a:rPr lang="en-GB" sz="1667" dirty="0"/>
              <a:t>• </a:t>
            </a:r>
            <a:r>
              <a:rPr lang="en-GB" sz="1667" b="1" dirty="0"/>
              <a:t>world prices </a:t>
            </a:r>
            <a:endParaRPr lang="en-GB" sz="1667" dirty="0"/>
          </a:p>
          <a:p>
            <a:pPr marL="0" indent="0">
              <a:buNone/>
            </a:pPr>
            <a:r>
              <a:rPr lang="en-GB" sz="1667" dirty="0"/>
              <a:t>• </a:t>
            </a:r>
            <a:r>
              <a:rPr lang="en-GB" sz="1667" b="1" dirty="0"/>
              <a:t>external stakeholders</a:t>
            </a:r>
            <a:endParaRPr lang="en-GB" sz="1667" dirty="0"/>
          </a:p>
          <a:p>
            <a:pPr marL="0" indent="0">
              <a:buNone/>
            </a:pPr>
            <a:r>
              <a:rPr lang="en-GB" sz="1667" dirty="0"/>
              <a:t>• </a:t>
            </a:r>
            <a:r>
              <a:rPr lang="en-GB" sz="1667" b="1" dirty="0"/>
              <a:t>competitors</a:t>
            </a:r>
            <a:r>
              <a:rPr lang="en-GB" sz="1667" dirty="0"/>
              <a:t>  </a:t>
            </a:r>
          </a:p>
          <a:p>
            <a:pPr marL="0" indent="0">
              <a:buNone/>
            </a:pPr>
            <a:r>
              <a:rPr lang="en-GB" sz="1667" dirty="0"/>
              <a:t>• </a:t>
            </a:r>
            <a:r>
              <a:rPr lang="en-GB" sz="1667" b="1" dirty="0"/>
              <a:t>legislation and regulations </a:t>
            </a:r>
          </a:p>
          <a:p>
            <a:pPr marL="0" indent="0">
              <a:buNone/>
            </a:pPr>
            <a:r>
              <a:rPr lang="en-GB" sz="1667" dirty="0"/>
              <a:t>• </a:t>
            </a:r>
            <a:r>
              <a:rPr lang="en-GB" sz="1667" b="1" dirty="0"/>
              <a:t>natural occurrences</a:t>
            </a:r>
            <a:endParaRPr lang="en-GB" sz="1667" dirty="0"/>
          </a:p>
          <a:p>
            <a:pPr marL="0" indent="0">
              <a:buNone/>
            </a:pPr>
            <a:r>
              <a:rPr lang="en-GB" sz="1667" dirty="0"/>
              <a:t>• </a:t>
            </a:r>
            <a:r>
              <a:rPr lang="en-GB" sz="1667" b="1" dirty="0"/>
              <a:t>economic, political or social issues</a:t>
            </a:r>
            <a:endParaRPr lang="en-GB" sz="1667" dirty="0"/>
          </a:p>
        </p:txBody>
      </p:sp>
      <p:pic>
        <p:nvPicPr>
          <p:cNvPr id="7" name="Picture 5" descr="Storage">
            <a:hlinkClick r:id="rId3"/>
            <a:extLst>
              <a:ext uri="{FF2B5EF4-FFF2-40B4-BE49-F238E27FC236}">
                <a16:creationId xmlns:a16="http://schemas.microsoft.com/office/drawing/2014/main" id="{A67A6256-BBC6-4AE4-9E6E-7650B11E6A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84639" y="1643063"/>
            <a:ext cx="1206500" cy="951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
            <a:extLst>
              <a:ext uri="{FF2B5EF4-FFF2-40B4-BE49-F238E27FC236}">
                <a16:creationId xmlns:a16="http://schemas.microsoft.com/office/drawing/2014/main" id="{1A4D1E58-6EBF-43E4-AF82-A13640B7CD6C}"/>
              </a:ext>
            </a:extLst>
          </p:cNvPr>
          <p:cNvGrpSpPr/>
          <p:nvPr/>
        </p:nvGrpSpPr>
        <p:grpSpPr>
          <a:xfrm>
            <a:off x="7891254" y="2849563"/>
            <a:ext cx="1199885" cy="1644760"/>
            <a:chOff x="7891254" y="2849563"/>
            <a:chExt cx="1199885" cy="1644760"/>
          </a:xfrm>
        </p:grpSpPr>
        <p:pic>
          <p:nvPicPr>
            <p:cNvPr id="6" name="Picture 4" descr="gavel">
              <a:hlinkClick r:id="rId5"/>
              <a:extLst>
                <a:ext uri="{FF2B5EF4-FFF2-40B4-BE49-F238E27FC236}">
                  <a16:creationId xmlns:a16="http://schemas.microsoft.com/office/drawing/2014/main" id="{6E5D617C-40F1-4C79-8236-22798D3F299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46576" y="3732323"/>
              <a:ext cx="94456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descr="wind2">
              <a:hlinkClick r:id="rId7"/>
              <a:extLst>
                <a:ext uri="{FF2B5EF4-FFF2-40B4-BE49-F238E27FC236}">
                  <a16:creationId xmlns:a16="http://schemas.microsoft.com/office/drawing/2014/main" id="{3C86A63F-5C48-47B4-B346-8D9599ED08A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91254" y="2849563"/>
              <a:ext cx="1199885" cy="755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 name="Picture 7" descr="Social">
            <a:hlinkClick r:id="rId9"/>
            <a:extLst>
              <a:ext uri="{FF2B5EF4-FFF2-40B4-BE49-F238E27FC236}">
                <a16:creationId xmlns:a16="http://schemas.microsoft.com/office/drawing/2014/main" id="{355A74E4-00AA-4AD2-90E9-5773CE8343C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41639" y="1643063"/>
            <a:ext cx="9207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8" descr="picPeople">
            <a:hlinkClick r:id="rId11"/>
            <a:extLst>
              <a:ext uri="{FF2B5EF4-FFF2-40B4-BE49-F238E27FC236}">
                <a16:creationId xmlns:a16="http://schemas.microsoft.com/office/drawing/2014/main" id="{A7BE5E1B-2198-4147-9159-12D457CEBE7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41639" y="500063"/>
            <a:ext cx="944563"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9" descr="Sterling notes">
            <a:extLst>
              <a:ext uri="{FF2B5EF4-FFF2-40B4-BE49-F238E27FC236}">
                <a16:creationId xmlns:a16="http://schemas.microsoft.com/office/drawing/2014/main" id="{561DA3D6-F00C-45AA-B2C1-7BE2C6EF893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84639" y="500063"/>
            <a:ext cx="1206500" cy="90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1696077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a:extLst>
              <a:ext uri="{FF2B5EF4-FFF2-40B4-BE49-F238E27FC236}">
                <a16:creationId xmlns:a16="http://schemas.microsoft.com/office/drawing/2014/main" id="{4FFCE8DF-872C-4F4A-87C3-F079F7A02DFE}"/>
              </a:ext>
            </a:extLst>
          </p:cNvPr>
          <p:cNvSpPr>
            <a:spLocks noGrp="1" noChangeArrowheads="1"/>
          </p:cNvSpPr>
          <p:nvPr>
            <p:ph type="title" idx="4294967295"/>
          </p:nvPr>
        </p:nvSpPr>
        <p:spPr>
          <a:xfrm>
            <a:off x="1143000" y="233362"/>
            <a:ext cx="6858000" cy="1154113"/>
          </a:xfrm>
        </p:spPr>
        <p:txBody>
          <a:bodyPr/>
          <a:lstStyle/>
          <a:p>
            <a:pPr>
              <a:defRPr/>
            </a:pPr>
            <a:r>
              <a:rPr lang="en-US" altLang="en-US" b="1" dirty="0">
                <a:latin typeface="+mn-lt"/>
              </a:rPr>
              <a:t>EXTERNAL FACTORS</a:t>
            </a:r>
          </a:p>
        </p:txBody>
      </p:sp>
      <p:sp>
        <p:nvSpPr>
          <p:cNvPr id="167939" name="Rectangle 3">
            <a:extLst>
              <a:ext uri="{FF2B5EF4-FFF2-40B4-BE49-F238E27FC236}">
                <a16:creationId xmlns:a16="http://schemas.microsoft.com/office/drawing/2014/main" id="{20F450E4-77B5-4FA7-924E-49E5CDCC3BBF}"/>
              </a:ext>
            </a:extLst>
          </p:cNvPr>
          <p:cNvSpPr>
            <a:spLocks noGrp="1" noChangeArrowheads="1"/>
          </p:cNvSpPr>
          <p:nvPr>
            <p:ph type="body" idx="4294967295"/>
          </p:nvPr>
        </p:nvSpPr>
        <p:spPr>
          <a:xfrm>
            <a:off x="748146" y="1212067"/>
            <a:ext cx="7886700" cy="3627438"/>
          </a:xfrm>
        </p:spPr>
        <p:txBody>
          <a:bodyPr/>
          <a:lstStyle/>
          <a:p>
            <a:pPr marL="0" indent="0">
              <a:buNone/>
            </a:pPr>
            <a:r>
              <a:rPr lang="en-US" altLang="en-US" sz="3000" dirty="0">
                <a:solidFill>
                  <a:srgbClr val="FF3300"/>
                </a:solidFill>
              </a:rPr>
              <a:t>P</a:t>
            </a:r>
            <a:r>
              <a:rPr lang="en-US" altLang="en-US" dirty="0"/>
              <a:t>olitical</a:t>
            </a:r>
          </a:p>
          <a:p>
            <a:pPr marL="0" indent="0">
              <a:buNone/>
            </a:pPr>
            <a:r>
              <a:rPr lang="en-US" altLang="en-US" sz="3000" dirty="0">
                <a:solidFill>
                  <a:srgbClr val="0070C0"/>
                </a:solidFill>
              </a:rPr>
              <a:t>E</a:t>
            </a:r>
            <a:r>
              <a:rPr lang="en-US" altLang="en-US" dirty="0"/>
              <a:t>conomic</a:t>
            </a:r>
          </a:p>
          <a:p>
            <a:pPr marL="0" indent="0">
              <a:buNone/>
            </a:pPr>
            <a:r>
              <a:rPr lang="en-US" altLang="en-US" sz="3000" dirty="0">
                <a:solidFill>
                  <a:srgbClr val="800000"/>
                </a:solidFill>
              </a:rPr>
              <a:t>S</a:t>
            </a:r>
            <a:r>
              <a:rPr lang="en-US" altLang="en-US" dirty="0"/>
              <a:t>ocial</a:t>
            </a:r>
          </a:p>
          <a:p>
            <a:pPr marL="0" indent="0">
              <a:buNone/>
            </a:pPr>
            <a:r>
              <a:rPr lang="en-US" altLang="en-US" sz="3000" dirty="0"/>
              <a:t>T</a:t>
            </a:r>
            <a:r>
              <a:rPr lang="en-US" altLang="en-US" dirty="0"/>
              <a:t>echnological</a:t>
            </a:r>
          </a:p>
          <a:p>
            <a:pPr marL="0" indent="0">
              <a:buNone/>
            </a:pPr>
            <a:r>
              <a:rPr lang="en-US" altLang="en-US" sz="3000" dirty="0">
                <a:solidFill>
                  <a:srgbClr val="3366CC"/>
                </a:solidFill>
              </a:rPr>
              <a:t>L</a:t>
            </a:r>
            <a:r>
              <a:rPr lang="en-US" altLang="en-US" dirty="0"/>
              <a:t>egislative</a:t>
            </a:r>
          </a:p>
          <a:p>
            <a:pPr marL="0" indent="0">
              <a:buNone/>
            </a:pPr>
            <a:r>
              <a:rPr lang="en-US" altLang="en-US" sz="3000" dirty="0">
                <a:solidFill>
                  <a:srgbClr val="00CC00"/>
                </a:solidFill>
              </a:rPr>
              <a:t>E</a:t>
            </a:r>
            <a:r>
              <a:rPr lang="en-US" altLang="en-US" dirty="0"/>
              <a:t>nvironmental</a:t>
            </a:r>
          </a:p>
        </p:txBody>
      </p:sp>
      <p:pic>
        <p:nvPicPr>
          <p:cNvPr id="167940" name="Picture 4" descr="gavel">
            <a:hlinkClick r:id="rId3"/>
            <a:extLst>
              <a:ext uri="{FF2B5EF4-FFF2-40B4-BE49-F238E27FC236}">
                <a16:creationId xmlns:a16="http://schemas.microsoft.com/office/drawing/2014/main" id="{DFF47389-C97F-4BAC-894C-D2E3371B8F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0889" y="3611563"/>
            <a:ext cx="94456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7941" name="Picture 5" descr="Storage">
            <a:hlinkClick r:id="rId5"/>
            <a:extLst>
              <a:ext uri="{FF2B5EF4-FFF2-40B4-BE49-F238E27FC236}">
                <a16:creationId xmlns:a16="http://schemas.microsoft.com/office/drawing/2014/main" id="{6EE1923B-6A7E-40F7-A860-4DE3517C104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63889" y="2405063"/>
            <a:ext cx="1206500" cy="951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7942" name="Picture 6" descr="wind2">
            <a:hlinkClick r:id="rId7"/>
            <a:extLst>
              <a:ext uri="{FF2B5EF4-FFF2-40B4-BE49-F238E27FC236}">
                <a16:creationId xmlns:a16="http://schemas.microsoft.com/office/drawing/2014/main" id="{1CBD61E5-0E16-410F-9A5F-3044FE6CD5E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70504" y="3611563"/>
            <a:ext cx="1199885" cy="755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7943" name="Picture 7" descr="Social">
            <a:hlinkClick r:id="rId9"/>
            <a:extLst>
              <a:ext uri="{FF2B5EF4-FFF2-40B4-BE49-F238E27FC236}">
                <a16:creationId xmlns:a16="http://schemas.microsoft.com/office/drawing/2014/main" id="{916CAC7F-A193-4748-8B07-9CFF8A9CE49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20889" y="2405063"/>
            <a:ext cx="9207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7944" name="Picture 8" descr="picPeople">
            <a:hlinkClick r:id="rId11"/>
            <a:extLst>
              <a:ext uri="{FF2B5EF4-FFF2-40B4-BE49-F238E27FC236}">
                <a16:creationId xmlns:a16="http://schemas.microsoft.com/office/drawing/2014/main" id="{B5644D43-AFEF-4D04-9C27-C413CE475B2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20889" y="1262063"/>
            <a:ext cx="944563"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7945" name="Picture 9" descr="Sterling notes">
            <a:extLst>
              <a:ext uri="{FF2B5EF4-FFF2-40B4-BE49-F238E27FC236}">
                <a16:creationId xmlns:a16="http://schemas.microsoft.com/office/drawing/2014/main" id="{1173E27D-AA34-4E90-91B2-E33C383CF55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963889" y="1262063"/>
            <a:ext cx="1206500" cy="903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8680931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793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794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7939">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794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7939">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794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7939">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794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7939">
                                            <p:txEl>
                                              <p:pRg st="4" end="4"/>
                                            </p:txEl>
                                          </p:spTgt>
                                        </p:tgtEl>
                                        <p:attrNameLst>
                                          <p:attrName>style.visibility</p:attrName>
                                        </p:attrNameLst>
                                      </p:cBhvr>
                                      <p:to>
                                        <p:strVal val="visible"/>
                                      </p:to>
                                    </p:set>
                                  </p:childTnLst>
                                </p:cTn>
                              </p:par>
                              <p:par>
                                <p:cTn id="31" presetID="12" presetClass="entr" presetSubtype="4" fill="hold" nodeType="withEffect">
                                  <p:stCondLst>
                                    <p:cond delay="0"/>
                                  </p:stCondLst>
                                  <p:childTnLst>
                                    <p:set>
                                      <p:cBhvr>
                                        <p:cTn id="32" dur="1" fill="hold">
                                          <p:stCondLst>
                                            <p:cond delay="0"/>
                                          </p:stCondLst>
                                        </p:cTn>
                                        <p:tgtEl>
                                          <p:spTgt spid="167940"/>
                                        </p:tgtEl>
                                        <p:attrNameLst>
                                          <p:attrName>style.visibility</p:attrName>
                                        </p:attrNameLst>
                                      </p:cBhvr>
                                      <p:to>
                                        <p:strVal val="visible"/>
                                      </p:to>
                                    </p:set>
                                    <p:animEffect transition="in" filter="slide(fromBottom)">
                                      <p:cBhvr>
                                        <p:cTn id="33" dur="500"/>
                                        <p:tgtEl>
                                          <p:spTgt spid="16794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67939">
                                            <p:txEl>
                                              <p:pRg st="5" end="5"/>
                                            </p:txEl>
                                          </p:spTgt>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679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3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Complete Pestle for Weston College </a:t>
            </a:r>
          </a:p>
        </p:txBody>
      </p:sp>
      <p:sp>
        <p:nvSpPr>
          <p:cNvPr id="3" name="Content Placeholder 2"/>
          <p:cNvSpPr>
            <a:spLocks noGrp="1"/>
          </p:cNvSpPr>
          <p:nvPr>
            <p:ph idx="1"/>
          </p:nvPr>
        </p:nvSpPr>
        <p:spPr>
          <a:xfrm>
            <a:off x="628650" y="1582057"/>
            <a:ext cx="5975350" cy="3565412"/>
          </a:xfrm>
        </p:spPr>
        <p:txBody>
          <a:bodyPr/>
          <a:lstStyle/>
          <a:p>
            <a:pPr marL="0" indent="0">
              <a:buNone/>
            </a:pPr>
            <a:r>
              <a:rPr lang="en-GB" dirty="0"/>
              <a:t>Knowledge Activity 1: Do an informal PESTLE analysis of your organisation.</a:t>
            </a:r>
          </a:p>
          <a:p>
            <a:endParaRPr lang="en-GB" dirty="0"/>
          </a:p>
          <a:p>
            <a:pPr marL="0" indent="0">
              <a:buNone/>
            </a:pPr>
            <a:r>
              <a:rPr lang="en-GB" dirty="0"/>
              <a:t>Make some notes about which influence could have the biggest impact, and why.</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000" y="1408907"/>
            <a:ext cx="2122033" cy="3183050"/>
          </a:xfrm>
          <a:prstGeom prst="rect">
            <a:avLst/>
          </a:prstGeom>
        </p:spPr>
      </p:pic>
    </p:spTree>
    <p:extLst>
      <p:ext uri="{BB962C8B-B14F-4D97-AF65-F5344CB8AC3E}">
        <p14:creationId xmlns:p14="http://schemas.microsoft.com/office/powerpoint/2010/main" val="3155761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AFBC8A-0534-BC58-581F-4AEF335AEE84}"/>
              </a:ext>
            </a:extLst>
          </p:cNvPr>
          <p:cNvSpPr txBox="1">
            <a:spLocks noChangeArrowheads="1"/>
          </p:cNvSpPr>
          <p:nvPr/>
        </p:nvSpPr>
        <p:spPr>
          <a:xfrm>
            <a:off x="1257300" y="528860"/>
            <a:ext cx="6458953" cy="417624"/>
          </a:xfrm>
          <a:prstGeom prst="rect">
            <a:avLst/>
          </a:prstGeom>
        </p:spPr>
        <p:txBody>
          <a:bodyPr lIns="91440" tIns="45720" rIns="91440" bIns="45720" anchor="t">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altLang="en-US" sz="2650" b="1" i="0" u="none" strike="noStrike" kern="1200" cap="none" spc="0" normalizeH="0" baseline="0" noProof="0" dirty="0">
                <a:ln>
                  <a:noFill/>
                </a:ln>
                <a:solidFill>
                  <a:prstClr val="black"/>
                </a:solidFill>
                <a:effectLst/>
                <a:uLnTx/>
                <a:uFillTx/>
                <a:latin typeface="Calibri" panose="020F0502020204030204"/>
                <a:ea typeface="+mj-ea"/>
                <a:cs typeface="+mj-cs"/>
              </a:rPr>
              <a:t>Tools For Planning </a:t>
            </a:r>
          </a:p>
        </p:txBody>
      </p:sp>
      <p:pic>
        <p:nvPicPr>
          <p:cNvPr id="4" name="Picture 4" descr="Diagram, schematic&#10;&#10;Description automatically generated">
            <a:extLst>
              <a:ext uri="{FF2B5EF4-FFF2-40B4-BE49-F238E27FC236}">
                <a16:creationId xmlns:a16="http://schemas.microsoft.com/office/drawing/2014/main" id="{93C527E6-89BB-3B03-CB6C-165134A92D68}"/>
              </a:ext>
            </a:extLst>
          </p:cNvPr>
          <p:cNvPicPr>
            <a:picLocks noChangeAspect="1"/>
          </p:cNvPicPr>
          <p:nvPr/>
        </p:nvPicPr>
        <p:blipFill>
          <a:blip r:embed="rId3"/>
          <a:stretch>
            <a:fillRect/>
          </a:stretch>
        </p:blipFill>
        <p:spPr>
          <a:xfrm>
            <a:off x="1667253" y="1287708"/>
            <a:ext cx="5847844" cy="3127602"/>
          </a:xfrm>
          <a:prstGeom prst="rect">
            <a:avLst/>
          </a:prstGeom>
        </p:spPr>
      </p:pic>
    </p:spTree>
    <p:extLst>
      <p:ext uri="{BB962C8B-B14F-4D97-AF65-F5344CB8AC3E}">
        <p14:creationId xmlns:p14="http://schemas.microsoft.com/office/powerpoint/2010/main" val="3315055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picture containing graphical user interface&#10;&#10;Description automatically generated">
            <a:extLst>
              <a:ext uri="{FF2B5EF4-FFF2-40B4-BE49-F238E27FC236}">
                <a16:creationId xmlns:a16="http://schemas.microsoft.com/office/drawing/2014/main" id="{D94FC27F-7AA6-E4DD-2F09-1AF1355FFBD2}"/>
              </a:ext>
            </a:extLst>
          </p:cNvPr>
          <p:cNvPicPr>
            <a:picLocks noChangeAspect="1"/>
          </p:cNvPicPr>
          <p:nvPr/>
        </p:nvPicPr>
        <p:blipFill>
          <a:blip r:embed="rId2"/>
          <a:stretch>
            <a:fillRect/>
          </a:stretch>
        </p:blipFill>
        <p:spPr>
          <a:xfrm>
            <a:off x="4806293" y="595582"/>
            <a:ext cx="3869721" cy="4356099"/>
          </a:xfrm>
          <a:prstGeom prst="rect">
            <a:avLst/>
          </a:prstGeom>
        </p:spPr>
      </p:pic>
      <p:sp>
        <p:nvSpPr>
          <p:cNvPr id="4" name="Rectangle 2">
            <a:extLst>
              <a:ext uri="{FF2B5EF4-FFF2-40B4-BE49-F238E27FC236}">
                <a16:creationId xmlns:a16="http://schemas.microsoft.com/office/drawing/2014/main" id="{69A48675-5D90-2FFD-C81B-4C795C0AC018}"/>
              </a:ext>
            </a:extLst>
          </p:cNvPr>
          <p:cNvSpPr txBox="1">
            <a:spLocks noChangeArrowheads="1"/>
          </p:cNvSpPr>
          <p:nvPr/>
        </p:nvSpPr>
        <p:spPr>
          <a:xfrm>
            <a:off x="1257300" y="528860"/>
            <a:ext cx="6458953" cy="417624"/>
          </a:xfrm>
          <a:prstGeom prst="rect">
            <a:avLst/>
          </a:prstGeom>
        </p:spPr>
        <p:txBody>
          <a:bodyPr lIns="91440" tIns="45720" rIns="91440" bIns="45720" anchor="t">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altLang="en-US" sz="2650" b="1" i="0" u="none" strike="noStrike" kern="1200" cap="none" spc="0" normalizeH="0" baseline="0" noProof="0" dirty="0">
                <a:ln>
                  <a:noFill/>
                </a:ln>
                <a:solidFill>
                  <a:prstClr val="black"/>
                </a:solidFill>
                <a:effectLst/>
                <a:uLnTx/>
                <a:uFillTx/>
                <a:latin typeface="Calibri" panose="020F0502020204030204"/>
                <a:ea typeface="+mj-ea"/>
                <a:cs typeface="+mj-cs"/>
              </a:rPr>
              <a:t>Tools For Planning </a:t>
            </a:r>
          </a:p>
        </p:txBody>
      </p:sp>
    </p:spTree>
    <p:extLst>
      <p:ext uri="{BB962C8B-B14F-4D97-AF65-F5344CB8AC3E}">
        <p14:creationId xmlns:p14="http://schemas.microsoft.com/office/powerpoint/2010/main" val="84193702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hart&#10;&#10;Description automatically generated">
            <a:extLst>
              <a:ext uri="{FF2B5EF4-FFF2-40B4-BE49-F238E27FC236}">
                <a16:creationId xmlns:a16="http://schemas.microsoft.com/office/drawing/2014/main" id="{8AA75AC6-A33C-05D3-5B2B-0FE3681C7AC4}"/>
              </a:ext>
            </a:extLst>
          </p:cNvPr>
          <p:cNvPicPr>
            <a:picLocks noChangeAspect="1"/>
          </p:cNvPicPr>
          <p:nvPr/>
        </p:nvPicPr>
        <p:blipFill>
          <a:blip r:embed="rId2"/>
          <a:stretch>
            <a:fillRect/>
          </a:stretch>
        </p:blipFill>
        <p:spPr>
          <a:xfrm>
            <a:off x="2397454" y="1185946"/>
            <a:ext cx="4468933" cy="3259239"/>
          </a:xfrm>
          <a:prstGeom prst="rect">
            <a:avLst/>
          </a:prstGeom>
        </p:spPr>
      </p:pic>
      <p:sp>
        <p:nvSpPr>
          <p:cNvPr id="4" name="Rectangle 2">
            <a:extLst>
              <a:ext uri="{FF2B5EF4-FFF2-40B4-BE49-F238E27FC236}">
                <a16:creationId xmlns:a16="http://schemas.microsoft.com/office/drawing/2014/main" id="{3BF32883-3C99-94F1-136C-A7F80D6376D8}"/>
              </a:ext>
            </a:extLst>
          </p:cNvPr>
          <p:cNvSpPr txBox="1">
            <a:spLocks noChangeArrowheads="1"/>
          </p:cNvSpPr>
          <p:nvPr/>
        </p:nvSpPr>
        <p:spPr>
          <a:xfrm>
            <a:off x="1257300" y="528860"/>
            <a:ext cx="6458953" cy="417624"/>
          </a:xfrm>
          <a:prstGeom prst="rect">
            <a:avLst/>
          </a:prstGeom>
        </p:spPr>
        <p:txBody>
          <a:bodyPr lIns="91440" tIns="45720" rIns="91440" bIns="45720" anchor="t">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altLang="en-US" sz="2650" b="1" i="0" u="none" strike="noStrike" kern="1200" cap="none" spc="0" normalizeH="0" baseline="0" noProof="0" dirty="0">
                <a:ln>
                  <a:noFill/>
                </a:ln>
                <a:solidFill>
                  <a:prstClr val="black"/>
                </a:solidFill>
                <a:effectLst/>
                <a:uLnTx/>
                <a:uFillTx/>
                <a:latin typeface="Calibri" panose="020F0502020204030204"/>
                <a:ea typeface="+mj-ea"/>
                <a:cs typeface="+mj-cs"/>
              </a:rPr>
              <a:t>Tools For Planning </a:t>
            </a:r>
          </a:p>
        </p:txBody>
      </p:sp>
    </p:spTree>
    <p:extLst>
      <p:ext uri="{BB962C8B-B14F-4D97-AF65-F5344CB8AC3E}">
        <p14:creationId xmlns:p14="http://schemas.microsoft.com/office/powerpoint/2010/main" val="9087442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14E68B3B-6478-41D2-931D-92E50D4EF3DC}"/>
              </a:ext>
            </a:extLst>
          </p:cNvPr>
          <p:cNvSpPr>
            <a:spLocks noGrp="1" noChangeArrowheads="1"/>
          </p:cNvSpPr>
          <p:nvPr>
            <p:ph type="title" idx="4294967295"/>
          </p:nvPr>
        </p:nvSpPr>
        <p:spPr>
          <a:xfrm>
            <a:off x="1207177" y="593527"/>
            <a:ext cx="7302500" cy="952500"/>
          </a:xfrm>
        </p:spPr>
        <p:txBody>
          <a:bodyPr>
            <a:normAutofit fontScale="90000"/>
          </a:bodyPr>
          <a:lstStyle/>
          <a:p>
            <a:pPr algn="ctr">
              <a:defRPr/>
            </a:pPr>
            <a:r>
              <a:rPr lang="en-GB" altLang="en-US" dirty="0"/>
              <a:t>Operational Management and Organisational Targets</a:t>
            </a:r>
          </a:p>
        </p:txBody>
      </p:sp>
      <p:sp>
        <p:nvSpPr>
          <p:cNvPr id="13315" name="Rectangle 3">
            <a:extLst>
              <a:ext uri="{FF2B5EF4-FFF2-40B4-BE49-F238E27FC236}">
                <a16:creationId xmlns:a16="http://schemas.microsoft.com/office/drawing/2014/main" id="{2D9978C5-71F5-4DEC-B03D-EF5D801C5B62}"/>
              </a:ext>
            </a:extLst>
          </p:cNvPr>
          <p:cNvSpPr>
            <a:spLocks noGrp="1" noChangeArrowheads="1"/>
          </p:cNvSpPr>
          <p:nvPr>
            <p:ph type="body" idx="4294967295"/>
          </p:nvPr>
        </p:nvSpPr>
        <p:spPr>
          <a:xfrm>
            <a:off x="158750" y="1439789"/>
            <a:ext cx="8213354" cy="3429000"/>
          </a:xfrm>
        </p:spPr>
        <p:txBody>
          <a:bodyPr/>
          <a:lstStyle/>
          <a:p>
            <a:pPr lvl="1">
              <a:spcBef>
                <a:spcPct val="100000"/>
              </a:spcBef>
              <a:buNone/>
              <a:tabLst>
                <a:tab pos="1269949" algn="l"/>
                <a:tab pos="1587437" algn="l"/>
              </a:tabLst>
            </a:pPr>
            <a:endParaRPr lang="en-GB" altLang="en-US" sz="1667" dirty="0"/>
          </a:p>
          <a:p>
            <a:pPr lvl="1">
              <a:spcBef>
                <a:spcPct val="100000"/>
              </a:spcBef>
              <a:buNone/>
              <a:tabLst>
                <a:tab pos="1269949" algn="l"/>
                <a:tab pos="1587437" algn="l"/>
              </a:tabLst>
            </a:pPr>
            <a:r>
              <a:rPr lang="en-GB" altLang="en-US" sz="1667" dirty="0"/>
              <a:t>What is Operational Management?</a:t>
            </a:r>
            <a:endParaRPr lang="en-GB" altLang="en-US" sz="1600" dirty="0"/>
          </a:p>
          <a:p>
            <a:pPr marL="342900" lvl="1" indent="0">
              <a:spcBef>
                <a:spcPct val="100000"/>
              </a:spcBef>
              <a:buNone/>
              <a:tabLst>
                <a:tab pos="1269949" algn="l"/>
                <a:tab pos="1587437" algn="l"/>
              </a:tabLst>
            </a:pPr>
            <a:endParaRPr lang="en-GB" altLang="en-US" sz="1667" dirty="0"/>
          </a:p>
          <a:p>
            <a:pPr marL="342900" lvl="1" indent="0">
              <a:spcBef>
                <a:spcPct val="100000"/>
              </a:spcBef>
              <a:buNone/>
              <a:tabLst>
                <a:tab pos="1269949" algn="l"/>
                <a:tab pos="1587437" algn="l"/>
              </a:tabLst>
            </a:pPr>
            <a:r>
              <a:rPr lang="en-GB" altLang="en-US" sz="1667" dirty="0"/>
              <a:t>What are Organisational Targets?</a:t>
            </a:r>
          </a:p>
          <a:p>
            <a:pPr marL="342900" lvl="1" indent="0">
              <a:spcBef>
                <a:spcPct val="100000"/>
              </a:spcBef>
              <a:buNone/>
              <a:tabLst>
                <a:tab pos="1269949" algn="l"/>
                <a:tab pos="1587437" algn="l"/>
              </a:tabLst>
            </a:pPr>
            <a:endParaRPr lang="en-GB" altLang="en-US" sz="1667" dirty="0"/>
          </a:p>
          <a:p>
            <a:pPr marL="342900" lvl="1" indent="0">
              <a:spcBef>
                <a:spcPct val="100000"/>
              </a:spcBef>
              <a:buNone/>
              <a:tabLst>
                <a:tab pos="1269949" algn="l"/>
                <a:tab pos="1587437" algn="l"/>
              </a:tabLst>
            </a:pPr>
            <a:endParaRPr lang="en-GB" altLang="en-US" sz="1667" dirty="0"/>
          </a:p>
          <a:p>
            <a:pPr marL="342900" lvl="1" indent="0">
              <a:spcBef>
                <a:spcPct val="100000"/>
              </a:spcBef>
              <a:buNone/>
              <a:tabLst>
                <a:tab pos="1269949" algn="l"/>
                <a:tab pos="1587437" algn="l"/>
              </a:tabLst>
            </a:pPr>
            <a:endParaRPr lang="en-GB" altLang="en-US" sz="1667" dirty="0"/>
          </a:p>
          <a:p>
            <a:pPr lvl="1">
              <a:spcBef>
                <a:spcPct val="100000"/>
              </a:spcBef>
              <a:buFont typeface="Wingdings" panose="05000000000000000000" pitchFamily="2" charset="2"/>
              <a:buChar char="Ø"/>
              <a:tabLst>
                <a:tab pos="1269949" algn="l"/>
                <a:tab pos="1587437" algn="l"/>
              </a:tabLst>
            </a:pPr>
            <a:endParaRPr lang="en-GB" altLang="en-US" sz="1667" dirty="0"/>
          </a:p>
        </p:txBody>
      </p:sp>
      <p:pic>
        <p:nvPicPr>
          <p:cNvPr id="13316" name="Picture 2" descr="World in hands.">
            <a:extLst>
              <a:ext uri="{FF2B5EF4-FFF2-40B4-BE49-F238E27FC236}">
                <a16:creationId xmlns:a16="http://schemas.microsoft.com/office/drawing/2014/main" id="{24B0F95B-1EA2-4D8A-A515-064343B247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3011" y="2392289"/>
            <a:ext cx="2266208" cy="207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756141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315">
                                            <p:txEl>
                                              <p:pRg st="1" end="1"/>
                                            </p:txEl>
                                          </p:spTgt>
                                        </p:tgtEl>
                                        <p:attrNameLst>
                                          <p:attrName>style.visibility</p:attrName>
                                        </p:attrNameLst>
                                      </p:cBhvr>
                                      <p:to>
                                        <p:strVal val="visible"/>
                                      </p:to>
                                    </p:set>
                                    <p:animEffect transition="in" filter="fade">
                                      <p:cBhvr>
                                        <p:cTn id="7" dur="1000"/>
                                        <p:tgtEl>
                                          <p:spTgt spid="13315">
                                            <p:txEl>
                                              <p:pRg st="1" end="1"/>
                                            </p:txEl>
                                          </p:spTgt>
                                        </p:tgtEl>
                                      </p:cBhvr>
                                    </p:animEffect>
                                    <p:anim calcmode="lin" valueType="num">
                                      <p:cBhvr>
                                        <p:cTn id="8" dur="1000" fill="hold"/>
                                        <p:tgtEl>
                                          <p:spTgt spid="1331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331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315">
                                            <p:txEl>
                                              <p:pRg st="3" end="3"/>
                                            </p:txEl>
                                          </p:spTgt>
                                        </p:tgtEl>
                                        <p:attrNameLst>
                                          <p:attrName>style.visibility</p:attrName>
                                        </p:attrNameLst>
                                      </p:cBhvr>
                                      <p:to>
                                        <p:strVal val="visible"/>
                                      </p:to>
                                    </p:set>
                                    <p:animEffect transition="in" filter="fade">
                                      <p:cBhvr>
                                        <p:cTn id="14" dur="1000"/>
                                        <p:tgtEl>
                                          <p:spTgt spid="13315">
                                            <p:txEl>
                                              <p:pRg st="3" end="3"/>
                                            </p:txEl>
                                          </p:spTgt>
                                        </p:tgtEl>
                                      </p:cBhvr>
                                    </p:animEffect>
                                    <p:anim calcmode="lin" valueType="num">
                                      <p:cBhvr>
                                        <p:cTn id="15" dur="1000" fill="hold"/>
                                        <p:tgtEl>
                                          <p:spTgt spid="13315">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331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Diagram&#10;&#10;Description automatically generated">
            <a:extLst>
              <a:ext uri="{FF2B5EF4-FFF2-40B4-BE49-F238E27FC236}">
                <a16:creationId xmlns:a16="http://schemas.microsoft.com/office/drawing/2014/main" id="{B6D49102-6BCD-E306-9729-A5FAD7C54835}"/>
              </a:ext>
            </a:extLst>
          </p:cNvPr>
          <p:cNvPicPr>
            <a:picLocks noChangeAspect="1"/>
          </p:cNvPicPr>
          <p:nvPr/>
        </p:nvPicPr>
        <p:blipFill>
          <a:blip r:embed="rId2"/>
          <a:stretch>
            <a:fillRect/>
          </a:stretch>
        </p:blipFill>
        <p:spPr>
          <a:xfrm>
            <a:off x="1954875" y="1473823"/>
            <a:ext cx="5416411" cy="2671505"/>
          </a:xfrm>
          <a:prstGeom prst="rect">
            <a:avLst/>
          </a:prstGeom>
        </p:spPr>
      </p:pic>
    </p:spTree>
    <p:extLst>
      <p:ext uri="{BB962C8B-B14F-4D97-AF65-F5344CB8AC3E}">
        <p14:creationId xmlns:p14="http://schemas.microsoft.com/office/powerpoint/2010/main" val="123408971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Differences between Strategic Planning and Operational Planning.">
            <a:hlinkClick r:id="" action="ppaction://media"/>
            <a:extLst>
              <a:ext uri="{FF2B5EF4-FFF2-40B4-BE49-F238E27FC236}">
                <a16:creationId xmlns:a16="http://schemas.microsoft.com/office/drawing/2014/main" id="{944915A5-7E89-D87C-BB7B-F5361A3BEA26}"/>
              </a:ext>
            </a:extLst>
          </p:cNvPr>
          <p:cNvPicPr>
            <a:picLocks noRot="1" noChangeAspect="1"/>
          </p:cNvPicPr>
          <p:nvPr>
            <a:videoFile r:link="rId1"/>
          </p:nvPr>
        </p:nvPicPr>
        <p:blipFill>
          <a:blip r:embed="rId4"/>
          <a:stretch>
            <a:fillRect/>
          </a:stretch>
        </p:blipFill>
        <p:spPr>
          <a:xfrm>
            <a:off x="1971747" y="1213514"/>
            <a:ext cx="5320349" cy="3184344"/>
          </a:xfrm>
          <a:prstGeom prst="rect">
            <a:avLst/>
          </a:prstGeom>
        </p:spPr>
      </p:pic>
    </p:spTree>
    <p:extLst>
      <p:ext uri="{BB962C8B-B14F-4D97-AF65-F5344CB8AC3E}">
        <p14:creationId xmlns:p14="http://schemas.microsoft.com/office/powerpoint/2010/main" val="31303299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Formulation of High-Level Strategy</a:t>
            </a:r>
          </a:p>
        </p:txBody>
      </p:sp>
      <p:sp>
        <p:nvSpPr>
          <p:cNvPr id="3" name="Content Placeholder 2"/>
          <p:cNvSpPr>
            <a:spLocks noGrp="1"/>
          </p:cNvSpPr>
          <p:nvPr>
            <p:ph idx="1"/>
          </p:nvPr>
        </p:nvSpPr>
        <p:spPr>
          <a:xfrm>
            <a:off x="471714" y="1408908"/>
            <a:ext cx="8043636" cy="3738562"/>
          </a:xfrm>
        </p:spPr>
        <p:txBody>
          <a:bodyPr/>
          <a:lstStyle/>
          <a:p>
            <a:pPr marL="0" indent="0">
              <a:buNone/>
            </a:pPr>
            <a:r>
              <a:rPr lang="en-GB" dirty="0"/>
              <a:t>Where are we now? </a:t>
            </a:r>
          </a:p>
          <a:p>
            <a:pPr marL="0" indent="0">
              <a:buNone/>
            </a:pPr>
            <a:r>
              <a:rPr lang="en-GB" dirty="0"/>
              <a:t>Where do we want to be? </a:t>
            </a:r>
          </a:p>
          <a:p>
            <a:pPr marL="0" indent="0">
              <a:buNone/>
            </a:pPr>
            <a:r>
              <a:rPr lang="en-GB" dirty="0"/>
              <a:t>How do we get there? </a:t>
            </a:r>
          </a:p>
          <a:p>
            <a:pPr marL="0" indent="0">
              <a:buNone/>
            </a:pPr>
            <a:r>
              <a:rPr lang="en-GB" dirty="0"/>
              <a:t>How do we measure progress and success? </a:t>
            </a:r>
          </a:p>
          <a:p>
            <a:pPr marL="0" indent="0">
              <a:buNone/>
            </a:pPr>
            <a:endParaRPr lang="en-GB" dirty="0"/>
          </a:p>
          <a:p>
            <a:pPr marL="0" indent="0">
              <a:buNone/>
            </a:pPr>
            <a:endParaRPr lang="en-GB" dirty="0"/>
          </a:p>
          <a:p>
            <a:pPr marL="0" indent="0">
              <a:buNone/>
            </a:pPr>
            <a:r>
              <a:rPr lang="en-GB" dirty="0"/>
              <a:t>Now we need to think about the components of an operational plan and then how to translate the high level plans to operational plans for teams and departments</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2955" y="1537280"/>
            <a:ext cx="3401559" cy="1904873"/>
          </a:xfrm>
          <a:prstGeom prst="rect">
            <a:avLst/>
          </a:prstGeom>
        </p:spPr>
      </p:pic>
    </p:spTree>
    <p:extLst>
      <p:ext uri="{BB962C8B-B14F-4D97-AF65-F5344CB8AC3E}">
        <p14:creationId xmlns:p14="http://schemas.microsoft.com/office/powerpoint/2010/main" val="30573290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351140A-4262-4420-99D6-5A77E7287F46}"/>
              </a:ext>
            </a:extLst>
          </p:cNvPr>
          <p:cNvSpPr/>
          <p:nvPr/>
        </p:nvSpPr>
        <p:spPr>
          <a:xfrm>
            <a:off x="367992" y="1142970"/>
            <a:ext cx="6188927" cy="3016852"/>
          </a:xfrm>
          <a:prstGeom prst="rect">
            <a:avLst/>
          </a:prstGeom>
        </p:spPr>
        <p:txBody>
          <a:bodyPr wrap="square">
            <a:spAutoFit/>
          </a:bodyPr>
          <a:lstStyle/>
          <a:p>
            <a:r>
              <a:rPr lang="en-GB" sz="1600" dirty="0"/>
              <a:t>An effective operational plan will include the following key components:</a:t>
            </a:r>
          </a:p>
          <a:p>
            <a:r>
              <a:rPr lang="en-GB" dirty="0"/>
              <a:t> </a:t>
            </a:r>
          </a:p>
          <a:p>
            <a:r>
              <a:rPr lang="en-GB" sz="2000" b="1" dirty="0"/>
              <a:t>• OBJECTIVES</a:t>
            </a:r>
          </a:p>
          <a:p>
            <a:r>
              <a:rPr lang="en-GB" sz="2000" b="1" dirty="0"/>
              <a:t>• KEY PERFORMANCE INDICATORS </a:t>
            </a:r>
          </a:p>
          <a:p>
            <a:r>
              <a:rPr lang="en-GB" sz="2000" b="1" dirty="0"/>
              <a:t>• RESOURCES </a:t>
            </a:r>
          </a:p>
          <a:p>
            <a:r>
              <a:rPr lang="en-GB" sz="2000" b="1" dirty="0"/>
              <a:t>• TIMESCALES </a:t>
            </a:r>
          </a:p>
          <a:p>
            <a:r>
              <a:rPr lang="en-GB" sz="2000" b="1" dirty="0"/>
              <a:t>• BUDGETS </a:t>
            </a:r>
          </a:p>
          <a:p>
            <a:r>
              <a:rPr lang="en-GB" sz="2000" b="1" dirty="0"/>
              <a:t>• ACCOUNTABILITIES AND RESPONSIBILITIES </a:t>
            </a:r>
          </a:p>
          <a:p>
            <a:r>
              <a:rPr lang="en-GB" sz="2000" b="1" dirty="0"/>
              <a:t>• TASKS </a:t>
            </a:r>
          </a:p>
          <a:p>
            <a:r>
              <a:rPr lang="en-GB" sz="2000" b="1" dirty="0"/>
              <a:t>• REPORTING LINES AND MECHANISMS</a:t>
            </a:r>
          </a:p>
        </p:txBody>
      </p:sp>
      <p:sp>
        <p:nvSpPr>
          <p:cNvPr id="3" name="TextBox 2">
            <a:extLst>
              <a:ext uri="{FF2B5EF4-FFF2-40B4-BE49-F238E27FC236}">
                <a16:creationId xmlns:a16="http://schemas.microsoft.com/office/drawing/2014/main" id="{D8023E09-2F0A-480B-8DB0-0C1504811684}"/>
              </a:ext>
            </a:extLst>
          </p:cNvPr>
          <p:cNvSpPr txBox="1"/>
          <p:nvPr/>
        </p:nvSpPr>
        <p:spPr>
          <a:xfrm>
            <a:off x="2163337" y="516299"/>
            <a:ext cx="5559022" cy="461665"/>
          </a:xfrm>
          <a:prstGeom prst="rect">
            <a:avLst/>
          </a:prstGeom>
          <a:noFill/>
        </p:spPr>
        <p:txBody>
          <a:bodyPr wrap="none" rtlCol="0">
            <a:spAutoFit/>
          </a:bodyPr>
          <a:lstStyle/>
          <a:p>
            <a:r>
              <a:rPr lang="en-GB" sz="2400" b="1" dirty="0"/>
              <a:t>COMPONENTS OF AN OPERATIONAL PLAN</a:t>
            </a:r>
          </a:p>
        </p:txBody>
      </p:sp>
      <p:pic>
        <p:nvPicPr>
          <p:cNvPr id="4" name="Picture 6" descr="woman_with_stickies_200h">
            <a:extLst>
              <a:ext uri="{FF2B5EF4-FFF2-40B4-BE49-F238E27FC236}">
                <a16:creationId xmlns:a16="http://schemas.microsoft.com/office/drawing/2014/main" id="{5C79665A-1349-4107-BC54-5075ED4FB2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3737" y="2210965"/>
            <a:ext cx="3583086" cy="1600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954458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535A5D03-29A2-4961-B8E4-3ACFB72F8486}"/>
              </a:ext>
            </a:extLst>
          </p:cNvPr>
          <p:cNvSpPr>
            <a:spLocks noGrp="1" noChangeArrowheads="1"/>
          </p:cNvSpPr>
          <p:nvPr>
            <p:ph type="title"/>
          </p:nvPr>
        </p:nvSpPr>
        <p:spPr>
          <a:xfrm>
            <a:off x="1118257" y="155635"/>
            <a:ext cx="7620000" cy="952501"/>
          </a:xfrm>
        </p:spPr>
        <p:txBody>
          <a:bodyPr/>
          <a:lstStyle/>
          <a:p>
            <a:pPr>
              <a:defRPr/>
            </a:pPr>
            <a:r>
              <a:rPr lang="en-GB" altLang="en-US" b="1" dirty="0">
                <a:latin typeface="+mn-lt"/>
                <a:ea typeface="+mj-ea"/>
              </a:rPr>
              <a:t>Aims and Objectives</a:t>
            </a:r>
          </a:p>
        </p:txBody>
      </p:sp>
      <p:sp>
        <p:nvSpPr>
          <p:cNvPr id="12291" name="Text Box 3">
            <a:extLst>
              <a:ext uri="{FF2B5EF4-FFF2-40B4-BE49-F238E27FC236}">
                <a16:creationId xmlns:a16="http://schemas.microsoft.com/office/drawing/2014/main" id="{95DCA2D6-7726-4273-9FC3-97FBF6BEB92E}"/>
              </a:ext>
            </a:extLst>
          </p:cNvPr>
          <p:cNvSpPr txBox="1">
            <a:spLocks noChangeArrowheads="1"/>
          </p:cNvSpPr>
          <p:nvPr/>
        </p:nvSpPr>
        <p:spPr bwMode="auto">
          <a:xfrm>
            <a:off x="1651000" y="1333500"/>
            <a:ext cx="6350000" cy="861774"/>
          </a:xfrm>
          <a:prstGeom prst="rect">
            <a:avLst/>
          </a:prstGeom>
          <a:noFill/>
          <a:ln w="57150">
            <a:solidFill>
              <a:srgbClr val="000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en-GB" altLang="en-US" sz="2000" b="1" dirty="0">
                <a:effectLst>
                  <a:outerShdw blurRad="38100" dist="38100" dir="2700000" algn="tl">
                    <a:srgbClr val="C0C0C0"/>
                  </a:outerShdw>
                </a:effectLst>
                <a:ea typeface="ＭＳ Ｐゴシック" panose="020B0600070205080204" pitchFamily="34" charset="-128"/>
              </a:rPr>
              <a:t>AIM</a:t>
            </a:r>
          </a:p>
          <a:p>
            <a:pPr algn="ctr">
              <a:spcBef>
                <a:spcPct val="50000"/>
              </a:spcBef>
              <a:defRPr/>
            </a:pPr>
            <a:r>
              <a:rPr lang="en-GB" altLang="en-US" sz="2000" dirty="0">
                <a:ea typeface="ＭＳ Ｐゴシック" panose="020B0600070205080204" pitchFamily="34" charset="-128"/>
              </a:rPr>
              <a:t>A LONG TERM STATEMENT OF INTENT</a:t>
            </a:r>
          </a:p>
        </p:txBody>
      </p:sp>
      <p:sp>
        <p:nvSpPr>
          <p:cNvPr id="12292" name="Text Box 4">
            <a:extLst>
              <a:ext uri="{FF2B5EF4-FFF2-40B4-BE49-F238E27FC236}">
                <a16:creationId xmlns:a16="http://schemas.microsoft.com/office/drawing/2014/main" id="{C317929C-0EAB-45ED-A94C-22C9103E0F45}"/>
              </a:ext>
            </a:extLst>
          </p:cNvPr>
          <p:cNvSpPr txBox="1">
            <a:spLocks noChangeArrowheads="1"/>
          </p:cNvSpPr>
          <p:nvPr/>
        </p:nvSpPr>
        <p:spPr bwMode="auto">
          <a:xfrm>
            <a:off x="1651000" y="3096949"/>
            <a:ext cx="6350000" cy="1169551"/>
          </a:xfrm>
          <a:prstGeom prst="rect">
            <a:avLst/>
          </a:prstGeom>
          <a:noFill/>
          <a:ln w="57150">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en-GB" altLang="en-US" sz="2000" b="1" dirty="0">
                <a:effectLst>
                  <a:outerShdw blurRad="38100" dist="38100" dir="2700000" algn="tl">
                    <a:srgbClr val="C0C0C0"/>
                  </a:outerShdw>
                </a:effectLst>
                <a:ea typeface="ＭＳ Ｐゴシック" panose="020B0600070205080204" pitchFamily="34" charset="-128"/>
              </a:rPr>
              <a:t>OBJECTIVE</a:t>
            </a:r>
            <a:endParaRPr lang="en-GB" altLang="en-US" sz="2000" dirty="0">
              <a:ea typeface="ＭＳ Ｐゴシック" panose="020B0600070205080204" pitchFamily="34" charset="-128"/>
            </a:endParaRPr>
          </a:p>
          <a:p>
            <a:pPr algn="ctr">
              <a:spcBef>
                <a:spcPct val="50000"/>
              </a:spcBef>
              <a:defRPr/>
            </a:pPr>
            <a:r>
              <a:rPr lang="en-GB" altLang="en-US" sz="2000" dirty="0">
                <a:ea typeface="ＭＳ Ｐゴシック" panose="020B0600070205080204" pitchFamily="34" charset="-128"/>
              </a:rPr>
              <a:t>A SHORT TERM OUTCOME WHICH CAN</a:t>
            </a:r>
            <a:br>
              <a:rPr lang="en-GB" altLang="en-US" sz="2000" dirty="0">
                <a:ea typeface="ＭＳ Ｐゴシック" panose="020B0600070205080204" pitchFamily="34" charset="-128"/>
              </a:rPr>
            </a:br>
            <a:r>
              <a:rPr lang="en-GB" altLang="en-US" sz="2000" dirty="0">
                <a:ea typeface="ＭＳ Ｐゴシック" panose="020B0600070205080204" pitchFamily="34" charset="-128"/>
              </a:rPr>
              <a:t> BE MEASURED</a:t>
            </a:r>
          </a:p>
        </p:txBody>
      </p:sp>
    </p:spTree>
    <p:extLst>
      <p:ext uri="{BB962C8B-B14F-4D97-AF65-F5344CB8AC3E}">
        <p14:creationId xmlns:p14="http://schemas.microsoft.com/office/powerpoint/2010/main" val="259345313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291"/>
                                        </p:tgtEl>
                                        <p:attrNameLst>
                                          <p:attrName>style.visibility</p:attrName>
                                        </p:attrNameLst>
                                      </p:cBhvr>
                                      <p:to>
                                        <p:strVal val="visible"/>
                                      </p:to>
                                    </p:set>
                                    <p:animEffect transition="in" filter="fade">
                                      <p:cBhvr>
                                        <p:cTn id="7" dur="1000"/>
                                        <p:tgtEl>
                                          <p:spTgt spid="12291"/>
                                        </p:tgtEl>
                                      </p:cBhvr>
                                    </p:animEffect>
                                    <p:anim calcmode="lin" valueType="num">
                                      <p:cBhvr>
                                        <p:cTn id="8" dur="1000" fill="hold"/>
                                        <p:tgtEl>
                                          <p:spTgt spid="12291"/>
                                        </p:tgtEl>
                                        <p:attrNameLst>
                                          <p:attrName>ppt_x</p:attrName>
                                        </p:attrNameLst>
                                      </p:cBhvr>
                                      <p:tavLst>
                                        <p:tav tm="0">
                                          <p:val>
                                            <p:strVal val="#ppt_x"/>
                                          </p:val>
                                        </p:tav>
                                        <p:tav tm="100000">
                                          <p:val>
                                            <p:strVal val="#ppt_x"/>
                                          </p:val>
                                        </p:tav>
                                      </p:tavLst>
                                    </p:anim>
                                    <p:anim calcmode="lin" valueType="num">
                                      <p:cBhvr>
                                        <p:cTn id="9" dur="1000" fill="hold"/>
                                        <p:tgtEl>
                                          <p:spTgt spid="1229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292"/>
                                        </p:tgtEl>
                                        <p:attrNameLst>
                                          <p:attrName>style.visibility</p:attrName>
                                        </p:attrNameLst>
                                      </p:cBhvr>
                                      <p:to>
                                        <p:strVal val="visible"/>
                                      </p:to>
                                    </p:set>
                                    <p:animEffect transition="in" filter="fade">
                                      <p:cBhvr>
                                        <p:cTn id="14" dur="1000"/>
                                        <p:tgtEl>
                                          <p:spTgt spid="12292"/>
                                        </p:tgtEl>
                                      </p:cBhvr>
                                    </p:animEffect>
                                    <p:anim calcmode="lin" valueType="num">
                                      <p:cBhvr>
                                        <p:cTn id="15" dur="1000" fill="hold"/>
                                        <p:tgtEl>
                                          <p:spTgt spid="12292"/>
                                        </p:tgtEl>
                                        <p:attrNameLst>
                                          <p:attrName>ppt_x</p:attrName>
                                        </p:attrNameLst>
                                      </p:cBhvr>
                                      <p:tavLst>
                                        <p:tav tm="0">
                                          <p:val>
                                            <p:strVal val="#ppt_x"/>
                                          </p:val>
                                        </p:tav>
                                        <p:tav tm="100000">
                                          <p:val>
                                            <p:strVal val="#ppt_x"/>
                                          </p:val>
                                        </p:tav>
                                      </p:tavLst>
                                    </p:anim>
                                    <p:anim calcmode="lin" valueType="num">
                                      <p:cBhvr>
                                        <p:cTn id="16" dur="1000" fill="hold"/>
                                        <p:tgtEl>
                                          <p:spTgt spid="1229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animBg="1"/>
      <p:bldP spid="1229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BF4A5977-37F7-401B-A836-07D8996F8A37}"/>
              </a:ext>
            </a:extLst>
          </p:cNvPr>
          <p:cNvSpPr>
            <a:spLocks noGrp="1" noChangeArrowheads="1"/>
          </p:cNvSpPr>
          <p:nvPr>
            <p:ph type="title"/>
          </p:nvPr>
        </p:nvSpPr>
        <p:spPr>
          <a:xfrm>
            <a:off x="1139396" y="370262"/>
            <a:ext cx="7610739" cy="832115"/>
          </a:xfrm>
        </p:spPr>
        <p:txBody>
          <a:bodyPr/>
          <a:lstStyle/>
          <a:p>
            <a:pPr>
              <a:defRPr/>
            </a:pPr>
            <a:r>
              <a:rPr lang="en-GB" altLang="en-US" b="1" dirty="0">
                <a:ea typeface="+mj-ea"/>
              </a:rPr>
              <a:t>SMART(ER) OBJECTIVES</a:t>
            </a:r>
          </a:p>
        </p:txBody>
      </p:sp>
      <p:sp>
        <p:nvSpPr>
          <p:cNvPr id="15363" name="Rectangle 3">
            <a:extLst>
              <a:ext uri="{FF2B5EF4-FFF2-40B4-BE49-F238E27FC236}">
                <a16:creationId xmlns:a16="http://schemas.microsoft.com/office/drawing/2014/main" id="{C01CECB8-13B3-4941-8BF1-F6AEAEA949E8}"/>
              </a:ext>
            </a:extLst>
          </p:cNvPr>
          <p:cNvSpPr>
            <a:spLocks noGrp="1" noChangeArrowheads="1"/>
          </p:cNvSpPr>
          <p:nvPr>
            <p:ph type="body" idx="4294967295"/>
          </p:nvPr>
        </p:nvSpPr>
        <p:spPr>
          <a:xfrm>
            <a:off x="353504" y="1303396"/>
            <a:ext cx="6848740" cy="4139406"/>
          </a:xfrm>
        </p:spPr>
        <p:txBody>
          <a:bodyPr>
            <a:normAutofit/>
          </a:bodyPr>
          <a:lstStyle/>
          <a:p>
            <a:pPr>
              <a:defRPr/>
            </a:pPr>
            <a:r>
              <a:rPr lang="en-GB" altLang="en-US" sz="2800" b="1" dirty="0">
                <a:solidFill>
                  <a:schemeClr val="accent1"/>
                </a:solidFill>
                <a:ea typeface="+mn-ea"/>
              </a:rPr>
              <a:t>S</a:t>
            </a:r>
            <a:r>
              <a:rPr lang="en-GB" altLang="en-US" sz="2800" b="1" dirty="0">
                <a:ea typeface="+mn-ea"/>
              </a:rPr>
              <a:t>pecific</a:t>
            </a:r>
          </a:p>
          <a:p>
            <a:pPr>
              <a:defRPr/>
            </a:pPr>
            <a:r>
              <a:rPr lang="en-GB" altLang="en-US" sz="2800" b="1" dirty="0">
                <a:solidFill>
                  <a:schemeClr val="accent1"/>
                </a:solidFill>
                <a:ea typeface="+mn-ea"/>
              </a:rPr>
              <a:t>M</a:t>
            </a:r>
            <a:r>
              <a:rPr lang="en-GB" altLang="en-US" sz="2800" b="1" dirty="0">
                <a:ea typeface="+mn-ea"/>
              </a:rPr>
              <a:t>easurable</a:t>
            </a:r>
          </a:p>
          <a:p>
            <a:pPr>
              <a:defRPr/>
            </a:pPr>
            <a:r>
              <a:rPr lang="en-GB" altLang="en-US" sz="2800" b="1" dirty="0">
                <a:solidFill>
                  <a:schemeClr val="accent1"/>
                </a:solidFill>
                <a:ea typeface="+mn-ea"/>
              </a:rPr>
              <a:t>A</a:t>
            </a:r>
            <a:r>
              <a:rPr lang="en-GB" altLang="en-US" sz="2800" b="1" dirty="0">
                <a:ea typeface="+mn-ea"/>
              </a:rPr>
              <a:t>chievable</a:t>
            </a:r>
          </a:p>
          <a:p>
            <a:pPr>
              <a:defRPr/>
            </a:pPr>
            <a:r>
              <a:rPr lang="en-GB" altLang="en-US" sz="2800" b="1" dirty="0">
                <a:solidFill>
                  <a:schemeClr val="accent1"/>
                </a:solidFill>
                <a:ea typeface="+mn-ea"/>
              </a:rPr>
              <a:t>R</a:t>
            </a:r>
            <a:r>
              <a:rPr lang="en-GB" altLang="en-US" sz="2800" b="1" dirty="0">
                <a:ea typeface="+mn-ea"/>
              </a:rPr>
              <a:t>ealistic</a:t>
            </a:r>
          </a:p>
          <a:p>
            <a:pPr>
              <a:defRPr/>
            </a:pPr>
            <a:r>
              <a:rPr lang="en-GB" altLang="en-US" sz="2800" b="1" dirty="0">
                <a:solidFill>
                  <a:schemeClr val="accent1"/>
                </a:solidFill>
                <a:ea typeface="+mn-ea"/>
              </a:rPr>
              <a:t>T</a:t>
            </a:r>
            <a:r>
              <a:rPr lang="en-GB" altLang="en-US" sz="2800" b="1" dirty="0">
                <a:ea typeface="+mn-ea"/>
              </a:rPr>
              <a:t>ime-bound</a:t>
            </a:r>
          </a:p>
          <a:p>
            <a:pPr>
              <a:defRPr/>
            </a:pPr>
            <a:r>
              <a:rPr lang="en-GB" altLang="en-US" sz="2800" b="1" dirty="0">
                <a:solidFill>
                  <a:schemeClr val="accent1"/>
                </a:solidFill>
                <a:ea typeface="+mn-ea"/>
              </a:rPr>
              <a:t>E</a:t>
            </a:r>
            <a:r>
              <a:rPr lang="en-GB" altLang="en-US" sz="2800" b="1" dirty="0">
                <a:ea typeface="+mn-ea"/>
              </a:rPr>
              <a:t>valuated</a:t>
            </a:r>
          </a:p>
          <a:p>
            <a:pPr>
              <a:defRPr/>
            </a:pPr>
            <a:r>
              <a:rPr lang="en-GB" altLang="en-US" sz="2800" b="1" dirty="0">
                <a:solidFill>
                  <a:schemeClr val="accent1"/>
                </a:solidFill>
                <a:ea typeface="+mn-ea"/>
              </a:rPr>
              <a:t>R</a:t>
            </a:r>
            <a:r>
              <a:rPr lang="en-GB" altLang="en-US" sz="2800" b="1" dirty="0">
                <a:ea typeface="+mn-ea"/>
              </a:rPr>
              <a:t>eviewed</a:t>
            </a:r>
          </a:p>
        </p:txBody>
      </p:sp>
      <p:pic>
        <p:nvPicPr>
          <p:cNvPr id="18436" name="Picture 4" descr="dart and target">
            <a:extLst>
              <a:ext uri="{FF2B5EF4-FFF2-40B4-BE49-F238E27FC236}">
                <a16:creationId xmlns:a16="http://schemas.microsoft.com/office/drawing/2014/main" id="{75000A25-7FC6-4551-8EA7-29C9FD098D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0701" y="786319"/>
            <a:ext cx="1724102" cy="2705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DF3DC7E6-ABA6-4F55-BE19-34BEFF571597}"/>
              </a:ext>
            </a:extLst>
          </p:cNvPr>
          <p:cNvSpPr txBox="1"/>
          <p:nvPr/>
        </p:nvSpPr>
        <p:spPr>
          <a:xfrm>
            <a:off x="3315531" y="2763911"/>
            <a:ext cx="1161137" cy="400110"/>
          </a:xfrm>
          <a:prstGeom prst="rect">
            <a:avLst/>
          </a:prstGeom>
          <a:noFill/>
        </p:spPr>
        <p:txBody>
          <a:bodyPr wrap="square" rtlCol="0">
            <a:spAutoFit/>
          </a:bodyPr>
          <a:lstStyle/>
          <a:p>
            <a:r>
              <a:rPr lang="en-GB" sz="2000" b="1" dirty="0"/>
              <a:t>or  3 Ms     </a:t>
            </a:r>
          </a:p>
        </p:txBody>
      </p:sp>
      <p:sp>
        <p:nvSpPr>
          <p:cNvPr id="3" name="TextBox 2">
            <a:extLst>
              <a:ext uri="{FF2B5EF4-FFF2-40B4-BE49-F238E27FC236}">
                <a16:creationId xmlns:a16="http://schemas.microsoft.com/office/drawing/2014/main" id="{427CD887-5A8D-45AD-97EE-6084A4EC122D}"/>
              </a:ext>
            </a:extLst>
          </p:cNvPr>
          <p:cNvSpPr txBox="1"/>
          <p:nvPr/>
        </p:nvSpPr>
        <p:spPr>
          <a:xfrm>
            <a:off x="4572000" y="2133475"/>
            <a:ext cx="2314864" cy="2278188"/>
          </a:xfrm>
          <a:prstGeom prst="rect">
            <a:avLst/>
          </a:prstGeom>
          <a:noFill/>
        </p:spPr>
        <p:txBody>
          <a:bodyPr wrap="none" rtlCol="0">
            <a:spAutoFit/>
          </a:bodyPr>
          <a:lstStyle/>
          <a:p>
            <a:r>
              <a:rPr lang="en-GB" sz="3200" dirty="0">
                <a:solidFill>
                  <a:schemeClr val="accent1"/>
                </a:solidFill>
              </a:rPr>
              <a:t>M</a:t>
            </a:r>
            <a:r>
              <a:rPr lang="en-GB" sz="3200" dirty="0"/>
              <a:t>otivational</a:t>
            </a:r>
          </a:p>
          <a:p>
            <a:r>
              <a:rPr lang="en-GB" sz="3200" dirty="0">
                <a:solidFill>
                  <a:schemeClr val="accent1"/>
                </a:solidFill>
              </a:rPr>
              <a:t>M</a:t>
            </a:r>
            <a:r>
              <a:rPr lang="en-GB" sz="3200" dirty="0"/>
              <a:t>anageable</a:t>
            </a:r>
          </a:p>
          <a:p>
            <a:r>
              <a:rPr lang="en-GB" sz="3200" dirty="0">
                <a:solidFill>
                  <a:schemeClr val="accent1"/>
                </a:solidFill>
              </a:rPr>
              <a:t>M</a:t>
            </a:r>
            <a:r>
              <a:rPr lang="en-GB" sz="3200" dirty="0"/>
              <a:t>easurable</a:t>
            </a:r>
          </a:p>
          <a:p>
            <a:endParaRPr lang="en-GB" sz="3200" dirty="0"/>
          </a:p>
          <a:p>
            <a:r>
              <a:rPr lang="en-GB" dirty="0"/>
              <a:t>	</a:t>
            </a:r>
          </a:p>
        </p:txBody>
      </p:sp>
    </p:spTree>
    <p:extLst>
      <p:ext uri="{BB962C8B-B14F-4D97-AF65-F5344CB8AC3E}">
        <p14:creationId xmlns:p14="http://schemas.microsoft.com/office/powerpoint/2010/main" val="61211688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P spid="15363" grpId="0"/>
      <p:bldP spid="2"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CCF336E0-C4C0-41FC-AC03-240C313F9176}"/>
              </a:ext>
            </a:extLst>
          </p:cNvPr>
          <p:cNvSpPr>
            <a:spLocks noGrp="1" noChangeArrowheads="1"/>
          </p:cNvSpPr>
          <p:nvPr>
            <p:ph type="title"/>
          </p:nvPr>
        </p:nvSpPr>
        <p:spPr>
          <a:xfrm>
            <a:off x="1127521" y="426633"/>
            <a:ext cx="7610739" cy="694532"/>
          </a:xfrm>
        </p:spPr>
        <p:txBody>
          <a:bodyPr vert="horz" lIns="76191" tIns="38095" rIns="76191" bIns="38095" rtlCol="0" anchor="t">
            <a:normAutofit/>
          </a:bodyPr>
          <a:lstStyle/>
          <a:p>
            <a:pPr>
              <a:defRPr/>
            </a:pPr>
            <a:r>
              <a:rPr lang="en-US" altLang="en-US" sz="3000" b="1" dirty="0">
                <a:latin typeface="+mn-lt"/>
              </a:rPr>
              <a:t>OBJECTIVES</a:t>
            </a:r>
            <a:endParaRPr lang="en-US" altLang="en-US" b="1" dirty="0">
              <a:latin typeface="+mn-lt"/>
              <a:ea typeface="+mj-ea"/>
            </a:endParaRPr>
          </a:p>
        </p:txBody>
      </p:sp>
      <p:sp>
        <p:nvSpPr>
          <p:cNvPr id="19459" name="Text Box 3">
            <a:extLst>
              <a:ext uri="{FF2B5EF4-FFF2-40B4-BE49-F238E27FC236}">
                <a16:creationId xmlns:a16="http://schemas.microsoft.com/office/drawing/2014/main" id="{7BE56C50-0F65-4149-A672-3C86DE3AC451}"/>
              </a:ext>
            </a:extLst>
          </p:cNvPr>
          <p:cNvSpPr txBox="1">
            <a:spLocks noChangeArrowheads="1"/>
          </p:cNvSpPr>
          <p:nvPr/>
        </p:nvSpPr>
        <p:spPr bwMode="auto">
          <a:xfrm>
            <a:off x="1725257" y="1577506"/>
            <a:ext cx="1211147" cy="3153738"/>
          </a:xfrm>
          <a:prstGeom prst="rect">
            <a:avLst/>
          </a:prstGeom>
          <a:noFill/>
          <a:ln w="28575">
            <a:solidFill>
              <a:srgbClr val="000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6191" tIns="38095" rIns="76191" bIns="38095">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sz="1333" dirty="0">
                <a:latin typeface="Verdana" panose="020B0604030504040204" pitchFamily="34" charset="0"/>
              </a:rPr>
              <a:t>To Reduce</a:t>
            </a:r>
          </a:p>
          <a:p>
            <a:endParaRPr lang="en-US" altLang="en-US" sz="1333" dirty="0">
              <a:latin typeface="Verdana" panose="020B0604030504040204" pitchFamily="34" charset="0"/>
            </a:endParaRPr>
          </a:p>
          <a:p>
            <a:endParaRPr lang="en-US" altLang="en-US" sz="1333" dirty="0">
              <a:latin typeface="Verdana" panose="020B0604030504040204" pitchFamily="34" charset="0"/>
            </a:endParaRPr>
          </a:p>
          <a:p>
            <a:r>
              <a:rPr lang="en-US" altLang="en-US" sz="1333" dirty="0">
                <a:latin typeface="Verdana" panose="020B0604030504040204" pitchFamily="34" charset="0"/>
              </a:rPr>
              <a:t>To Improve</a:t>
            </a:r>
          </a:p>
          <a:p>
            <a:endParaRPr lang="en-US" altLang="en-US" sz="1333" dirty="0">
              <a:latin typeface="Verdana" panose="020B0604030504040204" pitchFamily="34" charset="0"/>
            </a:endParaRPr>
          </a:p>
          <a:p>
            <a:endParaRPr lang="en-US" altLang="en-US" sz="1333" dirty="0">
              <a:latin typeface="Verdana" panose="020B0604030504040204" pitchFamily="34" charset="0"/>
            </a:endParaRPr>
          </a:p>
          <a:p>
            <a:endParaRPr lang="en-US" altLang="en-US" sz="1333" dirty="0">
              <a:latin typeface="Verdana" panose="020B0604030504040204" pitchFamily="34" charset="0"/>
            </a:endParaRPr>
          </a:p>
          <a:p>
            <a:r>
              <a:rPr lang="en-US" altLang="en-US" sz="1333" dirty="0">
                <a:latin typeface="Verdana" panose="020B0604030504040204" pitchFamily="34" charset="0"/>
              </a:rPr>
              <a:t>To Eliminate</a:t>
            </a:r>
          </a:p>
          <a:p>
            <a:endParaRPr lang="en-US" altLang="en-US" sz="1333" dirty="0">
              <a:latin typeface="Verdana" panose="020B0604030504040204" pitchFamily="34" charset="0"/>
            </a:endParaRPr>
          </a:p>
          <a:p>
            <a:endParaRPr lang="en-US" altLang="en-US" sz="1333" dirty="0">
              <a:latin typeface="Verdana" panose="020B0604030504040204" pitchFamily="34" charset="0"/>
            </a:endParaRPr>
          </a:p>
          <a:p>
            <a:endParaRPr lang="en-US" altLang="en-US" sz="1333" dirty="0">
              <a:latin typeface="Verdana" panose="020B0604030504040204" pitchFamily="34" charset="0"/>
            </a:endParaRPr>
          </a:p>
          <a:p>
            <a:r>
              <a:rPr lang="en-US" altLang="en-US" sz="1333" dirty="0">
                <a:latin typeface="Verdana" panose="020B0604030504040204" pitchFamily="34" charset="0"/>
              </a:rPr>
              <a:t>To Speed up</a:t>
            </a:r>
          </a:p>
          <a:p>
            <a:endParaRPr lang="en-US" altLang="en-US" sz="1333" dirty="0">
              <a:latin typeface="Verdana" panose="020B0604030504040204" pitchFamily="34" charset="0"/>
            </a:endParaRPr>
          </a:p>
          <a:p>
            <a:endParaRPr lang="en-US" altLang="en-US" sz="1333" dirty="0">
              <a:latin typeface="Verdana" panose="020B0604030504040204" pitchFamily="34" charset="0"/>
            </a:endParaRPr>
          </a:p>
          <a:p>
            <a:r>
              <a:rPr lang="en-US" altLang="en-US" sz="1333" dirty="0">
                <a:latin typeface="Verdana" panose="020B0604030504040204" pitchFamily="34" charset="0"/>
              </a:rPr>
              <a:t>To Increase</a:t>
            </a:r>
          </a:p>
        </p:txBody>
      </p:sp>
      <p:sp>
        <p:nvSpPr>
          <p:cNvPr id="19460" name="Text Box 4">
            <a:extLst>
              <a:ext uri="{FF2B5EF4-FFF2-40B4-BE49-F238E27FC236}">
                <a16:creationId xmlns:a16="http://schemas.microsoft.com/office/drawing/2014/main" id="{D11E5794-F3BD-4546-A7C5-18517071B314}"/>
              </a:ext>
            </a:extLst>
          </p:cNvPr>
          <p:cNvSpPr txBox="1">
            <a:spLocks noChangeArrowheads="1"/>
          </p:cNvSpPr>
          <p:nvPr/>
        </p:nvSpPr>
        <p:spPr bwMode="auto">
          <a:xfrm>
            <a:off x="3249256" y="1577506"/>
            <a:ext cx="1471083" cy="3358858"/>
          </a:xfrm>
          <a:prstGeom prst="rect">
            <a:avLst/>
          </a:prstGeom>
          <a:noFill/>
          <a:ln w="28575">
            <a:solidFill>
              <a:srgbClr val="000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6191" tIns="38095" rIns="76191" bIns="38095">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sz="1333" dirty="0">
                <a:latin typeface="Verdana" panose="020B0604030504040204" pitchFamily="34" charset="0"/>
              </a:rPr>
              <a:t>Waste</a:t>
            </a:r>
          </a:p>
          <a:p>
            <a:endParaRPr lang="en-US" altLang="en-US" sz="1333" dirty="0">
              <a:latin typeface="Verdana" panose="020B0604030504040204" pitchFamily="34" charset="0"/>
            </a:endParaRPr>
          </a:p>
          <a:p>
            <a:r>
              <a:rPr lang="en-US" altLang="en-US" sz="1333" dirty="0">
                <a:latin typeface="Verdana" panose="020B0604030504040204" pitchFamily="34" charset="0"/>
              </a:rPr>
              <a:t>Customer Service</a:t>
            </a:r>
          </a:p>
          <a:p>
            <a:r>
              <a:rPr lang="en-US" altLang="en-US" sz="1333" dirty="0">
                <a:latin typeface="Verdana" panose="020B0604030504040204" pitchFamily="34" charset="0"/>
              </a:rPr>
              <a:t>Enquiries responses</a:t>
            </a:r>
          </a:p>
          <a:p>
            <a:endParaRPr lang="en-US" altLang="en-US" sz="1333" dirty="0">
              <a:latin typeface="Verdana" panose="020B0604030504040204" pitchFamily="34" charset="0"/>
            </a:endParaRPr>
          </a:p>
          <a:p>
            <a:r>
              <a:rPr lang="en-US" altLang="en-US" sz="1333" dirty="0">
                <a:latin typeface="Verdana" panose="020B0604030504040204" pitchFamily="34" charset="0"/>
              </a:rPr>
              <a:t>Error</a:t>
            </a:r>
          </a:p>
          <a:p>
            <a:r>
              <a:rPr lang="en-US" altLang="en-US" sz="1333" dirty="0">
                <a:latin typeface="Verdana" panose="020B0604030504040204" pitchFamily="34" charset="0"/>
              </a:rPr>
              <a:t>Response times</a:t>
            </a:r>
          </a:p>
          <a:p>
            <a:endParaRPr lang="en-US" altLang="en-US" sz="1333" dirty="0">
              <a:latin typeface="Verdana" panose="020B0604030504040204" pitchFamily="34" charset="0"/>
            </a:endParaRPr>
          </a:p>
          <a:p>
            <a:r>
              <a:rPr lang="en-US" altLang="en-US" sz="1333" dirty="0">
                <a:latin typeface="Verdana" panose="020B0604030504040204" pitchFamily="34" charset="0"/>
              </a:rPr>
              <a:t>Productivity</a:t>
            </a:r>
          </a:p>
          <a:p>
            <a:endParaRPr lang="en-US" altLang="en-US" sz="1333" dirty="0">
              <a:latin typeface="Verdana" panose="020B0604030504040204" pitchFamily="34" charset="0"/>
            </a:endParaRPr>
          </a:p>
          <a:p>
            <a:endParaRPr lang="en-US" altLang="en-US" sz="1333" dirty="0">
              <a:latin typeface="Verdana" panose="020B0604030504040204" pitchFamily="34" charset="0"/>
            </a:endParaRPr>
          </a:p>
          <a:p>
            <a:r>
              <a:rPr lang="en-US" altLang="en-US" sz="1333" dirty="0">
                <a:latin typeface="Verdana" panose="020B0604030504040204" pitchFamily="34" charset="0"/>
              </a:rPr>
              <a:t>Market share of X</a:t>
            </a:r>
          </a:p>
        </p:txBody>
      </p:sp>
      <p:sp>
        <p:nvSpPr>
          <p:cNvPr id="19461" name="Text Box 5">
            <a:extLst>
              <a:ext uri="{FF2B5EF4-FFF2-40B4-BE49-F238E27FC236}">
                <a16:creationId xmlns:a16="http://schemas.microsoft.com/office/drawing/2014/main" id="{A9AB7AB4-BFB2-4AB0-8B76-60757EA94FF0}"/>
              </a:ext>
            </a:extLst>
          </p:cNvPr>
          <p:cNvSpPr txBox="1">
            <a:spLocks noChangeArrowheads="1"/>
          </p:cNvSpPr>
          <p:nvPr/>
        </p:nvSpPr>
        <p:spPr bwMode="auto">
          <a:xfrm>
            <a:off x="5027256" y="1577506"/>
            <a:ext cx="1333500" cy="3358858"/>
          </a:xfrm>
          <a:prstGeom prst="rect">
            <a:avLst/>
          </a:prstGeom>
          <a:noFill/>
          <a:ln w="28575">
            <a:solidFill>
              <a:srgbClr val="000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6191" tIns="38095" rIns="76191" bIns="38095">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sz="1333" dirty="0">
                <a:latin typeface="Verdana" panose="020B0604030504040204" pitchFamily="34" charset="0"/>
              </a:rPr>
              <a:t>By 5%</a:t>
            </a:r>
          </a:p>
          <a:p>
            <a:endParaRPr lang="en-US" altLang="en-US" sz="1333" dirty="0">
              <a:latin typeface="Verdana" panose="020B0604030504040204" pitchFamily="34" charset="0"/>
            </a:endParaRPr>
          </a:p>
          <a:p>
            <a:endParaRPr lang="en-US" altLang="en-US" sz="1333" dirty="0">
              <a:latin typeface="Verdana" panose="020B0604030504040204" pitchFamily="34" charset="0"/>
            </a:endParaRPr>
          </a:p>
          <a:p>
            <a:r>
              <a:rPr lang="en-US" altLang="en-US" sz="1333" dirty="0">
                <a:latin typeface="Verdana" panose="020B0604030504040204" pitchFamily="34" charset="0"/>
              </a:rPr>
              <a:t>From X days To Y days</a:t>
            </a:r>
          </a:p>
          <a:p>
            <a:endParaRPr lang="en-US" altLang="en-US" sz="1333" dirty="0">
              <a:latin typeface="Verdana" panose="020B0604030504040204" pitchFamily="34" charset="0"/>
            </a:endParaRPr>
          </a:p>
          <a:p>
            <a:endParaRPr lang="en-US" altLang="en-US" sz="1333" dirty="0">
              <a:latin typeface="Verdana" panose="020B0604030504040204" pitchFamily="34" charset="0"/>
            </a:endParaRPr>
          </a:p>
          <a:p>
            <a:endParaRPr lang="en-US" altLang="en-US" sz="1333" dirty="0">
              <a:latin typeface="Verdana" panose="020B0604030504040204" pitchFamily="34" charset="0"/>
            </a:endParaRPr>
          </a:p>
          <a:p>
            <a:r>
              <a:rPr lang="en-US" altLang="en-US" sz="1333" dirty="0">
                <a:latin typeface="Verdana" panose="020B0604030504040204" pitchFamily="34" charset="0"/>
              </a:rPr>
              <a:t>To Zero</a:t>
            </a:r>
          </a:p>
          <a:p>
            <a:endParaRPr lang="en-US" altLang="en-US" sz="1333" dirty="0">
              <a:latin typeface="Verdana" panose="020B0604030504040204" pitchFamily="34" charset="0"/>
            </a:endParaRPr>
          </a:p>
          <a:p>
            <a:endParaRPr lang="en-US" altLang="en-US" sz="1333" dirty="0">
              <a:latin typeface="Verdana" panose="020B0604030504040204" pitchFamily="34" charset="0"/>
            </a:endParaRPr>
          </a:p>
          <a:p>
            <a:r>
              <a:rPr lang="en-US" altLang="en-US" sz="1333" dirty="0">
                <a:latin typeface="Verdana" panose="020B0604030504040204" pitchFamily="34" charset="0"/>
              </a:rPr>
              <a:t>From 3Hours </a:t>
            </a:r>
          </a:p>
          <a:p>
            <a:r>
              <a:rPr lang="en-US" altLang="en-US" sz="1333" dirty="0">
                <a:latin typeface="Verdana" panose="020B0604030504040204" pitchFamily="34" charset="0"/>
              </a:rPr>
              <a:t>To 1 Hour</a:t>
            </a:r>
          </a:p>
          <a:p>
            <a:endParaRPr lang="en-US" altLang="en-US" sz="1333" dirty="0">
              <a:latin typeface="Verdana" panose="020B0604030504040204" pitchFamily="34" charset="0"/>
            </a:endParaRPr>
          </a:p>
          <a:p>
            <a:r>
              <a:rPr lang="en-US" altLang="en-US" sz="1333" dirty="0">
                <a:latin typeface="Verdana" panose="020B0604030504040204" pitchFamily="34" charset="0"/>
              </a:rPr>
              <a:t>From 5% to 7% </a:t>
            </a:r>
          </a:p>
        </p:txBody>
      </p:sp>
      <p:sp>
        <p:nvSpPr>
          <p:cNvPr id="19462" name="Text Box 6">
            <a:extLst>
              <a:ext uri="{FF2B5EF4-FFF2-40B4-BE49-F238E27FC236}">
                <a16:creationId xmlns:a16="http://schemas.microsoft.com/office/drawing/2014/main" id="{51B66C08-5219-4F8B-A167-C46AB9516D47}"/>
              </a:ext>
            </a:extLst>
          </p:cNvPr>
          <p:cNvSpPr txBox="1">
            <a:spLocks noChangeArrowheads="1"/>
          </p:cNvSpPr>
          <p:nvPr/>
        </p:nvSpPr>
        <p:spPr bwMode="auto">
          <a:xfrm>
            <a:off x="6614757" y="1577506"/>
            <a:ext cx="1600729" cy="3358858"/>
          </a:xfrm>
          <a:prstGeom prst="rect">
            <a:avLst/>
          </a:prstGeom>
          <a:noFill/>
          <a:ln w="28575">
            <a:solidFill>
              <a:srgbClr val="000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6191" tIns="38095" rIns="76191" bIns="38095">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r>
              <a:rPr lang="en-US" altLang="en-US" sz="1333" dirty="0">
                <a:latin typeface="Verdana" panose="020B0604030504040204" pitchFamily="34" charset="0"/>
              </a:rPr>
              <a:t>By Dec 2019.</a:t>
            </a:r>
          </a:p>
          <a:p>
            <a:endParaRPr lang="en-US" altLang="en-US" sz="1333" dirty="0">
              <a:latin typeface="Verdana" panose="020B0604030504040204" pitchFamily="34" charset="0"/>
            </a:endParaRPr>
          </a:p>
          <a:p>
            <a:endParaRPr lang="en-US" altLang="en-US" sz="1333" dirty="0">
              <a:latin typeface="Verdana" panose="020B0604030504040204" pitchFamily="34" charset="0"/>
            </a:endParaRPr>
          </a:p>
          <a:p>
            <a:r>
              <a:rPr lang="en-US" altLang="en-US" sz="1333" dirty="0">
                <a:latin typeface="Verdana" panose="020B0604030504040204" pitchFamily="34" charset="0"/>
              </a:rPr>
              <a:t>From June To</a:t>
            </a:r>
          </a:p>
          <a:p>
            <a:r>
              <a:rPr lang="en-US" altLang="en-US" sz="1333" dirty="0">
                <a:latin typeface="Verdana" panose="020B0604030504040204" pitchFamily="34" charset="0"/>
              </a:rPr>
              <a:t>November 2019.</a:t>
            </a:r>
          </a:p>
          <a:p>
            <a:endParaRPr lang="en-US" altLang="en-US" sz="1333" dirty="0">
              <a:latin typeface="Verdana" panose="020B0604030504040204" pitchFamily="34" charset="0"/>
            </a:endParaRPr>
          </a:p>
          <a:p>
            <a:endParaRPr lang="en-US" altLang="en-US" sz="1333" dirty="0">
              <a:latin typeface="Verdana" panose="020B0604030504040204" pitchFamily="34" charset="0"/>
            </a:endParaRPr>
          </a:p>
          <a:p>
            <a:endParaRPr lang="en-US" altLang="en-US" sz="1333" dirty="0">
              <a:latin typeface="Verdana" panose="020B0604030504040204" pitchFamily="34" charset="0"/>
            </a:endParaRPr>
          </a:p>
          <a:p>
            <a:r>
              <a:rPr lang="en-US" altLang="en-US" sz="1333" dirty="0">
                <a:latin typeface="Verdana" panose="020B0604030504040204" pitchFamily="34" charset="0"/>
              </a:rPr>
              <a:t>By December</a:t>
            </a:r>
          </a:p>
          <a:p>
            <a:r>
              <a:rPr lang="en-US" altLang="en-US" sz="1333" dirty="0">
                <a:latin typeface="Verdana" panose="020B0604030504040204" pitchFamily="34" charset="0"/>
              </a:rPr>
              <a:t>2019</a:t>
            </a:r>
          </a:p>
          <a:p>
            <a:endParaRPr lang="en-US" altLang="en-US" sz="1333" dirty="0">
              <a:latin typeface="Verdana" panose="020B0604030504040204" pitchFamily="34" charset="0"/>
            </a:endParaRPr>
          </a:p>
          <a:p>
            <a:r>
              <a:rPr lang="en-US" altLang="en-US" sz="1333" dirty="0">
                <a:latin typeface="Verdana" panose="020B0604030504040204" pitchFamily="34" charset="0"/>
              </a:rPr>
              <a:t>By the End Of </a:t>
            </a:r>
          </a:p>
          <a:p>
            <a:r>
              <a:rPr lang="en-US" altLang="en-US" sz="1333" dirty="0">
                <a:latin typeface="Verdana" panose="020B0604030504040204" pitchFamily="34" charset="0"/>
              </a:rPr>
              <a:t>The Month.</a:t>
            </a:r>
          </a:p>
          <a:p>
            <a:endParaRPr lang="en-US" altLang="en-US" sz="1333" dirty="0">
              <a:latin typeface="Verdana" panose="020B0604030504040204" pitchFamily="34" charset="0"/>
            </a:endParaRPr>
          </a:p>
          <a:p>
            <a:r>
              <a:rPr lang="en-US" altLang="en-US" sz="1333" dirty="0">
                <a:latin typeface="Verdana" panose="020B0604030504040204" pitchFamily="34" charset="0"/>
              </a:rPr>
              <a:t>Within 3 months.</a:t>
            </a:r>
          </a:p>
        </p:txBody>
      </p:sp>
      <p:sp>
        <p:nvSpPr>
          <p:cNvPr id="2" name="TextBox 1">
            <a:extLst>
              <a:ext uri="{FF2B5EF4-FFF2-40B4-BE49-F238E27FC236}">
                <a16:creationId xmlns:a16="http://schemas.microsoft.com/office/drawing/2014/main" id="{496FF3A1-BC87-4921-8C86-BA1D2F39C036}"/>
              </a:ext>
            </a:extLst>
          </p:cNvPr>
          <p:cNvSpPr txBox="1"/>
          <p:nvPr/>
        </p:nvSpPr>
        <p:spPr>
          <a:xfrm flipH="1">
            <a:off x="1725257" y="1049913"/>
            <a:ext cx="6794329"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pPr>
              <a:defRPr/>
            </a:pPr>
            <a:r>
              <a:rPr lang="en-GB" sz="2000" b="1" dirty="0">
                <a:solidFill>
                  <a:srgbClr val="00B050"/>
                </a:solidFill>
                <a:ea typeface="ＭＳ Ｐゴシック" panose="020B0600070205080204" pitchFamily="34" charset="-128"/>
              </a:rPr>
              <a:t>Action                 What              Measurement          Timeframe </a:t>
            </a:r>
          </a:p>
        </p:txBody>
      </p:sp>
    </p:spTree>
    <p:extLst>
      <p:ext uri="{BB962C8B-B14F-4D97-AF65-F5344CB8AC3E}">
        <p14:creationId xmlns:p14="http://schemas.microsoft.com/office/powerpoint/2010/main" val="31483611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4" descr="dart and target">
            <a:extLst>
              <a:ext uri="{FF2B5EF4-FFF2-40B4-BE49-F238E27FC236}">
                <a16:creationId xmlns:a16="http://schemas.microsoft.com/office/drawing/2014/main" id="{DE944AC1-D69A-484B-80A3-1C090AB67A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7810" y="1975776"/>
            <a:ext cx="1574271" cy="2469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0" name="Rectangle 2">
            <a:extLst>
              <a:ext uri="{FF2B5EF4-FFF2-40B4-BE49-F238E27FC236}">
                <a16:creationId xmlns:a16="http://schemas.microsoft.com/office/drawing/2014/main" id="{4A4AFA2C-329F-4786-ADC5-E24F1037D2E3}"/>
              </a:ext>
            </a:extLst>
          </p:cNvPr>
          <p:cNvSpPr>
            <a:spLocks noGrp="1" noChangeArrowheads="1"/>
          </p:cNvSpPr>
          <p:nvPr>
            <p:ph type="title"/>
          </p:nvPr>
        </p:nvSpPr>
        <p:spPr>
          <a:xfrm>
            <a:off x="982928" y="362449"/>
            <a:ext cx="7610739" cy="832115"/>
          </a:xfrm>
        </p:spPr>
        <p:txBody>
          <a:bodyPr/>
          <a:lstStyle/>
          <a:p>
            <a:pPr>
              <a:defRPr/>
            </a:pPr>
            <a:r>
              <a:rPr lang="en-GB" altLang="en-US" b="1" dirty="0">
                <a:latin typeface="+mn-lt"/>
                <a:ea typeface="+mj-ea"/>
              </a:rPr>
              <a:t>              SMARTER Objectives</a:t>
            </a:r>
          </a:p>
        </p:txBody>
      </p:sp>
      <p:sp>
        <p:nvSpPr>
          <p:cNvPr id="17411" name="Rectangle 3">
            <a:extLst>
              <a:ext uri="{FF2B5EF4-FFF2-40B4-BE49-F238E27FC236}">
                <a16:creationId xmlns:a16="http://schemas.microsoft.com/office/drawing/2014/main" id="{ED338A12-D268-4454-9B5C-37EE37872D75}"/>
              </a:ext>
            </a:extLst>
          </p:cNvPr>
          <p:cNvSpPr>
            <a:spLocks noGrp="1" noChangeArrowheads="1"/>
          </p:cNvSpPr>
          <p:nvPr>
            <p:ph type="body" idx="4294967295"/>
          </p:nvPr>
        </p:nvSpPr>
        <p:spPr>
          <a:xfrm>
            <a:off x="591919" y="1413164"/>
            <a:ext cx="6385891" cy="3209767"/>
          </a:xfrm>
        </p:spPr>
        <p:txBody>
          <a:bodyPr>
            <a:normAutofit fontScale="77500" lnSpcReduction="20000"/>
          </a:bodyPr>
          <a:lstStyle/>
          <a:p>
            <a:pPr>
              <a:lnSpc>
                <a:spcPct val="90000"/>
              </a:lnSpc>
              <a:defRPr/>
            </a:pPr>
            <a:r>
              <a:rPr lang="en-GB" altLang="en-US" dirty="0">
                <a:ea typeface="+mn-ea"/>
              </a:rPr>
              <a:t>In pairs write</a:t>
            </a:r>
            <a:r>
              <a:rPr lang="en-GB" altLang="en-US" dirty="0"/>
              <a:t> </a:t>
            </a:r>
            <a:r>
              <a:rPr lang="en-GB" altLang="en-US" dirty="0">
                <a:ea typeface="+mn-ea"/>
              </a:rPr>
              <a:t>3 smarter objectives for your role or </a:t>
            </a:r>
            <a:r>
              <a:rPr lang="en-GB" altLang="en-US" dirty="0"/>
              <a:t>for a member of your team</a:t>
            </a:r>
            <a:endParaRPr lang="en-GB" altLang="en-US" dirty="0">
              <a:ea typeface="+mn-ea"/>
            </a:endParaRPr>
          </a:p>
          <a:p>
            <a:pPr>
              <a:lnSpc>
                <a:spcPct val="90000"/>
              </a:lnSpc>
              <a:defRPr/>
            </a:pPr>
            <a:endParaRPr lang="en-GB" altLang="en-US" dirty="0">
              <a:ea typeface="+mn-ea"/>
            </a:endParaRPr>
          </a:p>
          <a:p>
            <a:pPr>
              <a:lnSpc>
                <a:spcPct val="90000"/>
              </a:lnSpc>
              <a:defRPr/>
            </a:pPr>
            <a:r>
              <a:rPr lang="en-GB" altLang="en-US" dirty="0">
                <a:ea typeface="+mn-ea"/>
              </a:rPr>
              <a:t>In pairs discuss whether they are SMART</a:t>
            </a:r>
          </a:p>
          <a:p>
            <a:pPr>
              <a:lnSpc>
                <a:spcPct val="90000"/>
              </a:lnSpc>
              <a:defRPr/>
            </a:pPr>
            <a:endParaRPr lang="en-GB" altLang="en-US" dirty="0"/>
          </a:p>
          <a:p>
            <a:pPr>
              <a:lnSpc>
                <a:spcPct val="90000"/>
              </a:lnSpc>
              <a:defRPr/>
            </a:pPr>
            <a:r>
              <a:rPr lang="en-GB" altLang="en-US" dirty="0"/>
              <a:t>Now</a:t>
            </a:r>
            <a:r>
              <a:rPr lang="en-GB" altLang="en-US" dirty="0">
                <a:ea typeface="+mn-ea"/>
              </a:rPr>
              <a:t> look to see if you can incorporate the 3 Ms within your objective. </a:t>
            </a:r>
          </a:p>
          <a:p>
            <a:pPr>
              <a:lnSpc>
                <a:spcPct val="90000"/>
              </a:lnSpc>
              <a:defRPr/>
            </a:pPr>
            <a:endParaRPr lang="en-GB" altLang="en-US" dirty="0">
              <a:ea typeface="+mn-ea"/>
            </a:endParaRPr>
          </a:p>
          <a:p>
            <a:pPr>
              <a:lnSpc>
                <a:spcPct val="90000"/>
              </a:lnSpc>
              <a:buFontTx/>
              <a:buNone/>
              <a:defRPr/>
            </a:pPr>
            <a:endParaRPr lang="en-GB" altLang="en-US" dirty="0">
              <a:ea typeface="+mn-ea"/>
            </a:endParaRPr>
          </a:p>
          <a:p>
            <a:pPr>
              <a:lnSpc>
                <a:spcPct val="90000"/>
              </a:lnSpc>
              <a:buFontTx/>
              <a:buNone/>
              <a:defRPr/>
            </a:pPr>
            <a:endParaRPr lang="en-GB" altLang="en-US" dirty="0">
              <a:ea typeface="+mn-ea"/>
            </a:endParaRPr>
          </a:p>
          <a:p>
            <a:pPr>
              <a:lnSpc>
                <a:spcPct val="90000"/>
              </a:lnSpc>
              <a:buFontTx/>
              <a:buNone/>
              <a:defRPr/>
            </a:pPr>
            <a:endParaRPr lang="en-GB" altLang="en-US" i="1" dirty="0">
              <a:effectLst>
                <a:outerShdw blurRad="38100" dist="38100" dir="2700000" algn="tl">
                  <a:srgbClr val="C0C0C0"/>
                </a:outerShdw>
              </a:effectLst>
              <a:ea typeface="+mn-ea"/>
            </a:endParaRPr>
          </a:p>
          <a:p>
            <a:pPr>
              <a:lnSpc>
                <a:spcPct val="90000"/>
              </a:lnSpc>
              <a:buFontTx/>
              <a:buNone/>
              <a:defRPr/>
            </a:pPr>
            <a:r>
              <a:rPr lang="en-GB" altLang="en-US" i="1" dirty="0">
                <a:effectLst>
                  <a:outerShdw blurRad="38100" dist="38100" dir="2700000" algn="tl">
                    <a:srgbClr val="C0C0C0"/>
                  </a:outerShdw>
                </a:effectLst>
                <a:ea typeface="+mn-ea"/>
              </a:rPr>
              <a:t>   </a:t>
            </a:r>
          </a:p>
        </p:txBody>
      </p:sp>
      <p:pic>
        <p:nvPicPr>
          <p:cNvPr id="20485" name="Picture 2" descr="http://www.clipartbest.com/cliparts/McL/kjy/McLkjyBXi.gif">
            <a:extLst>
              <a:ext uri="{FF2B5EF4-FFF2-40B4-BE49-F238E27FC236}">
                <a16:creationId xmlns:a16="http://schemas.microsoft.com/office/drawing/2014/main" id="{33C9D7CC-B94D-4E20-B56F-77C2920595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320" y="3819919"/>
            <a:ext cx="525198" cy="988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957332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411">
                                            <p:txEl>
                                              <p:pRg st="4" end="4"/>
                                            </p:txEl>
                                          </p:spTgt>
                                        </p:tgtEl>
                                        <p:attrNameLst>
                                          <p:attrName>style.visibility</p:attrName>
                                        </p:attrNameLst>
                                      </p:cBhvr>
                                      <p:to>
                                        <p:strVal val="visible"/>
                                      </p:to>
                                    </p:set>
                                    <p:animEffect transition="in" filter="fade">
                                      <p:cBhvr>
                                        <p:cTn id="7" dur="1000"/>
                                        <p:tgtEl>
                                          <p:spTgt spid="17411">
                                            <p:txEl>
                                              <p:pRg st="4" end="4"/>
                                            </p:txEl>
                                          </p:spTgt>
                                        </p:tgtEl>
                                      </p:cBhvr>
                                    </p:animEffect>
                                    <p:anim calcmode="lin" valueType="num">
                                      <p:cBhvr>
                                        <p:cTn id="8" dur="1000" fill="hold"/>
                                        <p:tgtEl>
                                          <p:spTgt spid="17411">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17411">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5979" y="304271"/>
            <a:ext cx="7886700" cy="1104636"/>
          </a:xfrm>
        </p:spPr>
        <p:txBody>
          <a:bodyPr/>
          <a:lstStyle/>
          <a:p>
            <a:pPr algn="ctr"/>
            <a:r>
              <a:rPr lang="en-GB" dirty="0"/>
              <a:t>Complete Activity</a:t>
            </a:r>
          </a:p>
        </p:txBody>
      </p:sp>
      <p:sp>
        <p:nvSpPr>
          <p:cNvPr id="3" name="Content Placeholder 2"/>
          <p:cNvSpPr>
            <a:spLocks noGrp="1"/>
          </p:cNvSpPr>
          <p:nvPr>
            <p:ph idx="1"/>
          </p:nvPr>
        </p:nvSpPr>
        <p:spPr>
          <a:xfrm>
            <a:off x="628650" y="1582057"/>
            <a:ext cx="5975350" cy="3565412"/>
          </a:xfrm>
        </p:spPr>
        <p:txBody>
          <a:bodyPr/>
          <a:lstStyle/>
          <a:p>
            <a:pPr marL="0" indent="0">
              <a:buNone/>
            </a:pPr>
            <a:r>
              <a:rPr lang="en-GB" dirty="0"/>
              <a:t>Think about your current or previous employer and make a few notes about the organisational targets that have involved your team.</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4239" y="1630981"/>
            <a:ext cx="2208440" cy="2104377"/>
          </a:xfrm>
          <a:prstGeom prst="rect">
            <a:avLst/>
          </a:prstGeom>
        </p:spPr>
      </p:pic>
    </p:spTree>
    <p:extLst>
      <p:ext uri="{BB962C8B-B14F-4D97-AF65-F5344CB8AC3E}">
        <p14:creationId xmlns:p14="http://schemas.microsoft.com/office/powerpoint/2010/main" val="9069743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3000" dirty="0"/>
              <a:t>KPI</a:t>
            </a:r>
          </a:p>
        </p:txBody>
      </p:sp>
      <p:sp>
        <p:nvSpPr>
          <p:cNvPr id="3" name="Content Placeholder 2"/>
          <p:cNvSpPr>
            <a:spLocks noGrp="1"/>
          </p:cNvSpPr>
          <p:nvPr>
            <p:ph idx="1"/>
          </p:nvPr>
        </p:nvSpPr>
        <p:spPr>
          <a:xfrm>
            <a:off x="534439" y="1266430"/>
            <a:ext cx="7886700" cy="3626115"/>
          </a:xfrm>
        </p:spPr>
        <p:txBody>
          <a:bodyPr/>
          <a:lstStyle/>
          <a:p>
            <a:pPr marL="0" indent="0">
              <a:buNone/>
            </a:pPr>
            <a:r>
              <a:rPr lang="en-GB" sz="2000" dirty="0"/>
              <a:t>According to the online Business Dictionary:</a:t>
            </a:r>
          </a:p>
          <a:p>
            <a:pPr marL="0" indent="0">
              <a:buNone/>
            </a:pPr>
            <a:r>
              <a:rPr lang="en-GB" sz="2000" dirty="0"/>
              <a:t>‘…KPIs show the progress (or lack of it) toward realising the firm’s objectives or strategic plan by monitoring activities, which (if not properly performed), would likely cause severe losses or outright failure.’</a:t>
            </a:r>
          </a:p>
          <a:p>
            <a:pPr marL="0" indent="0">
              <a:buNone/>
            </a:pPr>
            <a:endParaRPr lang="en-GB" sz="2000" dirty="0"/>
          </a:p>
          <a:p>
            <a:pPr marL="0" indent="0">
              <a:buNone/>
            </a:pPr>
            <a:endParaRPr lang="en-GB" sz="2000" dirty="0"/>
          </a:p>
          <a:p>
            <a:pPr marL="0" indent="0">
              <a:buNone/>
            </a:pPr>
            <a:endParaRPr lang="en-GB" dirty="0"/>
          </a:p>
        </p:txBody>
      </p:sp>
      <p:pic>
        <p:nvPicPr>
          <p:cNvPr id="5" name="Picture 4"/>
          <p:cNvPicPr>
            <a:picLocks noChangeAspect="1"/>
          </p:cNvPicPr>
          <p:nvPr/>
        </p:nvPicPr>
        <p:blipFill>
          <a:blip r:embed="rId3"/>
          <a:stretch>
            <a:fillRect/>
          </a:stretch>
        </p:blipFill>
        <p:spPr>
          <a:xfrm>
            <a:off x="3521262" y="2957972"/>
            <a:ext cx="2101475" cy="1754478"/>
          </a:xfrm>
          <a:prstGeom prst="rect">
            <a:avLst/>
          </a:prstGeom>
        </p:spPr>
      </p:pic>
    </p:spTree>
    <p:extLst>
      <p:ext uri="{BB962C8B-B14F-4D97-AF65-F5344CB8AC3E}">
        <p14:creationId xmlns:p14="http://schemas.microsoft.com/office/powerpoint/2010/main" val="383415243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Weston College - Strategic Aim &amp; KPI Examples</a:t>
            </a:r>
          </a:p>
        </p:txBody>
      </p:sp>
      <p:sp>
        <p:nvSpPr>
          <p:cNvPr id="3" name="Content Placeholder 2"/>
          <p:cNvSpPr>
            <a:spLocks noGrp="1"/>
          </p:cNvSpPr>
          <p:nvPr>
            <p:ph idx="1"/>
          </p:nvPr>
        </p:nvSpPr>
        <p:spPr/>
        <p:txBody>
          <a:bodyPr>
            <a:normAutofit/>
          </a:bodyPr>
          <a:lstStyle/>
          <a:p>
            <a:pPr marL="0" indent="0">
              <a:buNone/>
            </a:pPr>
            <a:r>
              <a:rPr lang="en-GB" sz="2000" dirty="0"/>
              <a:t>The strategic aims are the key elements making up the overall strategy for HE development.</a:t>
            </a:r>
          </a:p>
          <a:p>
            <a:pPr marL="0" indent="0">
              <a:buNone/>
            </a:pPr>
            <a:r>
              <a:rPr lang="en-GB" sz="2000" dirty="0"/>
              <a:t>KPIs show the progress (or lack of it) toward realising the firm’s objectives or strategic plan by monitoring activities, which (if not properly performed), would likely cause severe losses or outright failure.</a:t>
            </a:r>
          </a:p>
          <a:p>
            <a:pPr marL="0" indent="0">
              <a:buNone/>
            </a:pPr>
            <a:endParaRPr lang="en-GB" sz="2000" dirty="0"/>
          </a:p>
          <a:p>
            <a:pPr marL="0" indent="0">
              <a:buNone/>
            </a:pPr>
            <a:r>
              <a:rPr lang="en-GB" sz="2000" dirty="0"/>
              <a:t>Strategic Aim - To recruit high calibre students in sufficient numbers to ensure the ongoing financial viability of HE programmes. To have a total of 893 FTE HE students studying at Weston College by 2016-17. </a:t>
            </a:r>
          </a:p>
          <a:p>
            <a:pPr marL="0" indent="0">
              <a:buNone/>
            </a:pPr>
            <a:r>
              <a:rPr lang="en-GB" sz="2000" dirty="0"/>
              <a:t>KPI - Overall student numbers to increase by a minimum of 5% annually. </a:t>
            </a:r>
          </a:p>
          <a:p>
            <a:pPr marL="0" indent="0">
              <a:buNone/>
            </a:pPr>
            <a:endParaRPr lang="en-GB" sz="2400" dirty="0"/>
          </a:p>
          <a:p>
            <a:pPr marL="0" indent="0">
              <a:buNone/>
            </a:pPr>
            <a:endParaRPr lang="en-GB" sz="2400" dirty="0"/>
          </a:p>
          <a:p>
            <a:pPr marL="0" indent="0">
              <a:buNone/>
            </a:pPr>
            <a:endParaRPr lang="en-GB" dirty="0"/>
          </a:p>
        </p:txBody>
      </p:sp>
    </p:spTree>
    <p:extLst>
      <p:ext uri="{BB962C8B-B14F-4D97-AF65-F5344CB8AC3E}">
        <p14:creationId xmlns:p14="http://schemas.microsoft.com/office/powerpoint/2010/main" val="2310069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34567-8D9F-2C88-55AA-42B70BBA1C3C}"/>
              </a:ext>
            </a:extLst>
          </p:cNvPr>
          <p:cNvSpPr>
            <a:spLocks noGrp="1"/>
          </p:cNvSpPr>
          <p:nvPr>
            <p:ph type="title"/>
          </p:nvPr>
        </p:nvSpPr>
        <p:spPr>
          <a:xfrm>
            <a:off x="1322614" y="767442"/>
            <a:ext cx="7192736" cy="1061357"/>
          </a:xfrm>
        </p:spPr>
        <p:txBody>
          <a:bodyPr anchor="ctr">
            <a:normAutofit/>
          </a:bodyPr>
          <a:lstStyle/>
          <a:p>
            <a:r>
              <a:rPr lang="en-GB" b="1" dirty="0"/>
              <a:t>Ethical Considerations</a:t>
            </a:r>
          </a:p>
        </p:txBody>
      </p:sp>
      <p:graphicFrame>
        <p:nvGraphicFramePr>
          <p:cNvPr id="5" name="Content Placeholder 2">
            <a:extLst>
              <a:ext uri="{FF2B5EF4-FFF2-40B4-BE49-F238E27FC236}">
                <a16:creationId xmlns:a16="http://schemas.microsoft.com/office/drawing/2014/main" id="{0D233232-B0F5-E29F-AE48-723937E9418A}"/>
              </a:ext>
            </a:extLst>
          </p:cNvPr>
          <p:cNvGraphicFramePr>
            <a:graphicFrameLocks noGrp="1"/>
          </p:cNvGraphicFramePr>
          <p:nvPr>
            <p:ph idx="1"/>
            <p:extLst>
              <p:ext uri="{D42A27DB-BD31-4B8C-83A1-F6EECF244321}">
                <p14:modId xmlns:p14="http://schemas.microsoft.com/office/powerpoint/2010/main" val="1024564223"/>
              </p:ext>
            </p:extLst>
          </p:nvPr>
        </p:nvGraphicFramePr>
        <p:xfrm>
          <a:off x="628650" y="1521354"/>
          <a:ext cx="7886700" cy="36261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028422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95364-1F19-9477-01D5-32D42D4199C5}"/>
              </a:ext>
            </a:extLst>
          </p:cNvPr>
          <p:cNvSpPr>
            <a:spLocks noGrp="1"/>
          </p:cNvSpPr>
          <p:nvPr>
            <p:ph type="title"/>
          </p:nvPr>
        </p:nvSpPr>
        <p:spPr>
          <a:xfrm>
            <a:off x="1518556" y="304271"/>
            <a:ext cx="6996793" cy="1104636"/>
          </a:xfrm>
        </p:spPr>
        <p:txBody>
          <a:bodyPr anchor="ctr">
            <a:normAutofit/>
          </a:bodyPr>
          <a:lstStyle/>
          <a:p>
            <a:r>
              <a:rPr lang="en-GB" b="1" dirty="0"/>
              <a:t>Ethics in Practice</a:t>
            </a:r>
          </a:p>
        </p:txBody>
      </p:sp>
      <p:graphicFrame>
        <p:nvGraphicFramePr>
          <p:cNvPr id="5" name="Content Placeholder 2">
            <a:extLst>
              <a:ext uri="{FF2B5EF4-FFF2-40B4-BE49-F238E27FC236}">
                <a16:creationId xmlns:a16="http://schemas.microsoft.com/office/drawing/2014/main" id="{5A3AE73D-0715-8224-2654-00981E380257}"/>
              </a:ext>
            </a:extLst>
          </p:cNvPr>
          <p:cNvGraphicFramePr>
            <a:graphicFrameLocks noGrp="1"/>
          </p:cNvGraphicFramePr>
          <p:nvPr>
            <p:ph idx="1"/>
            <p:extLst>
              <p:ext uri="{D42A27DB-BD31-4B8C-83A1-F6EECF244321}">
                <p14:modId xmlns:p14="http://schemas.microsoft.com/office/powerpoint/2010/main" val="2786638857"/>
              </p:ext>
            </p:extLst>
          </p:nvPr>
        </p:nvGraphicFramePr>
        <p:xfrm>
          <a:off x="628650" y="1521354"/>
          <a:ext cx="7886700" cy="36261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768752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FB7BD-7A3A-6B1F-A128-420975398397}"/>
              </a:ext>
            </a:extLst>
          </p:cNvPr>
          <p:cNvSpPr>
            <a:spLocks noGrp="1"/>
          </p:cNvSpPr>
          <p:nvPr>
            <p:ph type="title"/>
          </p:nvPr>
        </p:nvSpPr>
        <p:spPr>
          <a:xfrm>
            <a:off x="1273628" y="571500"/>
            <a:ext cx="7641771" cy="952500"/>
          </a:xfrm>
        </p:spPr>
        <p:txBody>
          <a:bodyPr anchor="ctr">
            <a:normAutofit/>
          </a:bodyPr>
          <a:lstStyle/>
          <a:p>
            <a:r>
              <a:rPr lang="en-GB" b="1" dirty="0"/>
              <a:t>Risks of Ignoring Ethics</a:t>
            </a:r>
          </a:p>
        </p:txBody>
      </p:sp>
      <p:graphicFrame>
        <p:nvGraphicFramePr>
          <p:cNvPr id="5" name="Content Placeholder 2">
            <a:extLst>
              <a:ext uri="{FF2B5EF4-FFF2-40B4-BE49-F238E27FC236}">
                <a16:creationId xmlns:a16="http://schemas.microsoft.com/office/drawing/2014/main" id="{7BEFF622-E328-B12C-CCD6-0AC36E00D635}"/>
              </a:ext>
            </a:extLst>
          </p:cNvPr>
          <p:cNvGraphicFramePr>
            <a:graphicFrameLocks noGrp="1"/>
          </p:cNvGraphicFramePr>
          <p:nvPr>
            <p:ph type="dgm" idx="1"/>
            <p:extLst>
              <p:ext uri="{D42A27DB-BD31-4B8C-83A1-F6EECF244321}">
                <p14:modId xmlns:p14="http://schemas.microsoft.com/office/powerpoint/2010/main" val="4018842318"/>
              </p:ext>
            </p:extLst>
          </p:nvPr>
        </p:nvGraphicFramePr>
        <p:xfrm>
          <a:off x="533400" y="1651000"/>
          <a:ext cx="7772400" cy="3429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498157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64C90-60CC-EF4D-88D9-75EAE53FF6D0}"/>
              </a:ext>
            </a:extLst>
          </p:cNvPr>
          <p:cNvSpPr>
            <a:spLocks noGrp="1"/>
          </p:cNvSpPr>
          <p:nvPr>
            <p:ph type="title"/>
          </p:nvPr>
        </p:nvSpPr>
        <p:spPr>
          <a:xfrm>
            <a:off x="623888" y="1424782"/>
            <a:ext cx="7886700" cy="2377281"/>
          </a:xfrm>
        </p:spPr>
        <p:txBody>
          <a:bodyPr anchor="b">
            <a:normAutofit/>
          </a:bodyPr>
          <a:lstStyle/>
          <a:p>
            <a:r>
              <a:rPr lang="en-GB" b="1" dirty="0"/>
              <a:t>Problem Solving and Decision Making Techniques</a:t>
            </a:r>
          </a:p>
        </p:txBody>
      </p:sp>
      <p:sp>
        <p:nvSpPr>
          <p:cNvPr id="8" name="Text Placeholder 2">
            <a:extLst>
              <a:ext uri="{FF2B5EF4-FFF2-40B4-BE49-F238E27FC236}">
                <a16:creationId xmlns:a16="http://schemas.microsoft.com/office/drawing/2014/main" id="{EF019679-C55D-A842-B2D9-51B991D18B0A}"/>
              </a:ext>
            </a:extLst>
          </p:cNvPr>
          <p:cNvSpPr>
            <a:spLocks noGrp="1"/>
          </p:cNvSpPr>
          <p:nvPr>
            <p:ph type="body" idx="1"/>
          </p:nvPr>
        </p:nvSpPr>
        <p:spPr>
          <a:xfrm>
            <a:off x="623888" y="3824553"/>
            <a:ext cx="7886700" cy="1250156"/>
          </a:xfrm>
        </p:spPr>
        <p:txBody>
          <a:bodyPr/>
          <a:lstStyle/>
          <a:p>
            <a:endParaRPr lang="en-US" dirty="0"/>
          </a:p>
        </p:txBody>
      </p:sp>
    </p:spTree>
    <p:extLst>
      <p:ext uri="{BB962C8B-B14F-4D97-AF65-F5344CB8AC3E}">
        <p14:creationId xmlns:p14="http://schemas.microsoft.com/office/powerpoint/2010/main" val="37902978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7154" name="Rectangle 2">
            <a:extLst>
              <a:ext uri="{FF2B5EF4-FFF2-40B4-BE49-F238E27FC236}">
                <a16:creationId xmlns:a16="http://schemas.microsoft.com/office/drawing/2014/main" id="{27216008-5D4A-4D41-B92A-577E0F87B008}"/>
              </a:ext>
            </a:extLst>
          </p:cNvPr>
          <p:cNvSpPr>
            <a:spLocks noGrp="1" noChangeArrowheads="1"/>
          </p:cNvSpPr>
          <p:nvPr>
            <p:ph type="title"/>
          </p:nvPr>
        </p:nvSpPr>
        <p:spPr>
          <a:xfrm>
            <a:off x="678872" y="1431418"/>
            <a:ext cx="2396824" cy="1895197"/>
          </a:xfrm>
        </p:spPr>
        <p:txBody>
          <a:bodyPr vert="horz" lIns="91440" tIns="45720" rIns="91440" bIns="45720" rtlCol="0" anchor="b">
            <a:normAutofit/>
          </a:bodyPr>
          <a:lstStyle/>
          <a:p>
            <a:pPr defTabSz="914400"/>
            <a:r>
              <a:rPr lang="en-US" altLang="en-US" sz="4300" b="1" dirty="0">
                <a:cs typeface="Calibri Light"/>
              </a:rPr>
              <a:t>Hoshin Matrix</a:t>
            </a:r>
            <a:endParaRPr lang="en-US" altLang="en-US" sz="4300" b="1" kern="1200" dirty="0">
              <a:solidFill>
                <a:schemeClr val="tx1"/>
              </a:solidFill>
              <a:latin typeface="+mj-lt"/>
              <a:ea typeface="+mj-ea"/>
              <a:cs typeface="+mj-cs"/>
            </a:endParaRPr>
          </a:p>
        </p:txBody>
      </p:sp>
      <p:pic>
        <p:nvPicPr>
          <p:cNvPr id="2" name="Picture 2" descr="Diagram&#10;&#10;Description automatically generated">
            <a:extLst>
              <a:ext uri="{FF2B5EF4-FFF2-40B4-BE49-F238E27FC236}">
                <a16:creationId xmlns:a16="http://schemas.microsoft.com/office/drawing/2014/main" id="{BBF2064B-487A-473B-85C4-A050E88B1FB9}"/>
              </a:ext>
            </a:extLst>
          </p:cNvPr>
          <p:cNvPicPr>
            <a:picLocks noChangeAspect="1"/>
          </p:cNvPicPr>
          <p:nvPr/>
        </p:nvPicPr>
        <p:blipFill>
          <a:blip r:embed="rId3"/>
          <a:stretch>
            <a:fillRect/>
          </a:stretch>
        </p:blipFill>
        <p:spPr>
          <a:xfrm>
            <a:off x="3478220" y="999494"/>
            <a:ext cx="5135296" cy="3607545"/>
          </a:xfrm>
          <a:prstGeom prst="rect">
            <a:avLst/>
          </a:prstGeom>
        </p:spPr>
      </p:pic>
    </p:spTree>
    <p:extLst>
      <p:ext uri="{BB962C8B-B14F-4D97-AF65-F5344CB8AC3E}">
        <p14:creationId xmlns:p14="http://schemas.microsoft.com/office/powerpoint/2010/main" val="42621167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hlinkClick r:id="" action="ppaction://media"/>
            <a:extLst>
              <a:ext uri="{FF2B5EF4-FFF2-40B4-BE49-F238E27FC236}">
                <a16:creationId xmlns:a16="http://schemas.microsoft.com/office/drawing/2014/main" id="{F6E7A650-ED2B-4072-AE9A-83A5D7FD422A}"/>
              </a:ext>
            </a:extLst>
          </p:cNvPr>
          <p:cNvPicPr>
            <a:picLocks noRot="1" noChangeAspect="1"/>
          </p:cNvPicPr>
          <p:nvPr>
            <a:videoFile r:link="rId1"/>
          </p:nvPr>
        </p:nvPicPr>
        <p:blipFill>
          <a:blip r:embed="rId4"/>
          <a:stretch>
            <a:fillRect/>
          </a:stretch>
        </p:blipFill>
        <p:spPr>
          <a:xfrm>
            <a:off x="2286000" y="1571625"/>
            <a:ext cx="4572000" cy="2571750"/>
          </a:xfrm>
          <a:prstGeom prst="rect">
            <a:avLst/>
          </a:prstGeom>
        </p:spPr>
      </p:pic>
      <p:sp>
        <p:nvSpPr>
          <p:cNvPr id="6" name="Title 5">
            <a:extLst>
              <a:ext uri="{FF2B5EF4-FFF2-40B4-BE49-F238E27FC236}">
                <a16:creationId xmlns:a16="http://schemas.microsoft.com/office/drawing/2014/main" id="{3FDF4D9A-6266-49C0-82C1-60E72B9C1FE0}"/>
              </a:ext>
            </a:extLst>
          </p:cNvPr>
          <p:cNvSpPr>
            <a:spLocks noGrp="1"/>
          </p:cNvSpPr>
          <p:nvPr>
            <p:ph type="title"/>
          </p:nvPr>
        </p:nvSpPr>
        <p:spPr>
          <a:xfrm>
            <a:off x="1167942" y="352196"/>
            <a:ext cx="7059786" cy="709259"/>
          </a:xfrm>
        </p:spPr>
        <p:txBody>
          <a:bodyPr/>
          <a:lstStyle/>
          <a:p>
            <a:r>
              <a:rPr lang="en-US" b="1" dirty="0">
                <a:cs typeface="Calibri Light"/>
              </a:rPr>
              <a:t>Hoshin Matrix</a:t>
            </a:r>
            <a:endParaRPr lang="en-US" dirty="0"/>
          </a:p>
        </p:txBody>
      </p:sp>
    </p:spTree>
    <p:extLst>
      <p:ext uri="{BB962C8B-B14F-4D97-AF65-F5344CB8AC3E}">
        <p14:creationId xmlns:p14="http://schemas.microsoft.com/office/powerpoint/2010/main" val="33556943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Diagram&#10;&#10;Description automatically generated">
            <a:extLst>
              <a:ext uri="{FF2B5EF4-FFF2-40B4-BE49-F238E27FC236}">
                <a16:creationId xmlns:a16="http://schemas.microsoft.com/office/drawing/2014/main" id="{17E2941C-C7B2-652D-7BDC-79114639715E}"/>
              </a:ext>
            </a:extLst>
          </p:cNvPr>
          <p:cNvPicPr>
            <a:picLocks noChangeAspect="1"/>
          </p:cNvPicPr>
          <p:nvPr/>
        </p:nvPicPr>
        <p:blipFill>
          <a:blip r:embed="rId3"/>
          <a:stretch>
            <a:fillRect/>
          </a:stretch>
        </p:blipFill>
        <p:spPr>
          <a:xfrm>
            <a:off x="1882131" y="868371"/>
            <a:ext cx="5667361" cy="3786560"/>
          </a:xfrm>
          <a:prstGeom prst="rect">
            <a:avLst/>
          </a:prstGeom>
        </p:spPr>
      </p:pic>
    </p:spTree>
    <p:extLst>
      <p:ext uri="{BB962C8B-B14F-4D97-AF65-F5344CB8AC3E}">
        <p14:creationId xmlns:p14="http://schemas.microsoft.com/office/powerpoint/2010/main" val="1038377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hart, treemap chart&#10;&#10;Description automatically generated">
            <a:extLst>
              <a:ext uri="{FF2B5EF4-FFF2-40B4-BE49-F238E27FC236}">
                <a16:creationId xmlns:a16="http://schemas.microsoft.com/office/drawing/2014/main" id="{3EEF21AF-4252-D917-3E85-CDD415647B2F}"/>
              </a:ext>
            </a:extLst>
          </p:cNvPr>
          <p:cNvPicPr>
            <a:picLocks noChangeAspect="1"/>
          </p:cNvPicPr>
          <p:nvPr/>
        </p:nvPicPr>
        <p:blipFill>
          <a:blip r:embed="rId2"/>
          <a:stretch>
            <a:fillRect/>
          </a:stretch>
        </p:blipFill>
        <p:spPr>
          <a:xfrm>
            <a:off x="1750304" y="1018063"/>
            <a:ext cx="5823156" cy="3571043"/>
          </a:xfrm>
          <a:prstGeom prst="rect">
            <a:avLst/>
          </a:prstGeom>
        </p:spPr>
      </p:pic>
    </p:spTree>
    <p:extLst>
      <p:ext uri="{BB962C8B-B14F-4D97-AF65-F5344CB8AC3E}">
        <p14:creationId xmlns:p14="http://schemas.microsoft.com/office/powerpoint/2010/main" val="10221971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CCF336E0-C4C0-41FC-AC03-240C313F9176}"/>
              </a:ext>
            </a:extLst>
          </p:cNvPr>
          <p:cNvSpPr>
            <a:spLocks noGrp="1" noChangeArrowheads="1"/>
          </p:cNvSpPr>
          <p:nvPr>
            <p:ph type="title"/>
          </p:nvPr>
        </p:nvSpPr>
        <p:spPr>
          <a:xfrm>
            <a:off x="1127521" y="426633"/>
            <a:ext cx="7610739" cy="694532"/>
          </a:xfrm>
        </p:spPr>
        <p:txBody>
          <a:bodyPr vert="horz" lIns="76191" tIns="38095" rIns="76191" bIns="38095" rtlCol="0" anchor="t">
            <a:normAutofit/>
          </a:bodyPr>
          <a:lstStyle/>
          <a:p>
            <a:pPr>
              <a:defRPr/>
            </a:pPr>
            <a:r>
              <a:rPr lang="en-US" altLang="en-US" sz="2400" b="1" dirty="0">
                <a:latin typeface="+mn-lt"/>
              </a:rPr>
              <a:t>OBJECTIVES</a:t>
            </a:r>
          </a:p>
        </p:txBody>
      </p:sp>
      <p:sp>
        <p:nvSpPr>
          <p:cNvPr id="19459" name="Text Box 3">
            <a:extLst>
              <a:ext uri="{FF2B5EF4-FFF2-40B4-BE49-F238E27FC236}">
                <a16:creationId xmlns:a16="http://schemas.microsoft.com/office/drawing/2014/main" id="{7BE56C50-0F65-4149-A672-3C86DE3AC451}"/>
              </a:ext>
            </a:extLst>
          </p:cNvPr>
          <p:cNvSpPr txBox="1">
            <a:spLocks noChangeArrowheads="1"/>
          </p:cNvSpPr>
          <p:nvPr/>
        </p:nvSpPr>
        <p:spPr bwMode="auto">
          <a:xfrm>
            <a:off x="1725257" y="1577506"/>
            <a:ext cx="1211147" cy="3153738"/>
          </a:xfrm>
          <a:prstGeom prst="rect">
            <a:avLst/>
          </a:prstGeom>
          <a:noFill/>
          <a:ln w="28575">
            <a:solidFill>
              <a:srgbClr val="000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6191" tIns="38095" rIns="76191" bIns="38095">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To Reduce</a:t>
            </a: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To Improve</a:t>
            </a: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To Eliminate</a:t>
            </a: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To Speed up</a:t>
            </a: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To Increase</a:t>
            </a:r>
          </a:p>
        </p:txBody>
      </p:sp>
      <p:sp>
        <p:nvSpPr>
          <p:cNvPr id="19460" name="Text Box 4">
            <a:extLst>
              <a:ext uri="{FF2B5EF4-FFF2-40B4-BE49-F238E27FC236}">
                <a16:creationId xmlns:a16="http://schemas.microsoft.com/office/drawing/2014/main" id="{D11E5794-F3BD-4546-A7C5-18517071B314}"/>
              </a:ext>
            </a:extLst>
          </p:cNvPr>
          <p:cNvSpPr txBox="1">
            <a:spLocks noChangeArrowheads="1"/>
          </p:cNvSpPr>
          <p:nvPr/>
        </p:nvSpPr>
        <p:spPr bwMode="auto">
          <a:xfrm>
            <a:off x="3249256" y="1577506"/>
            <a:ext cx="1471083" cy="3358858"/>
          </a:xfrm>
          <a:prstGeom prst="rect">
            <a:avLst/>
          </a:prstGeom>
          <a:noFill/>
          <a:ln w="28575">
            <a:solidFill>
              <a:srgbClr val="000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6191" tIns="38095" rIns="76191" bIns="38095">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Waste</a:t>
            </a: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Customer Service</a:t>
            </a: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Enquiries responses</a:t>
            </a: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Error</a:t>
            </a: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Response times</a:t>
            </a: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Productivity</a:t>
            </a: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Market share of X</a:t>
            </a:r>
          </a:p>
        </p:txBody>
      </p:sp>
      <p:sp>
        <p:nvSpPr>
          <p:cNvPr id="19461" name="Text Box 5">
            <a:extLst>
              <a:ext uri="{FF2B5EF4-FFF2-40B4-BE49-F238E27FC236}">
                <a16:creationId xmlns:a16="http://schemas.microsoft.com/office/drawing/2014/main" id="{A9AB7AB4-BFB2-4AB0-8B76-60757EA94FF0}"/>
              </a:ext>
            </a:extLst>
          </p:cNvPr>
          <p:cNvSpPr txBox="1">
            <a:spLocks noChangeArrowheads="1"/>
          </p:cNvSpPr>
          <p:nvPr/>
        </p:nvSpPr>
        <p:spPr bwMode="auto">
          <a:xfrm>
            <a:off x="5027256" y="1577506"/>
            <a:ext cx="1333500" cy="3358858"/>
          </a:xfrm>
          <a:prstGeom prst="rect">
            <a:avLst/>
          </a:prstGeom>
          <a:noFill/>
          <a:ln w="28575">
            <a:solidFill>
              <a:srgbClr val="000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6191" tIns="38095" rIns="76191" bIns="38095">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By 5%</a:t>
            </a: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From X days To Y days</a:t>
            </a: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To Zero</a:t>
            </a: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From 3Hours </a:t>
            </a: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To 1 Hour</a:t>
            </a: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From 5% to 7% </a:t>
            </a:r>
          </a:p>
        </p:txBody>
      </p:sp>
      <p:sp>
        <p:nvSpPr>
          <p:cNvPr id="19462" name="Text Box 6">
            <a:extLst>
              <a:ext uri="{FF2B5EF4-FFF2-40B4-BE49-F238E27FC236}">
                <a16:creationId xmlns:a16="http://schemas.microsoft.com/office/drawing/2014/main" id="{51B66C08-5219-4F8B-A167-C46AB9516D47}"/>
              </a:ext>
            </a:extLst>
          </p:cNvPr>
          <p:cNvSpPr txBox="1">
            <a:spLocks noChangeArrowheads="1"/>
          </p:cNvSpPr>
          <p:nvPr/>
        </p:nvSpPr>
        <p:spPr bwMode="auto">
          <a:xfrm>
            <a:off x="6614757" y="1577506"/>
            <a:ext cx="1600729" cy="3358858"/>
          </a:xfrm>
          <a:prstGeom prst="rect">
            <a:avLst/>
          </a:prstGeom>
          <a:noFill/>
          <a:ln w="28575">
            <a:solidFill>
              <a:srgbClr val="000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6191" tIns="38095" rIns="76191" bIns="38095">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By Dec 2018.</a:t>
            </a: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From June To</a:t>
            </a: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November 2018.</a:t>
            </a: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By December</a:t>
            </a: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2018</a:t>
            </a: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By the End Of </a:t>
            </a: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The Month.</a:t>
            </a:r>
          </a:p>
          <a:p>
            <a:pPr marL="0" marR="0" lvl="0" indent="0" algn="l" defTabSz="713232" rtl="0" eaLnBrk="1" fontAlgn="auto" latinLnBrk="0" hangingPunct="1">
              <a:lnSpc>
                <a:spcPct val="100000"/>
              </a:lnSpc>
              <a:spcBef>
                <a:spcPts val="0"/>
              </a:spcBef>
              <a:spcAft>
                <a:spcPts val="0"/>
              </a:spcAft>
              <a:buClrTx/>
              <a:buSzTx/>
              <a:buFontTx/>
              <a:buNone/>
              <a:tabLst/>
              <a:defRPr/>
            </a:pPr>
            <a:endPar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endParaRP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altLang="en-US" sz="1333" b="0" i="0" u="none" strike="noStrike" kern="1200" cap="none" spc="0" normalizeH="0" baseline="0" noProof="0" dirty="0">
                <a:ln>
                  <a:noFill/>
                </a:ln>
                <a:solidFill>
                  <a:prstClr val="black"/>
                </a:solidFill>
                <a:effectLst/>
                <a:uLnTx/>
                <a:uFillTx/>
                <a:latin typeface="Verdana" panose="020B0604030504040204" pitchFamily="34" charset="0"/>
                <a:ea typeface="MS PGothic" panose="020B0600070205080204" pitchFamily="34" charset="-128"/>
                <a:cs typeface="+mn-cs"/>
              </a:rPr>
              <a:t>Within 3 months.</a:t>
            </a:r>
          </a:p>
        </p:txBody>
      </p:sp>
      <p:sp>
        <p:nvSpPr>
          <p:cNvPr id="2" name="TextBox 1">
            <a:extLst>
              <a:ext uri="{FF2B5EF4-FFF2-40B4-BE49-F238E27FC236}">
                <a16:creationId xmlns:a16="http://schemas.microsoft.com/office/drawing/2014/main" id="{496FF3A1-BC87-4921-8C86-BA1D2F39C036}"/>
              </a:ext>
            </a:extLst>
          </p:cNvPr>
          <p:cNvSpPr txBox="1"/>
          <p:nvPr/>
        </p:nvSpPr>
        <p:spPr>
          <a:xfrm flipH="1">
            <a:off x="1725257" y="1049913"/>
            <a:ext cx="6794329" cy="400110"/>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0B050"/>
                </a:solidFill>
                <a:effectLst/>
                <a:uLnTx/>
                <a:uFillTx/>
                <a:latin typeface="Calibri" panose="020F0502020204030204"/>
                <a:ea typeface="ＭＳ Ｐゴシック" panose="020B0600070205080204" pitchFamily="34" charset="-128"/>
                <a:cs typeface="+mn-cs"/>
              </a:rPr>
              <a:t>Action                 What              Measurement          Timeframe </a:t>
            </a:r>
          </a:p>
        </p:txBody>
      </p:sp>
    </p:spTree>
    <p:extLst>
      <p:ext uri="{BB962C8B-B14F-4D97-AF65-F5344CB8AC3E}">
        <p14:creationId xmlns:p14="http://schemas.microsoft.com/office/powerpoint/2010/main" val="268335750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Diagram&#10;&#10;Description automatically generated">
            <a:extLst>
              <a:ext uri="{FF2B5EF4-FFF2-40B4-BE49-F238E27FC236}">
                <a16:creationId xmlns:a16="http://schemas.microsoft.com/office/drawing/2014/main" id="{38058C8D-CC5B-4092-B62F-A24440DE32FB}"/>
              </a:ext>
            </a:extLst>
          </p:cNvPr>
          <p:cNvPicPr>
            <a:picLocks noChangeAspect="1"/>
          </p:cNvPicPr>
          <p:nvPr/>
        </p:nvPicPr>
        <p:blipFill>
          <a:blip r:embed="rId3"/>
          <a:stretch>
            <a:fillRect/>
          </a:stretch>
        </p:blipFill>
        <p:spPr>
          <a:xfrm>
            <a:off x="2277613" y="1343145"/>
            <a:ext cx="4996240" cy="2813048"/>
          </a:xfrm>
          <a:prstGeom prst="rect">
            <a:avLst/>
          </a:prstGeom>
        </p:spPr>
      </p:pic>
    </p:spTree>
    <p:extLst>
      <p:ext uri="{BB962C8B-B14F-4D97-AF65-F5344CB8AC3E}">
        <p14:creationId xmlns:p14="http://schemas.microsoft.com/office/powerpoint/2010/main" val="26466092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9E9179-9FB7-9C29-0D96-D94C299E70A7}"/>
              </a:ext>
            </a:extLst>
          </p:cNvPr>
          <p:cNvSpPr txBox="1"/>
          <p:nvPr/>
        </p:nvSpPr>
        <p:spPr>
          <a:xfrm>
            <a:off x="875452" y="2137675"/>
            <a:ext cx="7584845" cy="7405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040C28"/>
                </a:solidFill>
                <a:effectLst/>
                <a:uLnTx/>
                <a:uFillTx/>
                <a:latin typeface="Google Sans"/>
                <a:ea typeface="+mn-ea"/>
                <a:cs typeface="+mn-cs"/>
              </a:rPr>
              <a:t>An organisation's culture can directly influence its response to organisational change</a:t>
            </a:r>
            <a:r>
              <a:rPr kumimoji="0" lang="en-US" sz="1400" b="0" i="1" u="none" strike="noStrike" kern="1200" cap="none" spc="0" normalizeH="0" baseline="0" noProof="0" dirty="0">
                <a:ln>
                  <a:noFill/>
                </a:ln>
                <a:solidFill>
                  <a:srgbClr val="202124"/>
                </a:solidFill>
                <a:effectLst/>
                <a:uLnTx/>
                <a:uFillTx/>
                <a:latin typeface="Google Sans"/>
                <a:ea typeface="+mn-ea"/>
                <a:cs typeface="+mn-cs"/>
              </a:rPr>
              <a:t>. This is significant, with the CIPD pointing out that an “effective approach to managing change is vital because evidence indicates that few change initiatives are successful</a:t>
            </a:r>
            <a:endParaRPr kumimoji="0" lang="en-US" sz="140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2B9CE90E-B848-186C-7C30-3CD155ED73C3}"/>
              </a:ext>
            </a:extLst>
          </p:cNvPr>
          <p:cNvSpPr txBox="1"/>
          <p:nvPr/>
        </p:nvSpPr>
        <p:spPr>
          <a:xfrm>
            <a:off x="1275521" y="592206"/>
            <a:ext cx="637526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Calibri"/>
              </a:rPr>
              <a:t>Organisational Culture &amp; Change</a:t>
            </a:r>
            <a:endPar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19335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members.md.cmi.org.uk/assets/html/images/Johnson-and-Scholes-Cultural-Web.jpg">
            <a:extLst>
              <a:ext uri="{FF2B5EF4-FFF2-40B4-BE49-F238E27FC236}">
                <a16:creationId xmlns:a16="http://schemas.microsoft.com/office/drawing/2014/main" id="{DEFE4E8A-C63B-C8AC-E9A3-64E78147830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00675" y="1722352"/>
            <a:ext cx="2338369" cy="251995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 descr="Diagram, table&#10;&#10;Description automatically generated">
            <a:extLst>
              <a:ext uri="{FF2B5EF4-FFF2-40B4-BE49-F238E27FC236}">
                <a16:creationId xmlns:a16="http://schemas.microsoft.com/office/drawing/2014/main" id="{FFE7187B-9B10-9D2D-B134-39B7A4ACCF09}"/>
              </a:ext>
            </a:extLst>
          </p:cNvPr>
          <p:cNvPicPr>
            <a:picLocks noChangeAspect="1"/>
          </p:cNvPicPr>
          <p:nvPr/>
        </p:nvPicPr>
        <p:blipFill>
          <a:blip r:embed="rId4"/>
          <a:stretch>
            <a:fillRect/>
          </a:stretch>
        </p:blipFill>
        <p:spPr>
          <a:xfrm>
            <a:off x="3177271" y="1803999"/>
            <a:ext cx="2600107" cy="1927285"/>
          </a:xfrm>
          <a:prstGeom prst="rect">
            <a:avLst/>
          </a:prstGeom>
        </p:spPr>
      </p:pic>
      <p:pic>
        <p:nvPicPr>
          <p:cNvPr id="10" name="Picture 7" descr="MCj04374570000[1]">
            <a:extLst>
              <a:ext uri="{FF2B5EF4-FFF2-40B4-BE49-F238E27FC236}">
                <a16:creationId xmlns:a16="http://schemas.microsoft.com/office/drawing/2014/main" id="{0E8BE698-34EA-A147-5CFC-133402976E2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90351" y="1091479"/>
            <a:ext cx="2903794" cy="3770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10">
            <a:extLst>
              <a:ext uri="{FF2B5EF4-FFF2-40B4-BE49-F238E27FC236}">
                <a16:creationId xmlns:a16="http://schemas.microsoft.com/office/drawing/2014/main" id="{5A93BDC2-B469-07A6-62C1-B6AB50B43F7F}"/>
              </a:ext>
            </a:extLst>
          </p:cNvPr>
          <p:cNvSpPr txBox="1">
            <a:spLocks noChangeArrowheads="1"/>
          </p:cNvSpPr>
          <p:nvPr/>
        </p:nvSpPr>
        <p:spPr bwMode="auto">
          <a:xfrm>
            <a:off x="6712552" y="1802817"/>
            <a:ext cx="1569660" cy="348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713232" rtl="0" eaLnBrk="1" fontAlgn="auto" latinLnBrk="0" hangingPunct="1">
              <a:lnSpc>
                <a:spcPct val="100000"/>
              </a:lnSpc>
              <a:spcBef>
                <a:spcPts val="0"/>
              </a:spcBef>
              <a:spcAft>
                <a:spcPts val="0"/>
              </a:spcAft>
              <a:buClrTx/>
              <a:buSzTx/>
              <a:buFontTx/>
              <a:buNone/>
              <a:tabLst/>
              <a:defRPr/>
            </a:pPr>
            <a:r>
              <a:rPr kumimoji="0" lang="en-GB" altLang="en-US" sz="1667" b="1" i="0" u="none" strike="noStrike" kern="1200" cap="none" spc="0" normalizeH="0" baseline="0" noProof="0" dirty="0">
                <a:ln>
                  <a:noFill/>
                </a:ln>
                <a:solidFill>
                  <a:prstClr val="black"/>
                </a:solidFill>
                <a:effectLst/>
                <a:uLnTx/>
                <a:uFillTx/>
                <a:latin typeface="Verdana" panose="020B0604030504040204" pitchFamily="34" charset="0"/>
                <a:ea typeface="ＭＳ Ｐゴシック" panose="020B0600070205080204" pitchFamily="34" charset="-128"/>
                <a:cs typeface="+mn-cs"/>
              </a:rPr>
              <a:t>ARTEFACTS</a:t>
            </a:r>
            <a:endParaRPr kumimoji="0" lang="en-US" altLang="en-US" sz="1667" b="1" i="0" u="none" strike="noStrike" kern="1200" cap="none" spc="0" normalizeH="0" baseline="0" noProof="0" dirty="0">
              <a:ln>
                <a:noFill/>
              </a:ln>
              <a:solidFill>
                <a:prstClr val="black"/>
              </a:solidFill>
              <a:effectLst/>
              <a:uLnTx/>
              <a:uFillTx/>
              <a:latin typeface="Verdana" panose="020B0604030504040204" pitchFamily="34" charset="0"/>
              <a:ea typeface="ＭＳ Ｐゴシック" panose="020B0600070205080204" pitchFamily="34" charset="-128"/>
              <a:cs typeface="+mn-cs"/>
            </a:endParaRPr>
          </a:p>
        </p:txBody>
      </p:sp>
      <p:sp>
        <p:nvSpPr>
          <p:cNvPr id="14" name="Text Box 9">
            <a:extLst>
              <a:ext uri="{FF2B5EF4-FFF2-40B4-BE49-F238E27FC236}">
                <a16:creationId xmlns:a16="http://schemas.microsoft.com/office/drawing/2014/main" id="{C164E17E-9772-EA7D-54B8-6DFACB196E44}"/>
              </a:ext>
            </a:extLst>
          </p:cNvPr>
          <p:cNvSpPr txBox="1">
            <a:spLocks noChangeArrowheads="1"/>
          </p:cNvSpPr>
          <p:nvPr/>
        </p:nvSpPr>
        <p:spPr bwMode="auto">
          <a:xfrm>
            <a:off x="6936170" y="3717686"/>
            <a:ext cx="1122423" cy="348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713232" rtl="0" eaLnBrk="1" fontAlgn="auto" latinLnBrk="0" hangingPunct="1">
              <a:lnSpc>
                <a:spcPct val="100000"/>
              </a:lnSpc>
              <a:spcBef>
                <a:spcPts val="0"/>
              </a:spcBef>
              <a:spcAft>
                <a:spcPts val="0"/>
              </a:spcAft>
              <a:buClrTx/>
              <a:buSzTx/>
              <a:buFontTx/>
              <a:buNone/>
              <a:tabLst/>
              <a:defRPr/>
            </a:pPr>
            <a:r>
              <a:rPr kumimoji="0" lang="en-GB" altLang="en-US" sz="1667" b="1" i="0" u="none" strike="noStrike" kern="1200" cap="none" spc="0" normalizeH="0" baseline="0" noProof="0" dirty="0">
                <a:ln>
                  <a:noFill/>
                </a:ln>
                <a:solidFill>
                  <a:prstClr val="black"/>
                </a:solidFill>
                <a:effectLst/>
                <a:uLnTx/>
                <a:uFillTx/>
                <a:latin typeface="Verdana" panose="020B0604030504040204" pitchFamily="34" charset="0"/>
                <a:ea typeface="ＭＳ Ｐゴシック" panose="020B0600070205080204" pitchFamily="34" charset="-128"/>
                <a:cs typeface="+mn-cs"/>
              </a:rPr>
              <a:t>VALUES</a:t>
            </a:r>
            <a:endParaRPr kumimoji="0" lang="en-US" altLang="en-US" sz="1667" b="1" i="0" u="none" strike="noStrike" kern="1200" cap="none" spc="0" normalizeH="0" baseline="0" noProof="0" dirty="0">
              <a:ln>
                <a:noFill/>
              </a:ln>
              <a:solidFill>
                <a:prstClr val="black"/>
              </a:solidFill>
              <a:effectLst/>
              <a:uLnTx/>
              <a:uFillTx/>
              <a:latin typeface="Verdana" panose="020B0604030504040204" pitchFamily="34" charset="0"/>
              <a:ea typeface="ＭＳ Ｐゴシック" panose="020B0600070205080204" pitchFamily="34" charset="-128"/>
              <a:cs typeface="+mn-cs"/>
            </a:endParaRPr>
          </a:p>
        </p:txBody>
      </p:sp>
      <p:sp>
        <p:nvSpPr>
          <p:cNvPr id="16" name="Text Box 8">
            <a:extLst>
              <a:ext uri="{FF2B5EF4-FFF2-40B4-BE49-F238E27FC236}">
                <a16:creationId xmlns:a16="http://schemas.microsoft.com/office/drawing/2014/main" id="{0B00ED36-B6D0-EF2F-25E6-585ADE95D081}"/>
              </a:ext>
            </a:extLst>
          </p:cNvPr>
          <p:cNvSpPr txBox="1">
            <a:spLocks noChangeArrowheads="1"/>
          </p:cNvSpPr>
          <p:nvPr/>
        </p:nvSpPr>
        <p:spPr bwMode="auto">
          <a:xfrm>
            <a:off x="6041444" y="4510387"/>
            <a:ext cx="2794355" cy="348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marL="0" marR="0" lvl="0" indent="0" algn="l" defTabSz="713232" rtl="0" eaLnBrk="1" fontAlgn="auto" latinLnBrk="0" hangingPunct="1">
              <a:lnSpc>
                <a:spcPct val="100000"/>
              </a:lnSpc>
              <a:spcBef>
                <a:spcPts val="0"/>
              </a:spcBef>
              <a:spcAft>
                <a:spcPts val="0"/>
              </a:spcAft>
              <a:buClrTx/>
              <a:buSzTx/>
              <a:buFontTx/>
              <a:buNone/>
              <a:tabLst/>
              <a:defRPr/>
            </a:pPr>
            <a:r>
              <a:rPr kumimoji="0" lang="en-GB" altLang="en-US" sz="1667" b="1" i="0" u="none" strike="noStrike" kern="1200" cap="none" spc="0" normalizeH="0" baseline="0" noProof="0" dirty="0">
                <a:ln>
                  <a:noFill/>
                </a:ln>
                <a:solidFill>
                  <a:prstClr val="black"/>
                </a:solidFill>
                <a:effectLst/>
                <a:uLnTx/>
                <a:uFillTx/>
                <a:latin typeface="Verdana" panose="020B0604030504040204" pitchFamily="34" charset="0"/>
                <a:ea typeface="ＭＳ Ｐゴシック" panose="020B0600070205080204" pitchFamily="34" charset="-128"/>
                <a:cs typeface="+mn-cs"/>
              </a:rPr>
              <a:t>BASIC ASSUMPTIONS</a:t>
            </a:r>
            <a:endParaRPr kumimoji="0" lang="en-US" altLang="en-US" sz="1667" b="1" i="0" u="none" strike="noStrike" kern="1200" cap="none" spc="0" normalizeH="0" baseline="0" noProof="0" dirty="0">
              <a:ln>
                <a:noFill/>
              </a:ln>
              <a:solidFill>
                <a:prstClr val="black"/>
              </a:solidFill>
              <a:effectLst/>
              <a:uLnTx/>
              <a:uFillTx/>
              <a:latin typeface="Verdana" panose="020B0604030504040204" pitchFamily="34" charset="0"/>
              <a:ea typeface="ＭＳ Ｐゴシック" panose="020B0600070205080204" pitchFamily="34" charset="-128"/>
              <a:cs typeface="+mn-cs"/>
            </a:endParaRPr>
          </a:p>
        </p:txBody>
      </p:sp>
      <p:sp>
        <p:nvSpPr>
          <p:cNvPr id="17" name="TextBox 16">
            <a:extLst>
              <a:ext uri="{FF2B5EF4-FFF2-40B4-BE49-F238E27FC236}">
                <a16:creationId xmlns:a16="http://schemas.microsoft.com/office/drawing/2014/main" id="{FE05535C-CF05-7D46-9D29-BEF17E7CE9F4}"/>
              </a:ext>
            </a:extLst>
          </p:cNvPr>
          <p:cNvSpPr txBox="1"/>
          <p:nvPr/>
        </p:nvSpPr>
        <p:spPr>
          <a:xfrm>
            <a:off x="1275521" y="592206"/>
            <a:ext cx="397841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Calibri"/>
              </a:rPr>
              <a:t>Organisational Culture</a:t>
            </a:r>
            <a:endPar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5796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43942" y="1679171"/>
            <a:ext cx="4189614" cy="400110"/>
          </a:xfrm>
          <a:prstGeom prst="rect">
            <a:avLst/>
          </a:prstGeom>
          <a:noFill/>
        </p:spPr>
        <p:txBody>
          <a:bodyPr wrap="square" rtlCol="0">
            <a:spAutoFit/>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sp>
        <p:nvSpPr>
          <p:cNvPr id="3" name="TextBox 2"/>
          <p:cNvSpPr txBox="1"/>
          <p:nvPr/>
        </p:nvSpPr>
        <p:spPr>
          <a:xfrm>
            <a:off x="1256802" y="561727"/>
            <a:ext cx="6151418" cy="4001095"/>
          </a:xfrm>
          <a:prstGeom prst="rect">
            <a:avLst/>
          </a:prstGeom>
          <a:noFill/>
        </p:spPr>
        <p:txBody>
          <a:bodyPr wrap="square" rtlCol="0">
            <a:spAutoFit/>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prstClr val="black"/>
                </a:solidFill>
                <a:effectLst/>
                <a:uLnTx/>
                <a:uFillTx/>
                <a:latin typeface="Calibri" panose="020F0502020204030204"/>
                <a:ea typeface="+mn-ea"/>
                <a:cs typeface="+mn-cs"/>
              </a:rPr>
              <a:t>Diversity</a:t>
            </a: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Cambridge English Dictionary meaning: the condition or fact of being different or varied; variety.</a:t>
            </a: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Diversity refers to the wide range of attributes, backgrounds and skills that are in our society. In the UK, we have people of many races, religions, colours, abilities, ages and so on. They bring a diverse and colourful range of cultures, traditions, ceremonies, skills, languages, backgrounds, experience and other attributes to our society.</a:t>
            </a: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A diverse approach aims to recognise, harness and manage differences, so that everyone can contribute to society and realise their full potential. Diversity challenges us to recognise and value all sorts of differences in order to make society more inclusive, fair and comfortable for everyone.</a:t>
            </a:r>
          </a:p>
        </p:txBody>
      </p:sp>
    </p:spTree>
    <p:extLst>
      <p:ext uri="{BB962C8B-B14F-4D97-AF65-F5344CB8AC3E}">
        <p14:creationId xmlns:p14="http://schemas.microsoft.com/office/powerpoint/2010/main" val="22779534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43942" y="1679171"/>
            <a:ext cx="4189614" cy="400110"/>
          </a:xfrm>
          <a:prstGeom prst="rect">
            <a:avLst/>
          </a:prstGeom>
          <a:noFill/>
        </p:spPr>
        <p:txBody>
          <a:bodyPr wrap="square" rtlCol="0">
            <a:spAutoFit/>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sp>
        <p:nvSpPr>
          <p:cNvPr id="3" name="TextBox 2"/>
          <p:cNvSpPr txBox="1"/>
          <p:nvPr/>
        </p:nvSpPr>
        <p:spPr>
          <a:xfrm>
            <a:off x="1199386" y="557082"/>
            <a:ext cx="6134793" cy="4093428"/>
          </a:xfrm>
          <a:prstGeom prst="rect">
            <a:avLst/>
          </a:prstGeom>
          <a:noFill/>
        </p:spPr>
        <p:txBody>
          <a:bodyPr wrap="square" rtlCol="0">
            <a:spAutoFit/>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prstClr val="black"/>
                </a:solidFill>
                <a:effectLst/>
                <a:uLnTx/>
                <a:uFillTx/>
                <a:latin typeface="Calibri" panose="020F0502020204030204"/>
                <a:ea typeface="+mn-ea"/>
                <a:cs typeface="+mn-cs"/>
              </a:rPr>
              <a:t>Inclusion</a:t>
            </a: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rPr>
              <a:t>Oxford English Dictionary meaning: the action of including or of being included within a group or structure.</a:t>
            </a: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rPr>
              <a:t>When our work environment is inclusive, policies, procedures and culture are centred around including people. This is in line with treating people equally, regardless of their diversity. On a day-to-day level, treating colleagues inclusively helps to bond a team and make new members feel welcome and valuable.</a:t>
            </a:r>
          </a:p>
          <a:p>
            <a:pPr marL="0" marR="0" lvl="0" indent="0" algn="l" defTabSz="713232"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rPr>
              <a:t>There will be times when inclusion is not appropriate – e.g. in some meetings where certain people do not have the authority to attend or be party to sensitive information.</a:t>
            </a:r>
          </a:p>
        </p:txBody>
      </p:sp>
    </p:spTree>
    <p:extLst>
      <p:ext uri="{BB962C8B-B14F-4D97-AF65-F5344CB8AC3E}">
        <p14:creationId xmlns:p14="http://schemas.microsoft.com/office/powerpoint/2010/main" val="6197060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57847" y="1883256"/>
            <a:ext cx="4721629" cy="400110"/>
          </a:xfrm>
          <a:prstGeom prst="rect">
            <a:avLst/>
          </a:prstGeom>
          <a:noFill/>
        </p:spPr>
        <p:txBody>
          <a:bodyPr wrap="square" rtlCol="0">
            <a:spAutoFit/>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rPr>
              <a:t>Equality Act 2010</a:t>
            </a:r>
          </a:p>
        </p:txBody>
      </p:sp>
    </p:spTree>
    <p:extLst>
      <p:ext uri="{BB962C8B-B14F-4D97-AF65-F5344CB8AC3E}">
        <p14:creationId xmlns:p14="http://schemas.microsoft.com/office/powerpoint/2010/main" val="23417514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A89848-78E9-F22B-70B8-DC49D1A62552}"/>
              </a:ext>
            </a:extLst>
          </p:cNvPr>
          <p:cNvSpPr txBox="1"/>
          <p:nvPr/>
        </p:nvSpPr>
        <p:spPr>
          <a:xfrm>
            <a:off x="575845" y="3886919"/>
            <a:ext cx="8208026" cy="7405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202124"/>
                </a:solidFill>
                <a:effectLst/>
                <a:uLnTx/>
                <a:uFillTx/>
                <a:latin typeface="Google Sans"/>
                <a:ea typeface="+mn-ea"/>
                <a:cs typeface="+mn-cs"/>
              </a:rPr>
              <a:t>Accountability in the workplace means that </a:t>
            </a:r>
            <a:r>
              <a:rPr kumimoji="0" lang="en-US" sz="1400" b="0" i="1" u="none" strike="noStrike" kern="1200" cap="none" spc="0" normalizeH="0" baseline="0" noProof="0" dirty="0">
                <a:ln>
                  <a:noFill/>
                </a:ln>
                <a:solidFill>
                  <a:srgbClr val="040C28"/>
                </a:solidFill>
                <a:effectLst/>
                <a:uLnTx/>
                <a:uFillTx/>
                <a:latin typeface="Google Sans"/>
                <a:ea typeface="+mn-ea"/>
                <a:cs typeface="+mn-cs"/>
              </a:rPr>
              <a:t>all employees are responsible for their actions, behaviors, performance and decisions</a:t>
            </a:r>
            <a:r>
              <a:rPr kumimoji="0" lang="en-US" sz="1400" b="0" i="1" u="none" strike="noStrike" kern="1200" cap="none" spc="0" normalizeH="0" baseline="0" noProof="0" dirty="0">
                <a:ln>
                  <a:noFill/>
                </a:ln>
                <a:solidFill>
                  <a:srgbClr val="202124"/>
                </a:solidFill>
                <a:effectLst/>
                <a:uLnTx/>
                <a:uFillTx/>
                <a:latin typeface="Google Sans"/>
                <a:ea typeface="+mn-ea"/>
                <a:cs typeface="+mn-cs"/>
              </a:rPr>
              <a:t>. It's also linked to an increase in commitment to work and employee morale, which leads to higher performance.</a:t>
            </a:r>
            <a:endParaRPr kumimoji="0" lang="en-US" sz="140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4" descr="Text&#10;&#10;Description automatically generated">
            <a:extLst>
              <a:ext uri="{FF2B5EF4-FFF2-40B4-BE49-F238E27FC236}">
                <a16:creationId xmlns:a16="http://schemas.microsoft.com/office/drawing/2014/main" id="{F84FD159-E4CC-8A4B-B0E7-FBBAFA0CAD6E}"/>
              </a:ext>
            </a:extLst>
          </p:cNvPr>
          <p:cNvPicPr>
            <a:picLocks noChangeAspect="1"/>
          </p:cNvPicPr>
          <p:nvPr/>
        </p:nvPicPr>
        <p:blipFill>
          <a:blip r:embed="rId3"/>
          <a:stretch>
            <a:fillRect/>
          </a:stretch>
        </p:blipFill>
        <p:spPr>
          <a:xfrm>
            <a:off x="2290435" y="1211353"/>
            <a:ext cx="4541559" cy="2561445"/>
          </a:xfrm>
          <a:prstGeom prst="rect">
            <a:avLst/>
          </a:prstGeom>
        </p:spPr>
      </p:pic>
      <p:sp>
        <p:nvSpPr>
          <p:cNvPr id="5" name="TextBox 4">
            <a:extLst>
              <a:ext uri="{FF2B5EF4-FFF2-40B4-BE49-F238E27FC236}">
                <a16:creationId xmlns:a16="http://schemas.microsoft.com/office/drawing/2014/main" id="{3A1B4487-0AA6-DAD6-BB27-EDEC6829EDCA}"/>
              </a:ext>
            </a:extLst>
          </p:cNvPr>
          <p:cNvSpPr txBox="1"/>
          <p:nvPr/>
        </p:nvSpPr>
        <p:spPr>
          <a:xfrm>
            <a:off x="1189688" y="471219"/>
            <a:ext cx="577121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Calibri"/>
              </a:rPr>
              <a:t>Resilience and Accountability</a:t>
            </a:r>
          </a:p>
        </p:txBody>
      </p:sp>
    </p:spTree>
    <p:extLst>
      <p:ext uri="{BB962C8B-B14F-4D97-AF65-F5344CB8AC3E}">
        <p14:creationId xmlns:p14="http://schemas.microsoft.com/office/powerpoint/2010/main" val="3776988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descr="Diagram&#10;&#10;Description automatically generated">
            <a:extLst>
              <a:ext uri="{FF2B5EF4-FFF2-40B4-BE49-F238E27FC236}">
                <a16:creationId xmlns:a16="http://schemas.microsoft.com/office/drawing/2014/main" id="{35B4BC8A-BC83-6B4D-7E99-F8EA1E16D2D7}"/>
              </a:ext>
            </a:extLst>
          </p:cNvPr>
          <p:cNvPicPr>
            <a:picLocks noChangeAspect="1"/>
          </p:cNvPicPr>
          <p:nvPr/>
        </p:nvPicPr>
        <p:blipFill>
          <a:blip r:embed="rId3"/>
          <a:stretch>
            <a:fillRect/>
          </a:stretch>
        </p:blipFill>
        <p:spPr>
          <a:xfrm>
            <a:off x="1954875" y="1571784"/>
            <a:ext cx="5176725" cy="2595395"/>
          </a:xfrm>
          <a:prstGeom prst="rect">
            <a:avLst/>
          </a:prstGeom>
        </p:spPr>
      </p:pic>
      <p:sp>
        <p:nvSpPr>
          <p:cNvPr id="5" name="TextBox 4">
            <a:extLst>
              <a:ext uri="{FF2B5EF4-FFF2-40B4-BE49-F238E27FC236}">
                <a16:creationId xmlns:a16="http://schemas.microsoft.com/office/drawing/2014/main" id="{2221F886-F982-868E-BB2D-37B85D9AAE53}"/>
              </a:ext>
            </a:extLst>
          </p:cNvPr>
          <p:cNvSpPr txBox="1"/>
          <p:nvPr/>
        </p:nvSpPr>
        <p:spPr>
          <a:xfrm>
            <a:off x="1189688" y="471219"/>
            <a:ext cx="577121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Calibri"/>
              </a:rPr>
              <a:t>Resilience and Accountability</a:t>
            </a:r>
          </a:p>
        </p:txBody>
      </p:sp>
    </p:spTree>
    <p:extLst>
      <p:ext uri="{BB962C8B-B14F-4D97-AF65-F5344CB8AC3E}">
        <p14:creationId xmlns:p14="http://schemas.microsoft.com/office/powerpoint/2010/main" val="14113859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593527"/>
            <a:ext cx="7886700" cy="1104636"/>
          </a:xfrm>
        </p:spPr>
        <p:txBody>
          <a:bodyPr>
            <a:normAutofit/>
          </a:bodyPr>
          <a:lstStyle/>
          <a:p>
            <a:pPr algn="ctr"/>
            <a:r>
              <a:rPr lang="en-GB" sz="3200" dirty="0"/>
              <a:t>Implementing operational plans</a:t>
            </a:r>
            <a:endParaRPr lang="en-GB" sz="3000" dirty="0"/>
          </a:p>
        </p:txBody>
      </p:sp>
      <p:pic>
        <p:nvPicPr>
          <p:cNvPr id="4" name="Content Placeholder 3"/>
          <p:cNvPicPr>
            <a:picLocks noGrp="1" noChangeAspect="1"/>
          </p:cNvPicPr>
          <p:nvPr>
            <p:ph idx="1"/>
          </p:nvPr>
        </p:nvPicPr>
        <p:blipFill>
          <a:blip r:embed="rId3"/>
          <a:stretch>
            <a:fillRect/>
          </a:stretch>
        </p:blipFill>
        <p:spPr>
          <a:xfrm>
            <a:off x="3169920" y="1827664"/>
            <a:ext cx="2804160" cy="2586741"/>
          </a:xfrm>
          <a:prstGeom prst="rect">
            <a:avLst/>
          </a:prstGeom>
        </p:spPr>
      </p:pic>
    </p:spTree>
    <p:extLst>
      <p:ext uri="{BB962C8B-B14F-4D97-AF65-F5344CB8AC3E}">
        <p14:creationId xmlns:p14="http://schemas.microsoft.com/office/powerpoint/2010/main" val="19071988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4" name="Picture 2" descr="Image result for material resources icon">
            <a:extLst>
              <a:ext uri="{FF2B5EF4-FFF2-40B4-BE49-F238E27FC236}">
                <a16:creationId xmlns:a16="http://schemas.microsoft.com/office/drawing/2014/main" id="{1EEDB90C-DD6C-4EA1-8EAF-C36692E487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45" y="3611563"/>
            <a:ext cx="2075656" cy="1165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FAAF5469-660D-471C-9686-E8688CCBE2CA}"/>
              </a:ext>
            </a:extLst>
          </p:cNvPr>
          <p:cNvSpPr>
            <a:spLocks noGrp="1"/>
          </p:cNvSpPr>
          <p:nvPr>
            <p:ph type="title"/>
          </p:nvPr>
        </p:nvSpPr>
        <p:spPr>
          <a:xfrm>
            <a:off x="1163147" y="313365"/>
            <a:ext cx="7610739" cy="832115"/>
          </a:xfrm>
        </p:spPr>
        <p:txBody>
          <a:bodyPr/>
          <a:lstStyle/>
          <a:p>
            <a:pPr>
              <a:defRPr/>
            </a:pPr>
            <a:r>
              <a:rPr lang="en-GB" b="1" dirty="0">
                <a:latin typeface="+mn-lt"/>
                <a:ea typeface="+mj-ea"/>
              </a:rPr>
              <a:t>PHYSICAL RESOURCES</a:t>
            </a:r>
          </a:p>
        </p:txBody>
      </p:sp>
      <p:sp>
        <p:nvSpPr>
          <p:cNvPr id="25603" name="TextBox 3">
            <a:extLst>
              <a:ext uri="{FF2B5EF4-FFF2-40B4-BE49-F238E27FC236}">
                <a16:creationId xmlns:a16="http://schemas.microsoft.com/office/drawing/2014/main" id="{D793D202-9891-4B1F-BAF7-4422BC4E1A8A}"/>
              </a:ext>
            </a:extLst>
          </p:cNvPr>
          <p:cNvSpPr txBox="1">
            <a:spLocks noChangeArrowheads="1"/>
          </p:cNvSpPr>
          <p:nvPr/>
        </p:nvSpPr>
        <p:spPr bwMode="auto">
          <a:xfrm>
            <a:off x="2483116" y="1378857"/>
            <a:ext cx="3787056" cy="260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buFont typeface="Wingdings" panose="05000000000000000000" pitchFamily="2" charset="2"/>
              <a:buChar char="§"/>
            </a:pPr>
            <a:r>
              <a:rPr lang="en-GB" altLang="en-US" sz="2333" b="1" dirty="0"/>
              <a:t>Labour</a:t>
            </a:r>
            <a:endParaRPr lang="en-GB" altLang="en-US" sz="2333" dirty="0"/>
          </a:p>
          <a:p>
            <a:pPr>
              <a:buFont typeface="Wingdings" panose="05000000000000000000" pitchFamily="2" charset="2"/>
              <a:buChar char="§"/>
            </a:pPr>
            <a:r>
              <a:rPr lang="en-GB" altLang="en-US" sz="2333" b="1" dirty="0"/>
              <a:t>Materials</a:t>
            </a:r>
            <a:endParaRPr lang="en-GB" altLang="en-US" sz="1667" dirty="0"/>
          </a:p>
          <a:p>
            <a:pPr>
              <a:buFont typeface="Wingdings" panose="05000000000000000000" pitchFamily="2" charset="2"/>
              <a:buChar char="§"/>
            </a:pPr>
            <a:r>
              <a:rPr lang="en-GB" altLang="en-US" sz="2333" b="1" dirty="0"/>
              <a:t>Equipment </a:t>
            </a:r>
          </a:p>
          <a:p>
            <a:pPr>
              <a:buFont typeface="Wingdings" panose="05000000000000000000" pitchFamily="2" charset="2"/>
              <a:buChar char="§"/>
            </a:pPr>
            <a:r>
              <a:rPr lang="en-GB" altLang="en-US" sz="2333" b="1" dirty="0"/>
              <a:t>Premises</a:t>
            </a:r>
            <a:endParaRPr lang="en-GB" altLang="en-US" sz="1667" dirty="0"/>
          </a:p>
          <a:p>
            <a:pPr>
              <a:buFont typeface="Wingdings" panose="05000000000000000000" pitchFamily="2" charset="2"/>
              <a:buChar char="§"/>
            </a:pPr>
            <a:r>
              <a:rPr lang="en-GB" altLang="en-US" sz="2333" b="1" dirty="0"/>
              <a:t>Vehicles </a:t>
            </a:r>
            <a:endParaRPr lang="en-GB" altLang="en-US" sz="1667" dirty="0"/>
          </a:p>
          <a:p>
            <a:pPr>
              <a:buFont typeface="Wingdings" panose="05000000000000000000" pitchFamily="2" charset="2"/>
              <a:buChar char="§"/>
            </a:pPr>
            <a:r>
              <a:rPr lang="en-GB" altLang="en-US" sz="2333" b="1" dirty="0"/>
              <a:t>Energy</a:t>
            </a:r>
            <a:endParaRPr lang="en-GB" altLang="en-US" sz="1667" dirty="0"/>
          </a:p>
          <a:p>
            <a:pPr>
              <a:buFont typeface="Wingdings" panose="05000000000000000000" pitchFamily="2" charset="2"/>
              <a:buChar char="§"/>
            </a:pPr>
            <a:r>
              <a:rPr lang="en-GB" altLang="en-US" sz="2333" b="1" dirty="0"/>
              <a:t>Services</a:t>
            </a:r>
            <a:endParaRPr lang="en-GB" altLang="en-US" sz="1667" dirty="0"/>
          </a:p>
        </p:txBody>
      </p:sp>
    </p:spTree>
    <p:extLst>
      <p:ext uri="{BB962C8B-B14F-4D97-AF65-F5344CB8AC3E}">
        <p14:creationId xmlns:p14="http://schemas.microsoft.com/office/powerpoint/2010/main" val="47960462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1FA57-C415-4CC3-B0AF-F47B0D05C0A2}"/>
              </a:ext>
            </a:extLst>
          </p:cNvPr>
          <p:cNvSpPr>
            <a:spLocks noGrp="1"/>
          </p:cNvSpPr>
          <p:nvPr>
            <p:ph type="title"/>
          </p:nvPr>
        </p:nvSpPr>
        <p:spPr>
          <a:xfrm>
            <a:off x="1091407" y="272366"/>
            <a:ext cx="7610739" cy="832115"/>
          </a:xfrm>
        </p:spPr>
        <p:txBody>
          <a:bodyPr/>
          <a:lstStyle/>
          <a:p>
            <a:pPr>
              <a:defRPr/>
            </a:pPr>
            <a:r>
              <a:rPr lang="en-GB" b="1" dirty="0">
                <a:latin typeface="+mn-lt"/>
                <a:ea typeface="+mj-ea"/>
              </a:rPr>
              <a:t>RESOURCES</a:t>
            </a:r>
          </a:p>
        </p:txBody>
      </p:sp>
      <p:sp>
        <p:nvSpPr>
          <p:cNvPr id="3" name="TextBox 2">
            <a:extLst>
              <a:ext uri="{FF2B5EF4-FFF2-40B4-BE49-F238E27FC236}">
                <a16:creationId xmlns:a16="http://schemas.microsoft.com/office/drawing/2014/main" id="{ECBF393B-164B-49C7-991B-5B7C9F62F3FC}"/>
              </a:ext>
            </a:extLst>
          </p:cNvPr>
          <p:cNvSpPr txBox="1"/>
          <p:nvPr/>
        </p:nvSpPr>
        <p:spPr>
          <a:xfrm>
            <a:off x="776658" y="1104481"/>
            <a:ext cx="8014500" cy="4119589"/>
          </a:xfrm>
          <a:prstGeom prst="rect">
            <a:avLst/>
          </a:prstGeom>
          <a:noFill/>
        </p:spPr>
        <p:txBody>
          <a:bodyPr wrap="square">
            <a:spAutoFit/>
          </a:bodyPr>
          <a:lstStyle/>
          <a:p>
            <a:pPr>
              <a:defRPr/>
            </a:pPr>
            <a:r>
              <a:rPr lang="en-GB" sz="1800" dirty="0">
                <a:ea typeface="ＭＳ Ｐゴシック" panose="020B0600070205080204" pitchFamily="34" charset="-128"/>
              </a:rPr>
              <a:t>What  resources are you responsible for in your role? What plans do you have to make and monitor to ensure these resources are available?  </a:t>
            </a:r>
          </a:p>
          <a:p>
            <a:pPr>
              <a:defRPr/>
            </a:pPr>
            <a:endParaRPr lang="en-GB" sz="1800" dirty="0">
              <a:ea typeface="ＭＳ Ｐゴシック" panose="020B0600070205080204" pitchFamily="34" charset="-128"/>
            </a:endParaRPr>
          </a:p>
          <a:p>
            <a:pPr>
              <a:defRPr/>
            </a:pPr>
            <a:r>
              <a:rPr lang="en-GB" sz="1800" dirty="0">
                <a:ea typeface="ＭＳ Ｐゴシック" panose="020B0600070205080204" pitchFamily="34" charset="-128"/>
              </a:rPr>
              <a:t>If it helps use the headings below as a guide:</a:t>
            </a:r>
          </a:p>
          <a:p>
            <a:pPr>
              <a:defRPr/>
            </a:pPr>
            <a:r>
              <a:rPr lang="en-GB" sz="1170" dirty="0">
                <a:ea typeface="ＭＳ Ｐゴシック" panose="020B0600070205080204" pitchFamily="34" charset="-128"/>
              </a:rPr>
              <a:t> </a:t>
            </a:r>
          </a:p>
          <a:p>
            <a:pPr marL="238115" indent="-238115">
              <a:buFont typeface="Arial" panose="020B0604020202020204" pitchFamily="34" charset="0"/>
              <a:buChar char="•"/>
              <a:defRPr/>
            </a:pPr>
            <a:r>
              <a:rPr lang="en-GB" sz="2200" b="1" dirty="0">
                <a:ea typeface="ＭＳ Ｐゴシック" panose="020B0600070205080204" pitchFamily="34" charset="-128"/>
              </a:rPr>
              <a:t>Labour</a:t>
            </a:r>
          </a:p>
          <a:p>
            <a:pPr marL="238115" indent="-238115">
              <a:buFont typeface="Arial" panose="020B0604020202020204" pitchFamily="34" charset="0"/>
              <a:buChar char="•"/>
              <a:defRPr/>
            </a:pPr>
            <a:r>
              <a:rPr lang="en-GB" sz="2200" b="1" dirty="0">
                <a:ea typeface="ＭＳ Ｐゴシック" panose="020B0600070205080204" pitchFamily="34" charset="-128"/>
              </a:rPr>
              <a:t>Materials</a:t>
            </a:r>
          </a:p>
          <a:p>
            <a:pPr marL="238115" indent="-238115">
              <a:buFont typeface="Arial" panose="020B0604020202020204" pitchFamily="34" charset="0"/>
              <a:buChar char="•"/>
              <a:defRPr/>
            </a:pPr>
            <a:r>
              <a:rPr lang="en-GB" sz="2200" b="1" dirty="0">
                <a:ea typeface="ＭＳ Ｐゴシック" panose="020B0600070205080204" pitchFamily="34" charset="-128"/>
              </a:rPr>
              <a:t>Equipment</a:t>
            </a:r>
          </a:p>
          <a:p>
            <a:pPr marL="238115" indent="-238115">
              <a:buFont typeface="Arial" panose="020B0604020202020204" pitchFamily="34" charset="0"/>
              <a:buChar char="•"/>
              <a:defRPr/>
            </a:pPr>
            <a:r>
              <a:rPr lang="en-GB" sz="2200" b="1" dirty="0">
                <a:ea typeface="ＭＳ Ｐゴシック" panose="020B0600070205080204" pitchFamily="34" charset="-128"/>
              </a:rPr>
              <a:t>Premises</a:t>
            </a:r>
          </a:p>
          <a:p>
            <a:pPr marL="238115" indent="-238115">
              <a:buFont typeface="Arial" panose="020B0604020202020204" pitchFamily="34" charset="0"/>
              <a:buChar char="•"/>
              <a:defRPr/>
            </a:pPr>
            <a:r>
              <a:rPr lang="en-GB" sz="2200" b="1" dirty="0">
                <a:ea typeface="ＭＳ Ｐゴシック" panose="020B0600070205080204" pitchFamily="34" charset="-128"/>
              </a:rPr>
              <a:t>Vehicles</a:t>
            </a:r>
          </a:p>
          <a:p>
            <a:pPr marL="238115" indent="-238115">
              <a:buFont typeface="Arial" panose="020B0604020202020204" pitchFamily="34" charset="0"/>
              <a:buChar char="•"/>
              <a:defRPr/>
            </a:pPr>
            <a:r>
              <a:rPr lang="en-GB" sz="2200" b="1" dirty="0">
                <a:ea typeface="ＭＳ Ｐゴシック" panose="020B0600070205080204" pitchFamily="34" charset="-128"/>
              </a:rPr>
              <a:t>Energy</a:t>
            </a:r>
          </a:p>
          <a:p>
            <a:pPr marL="238115" indent="-238115">
              <a:buFont typeface="Arial" panose="020B0604020202020204" pitchFamily="34" charset="0"/>
              <a:buChar char="•"/>
              <a:defRPr/>
            </a:pPr>
            <a:r>
              <a:rPr lang="en-GB" sz="2200" b="1" dirty="0">
                <a:ea typeface="ＭＳ Ｐゴシック" panose="020B0600070205080204" pitchFamily="34" charset="-128"/>
              </a:rPr>
              <a:t>Services</a:t>
            </a:r>
          </a:p>
          <a:p>
            <a:pPr>
              <a:defRPr/>
            </a:pPr>
            <a:r>
              <a:rPr lang="en-GB" sz="2400" b="1" dirty="0">
                <a:ea typeface="ＭＳ Ｐゴシック" panose="020B0600070205080204" pitchFamily="34" charset="-128"/>
              </a:rPr>
              <a:t>				</a:t>
            </a:r>
            <a:endParaRPr lang="en-GB" sz="1667" b="1" dirty="0">
              <a:ea typeface="ＭＳ Ｐゴシック" panose="020B0600070205080204" pitchFamily="34" charset="-128"/>
            </a:endParaRPr>
          </a:p>
        </p:txBody>
      </p:sp>
      <p:pic>
        <p:nvPicPr>
          <p:cNvPr id="27652" name="Picture 2" descr="Image result for material resources icon">
            <a:extLst>
              <a:ext uri="{FF2B5EF4-FFF2-40B4-BE49-F238E27FC236}">
                <a16:creationId xmlns:a16="http://schemas.microsoft.com/office/drawing/2014/main" id="{090D0C6A-6FD0-4DF0-BD3A-DE3EBC1ECA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0805" y="3004458"/>
            <a:ext cx="3379181" cy="1898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861151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FD228-CCA7-4702-A4E1-33BCBCD9AD71}"/>
              </a:ext>
            </a:extLst>
          </p:cNvPr>
          <p:cNvSpPr>
            <a:spLocks noGrp="1"/>
          </p:cNvSpPr>
          <p:nvPr>
            <p:ph type="title"/>
          </p:nvPr>
        </p:nvSpPr>
        <p:spPr>
          <a:xfrm>
            <a:off x="1127413" y="209269"/>
            <a:ext cx="7886700" cy="1104636"/>
          </a:xfrm>
        </p:spPr>
        <p:txBody>
          <a:bodyPr/>
          <a:lstStyle/>
          <a:p>
            <a:r>
              <a:rPr lang="en-GB" b="1" dirty="0">
                <a:latin typeface="+mn-lt"/>
              </a:rPr>
              <a:t>ALLOCATING WORK TO TEAM MEMBERS</a:t>
            </a:r>
          </a:p>
        </p:txBody>
      </p:sp>
      <p:sp>
        <p:nvSpPr>
          <p:cNvPr id="3" name="Content Placeholder 2">
            <a:extLst>
              <a:ext uri="{FF2B5EF4-FFF2-40B4-BE49-F238E27FC236}">
                <a16:creationId xmlns:a16="http://schemas.microsoft.com/office/drawing/2014/main" id="{BEBEFFEA-0B39-4084-9FE4-94932F3CFA2F}"/>
              </a:ext>
            </a:extLst>
          </p:cNvPr>
          <p:cNvSpPr>
            <a:spLocks noGrp="1"/>
          </p:cNvSpPr>
          <p:nvPr>
            <p:ph idx="1"/>
          </p:nvPr>
        </p:nvSpPr>
        <p:spPr>
          <a:xfrm>
            <a:off x="628650" y="1153219"/>
            <a:ext cx="7886700" cy="3626115"/>
          </a:xfrm>
        </p:spPr>
        <p:txBody>
          <a:bodyPr>
            <a:normAutofit/>
          </a:bodyPr>
          <a:lstStyle/>
          <a:p>
            <a:pPr marL="0" indent="0">
              <a:buNone/>
            </a:pPr>
            <a:r>
              <a:rPr lang="en-GB" dirty="0"/>
              <a:t>Managers need to have a three-dimensional view of </a:t>
            </a:r>
          </a:p>
          <a:p>
            <a:pPr marL="0" indent="0">
              <a:buNone/>
            </a:pPr>
            <a:endParaRPr lang="en-GB" dirty="0"/>
          </a:p>
          <a:p>
            <a:r>
              <a:rPr lang="en-GB" sz="2800" b="1" dirty="0"/>
              <a:t>Tasks and the people</a:t>
            </a:r>
          </a:p>
          <a:p>
            <a:r>
              <a:rPr lang="en-GB" sz="2800" b="1" dirty="0"/>
              <a:t>Resources </a:t>
            </a:r>
          </a:p>
          <a:p>
            <a:r>
              <a:rPr lang="en-GB" sz="2800" b="1" dirty="0"/>
              <a:t>Budget at their disposal </a:t>
            </a:r>
          </a:p>
          <a:p>
            <a:endParaRPr lang="en-GB" sz="2800" b="1" dirty="0"/>
          </a:p>
          <a:p>
            <a:pPr marL="0" indent="0">
              <a:buNone/>
            </a:pPr>
            <a:r>
              <a:rPr lang="en-GB" dirty="0"/>
              <a:t>so that they can allocate work in the most effective way to achieve the best results. </a:t>
            </a:r>
          </a:p>
        </p:txBody>
      </p:sp>
      <p:pic>
        <p:nvPicPr>
          <p:cNvPr id="4" name="Picture 6" descr="woman_with_stickies_200h">
            <a:extLst>
              <a:ext uri="{FF2B5EF4-FFF2-40B4-BE49-F238E27FC236}">
                <a16:creationId xmlns:a16="http://schemas.microsoft.com/office/drawing/2014/main" id="{C04E2F86-0AB3-41E6-94F0-0D212441D4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7752" y="1910892"/>
            <a:ext cx="3346979" cy="1434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855681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AAC36C-E970-4162-9A40-B288E48CE59C}"/>
              </a:ext>
            </a:extLst>
          </p:cNvPr>
          <p:cNvSpPr>
            <a:spLocks noGrp="1"/>
          </p:cNvSpPr>
          <p:nvPr>
            <p:ph idx="1"/>
          </p:nvPr>
        </p:nvSpPr>
        <p:spPr>
          <a:xfrm>
            <a:off x="450520" y="1147608"/>
            <a:ext cx="7886700" cy="3626115"/>
          </a:xfrm>
        </p:spPr>
        <p:txBody>
          <a:bodyPr>
            <a:normAutofit/>
          </a:bodyPr>
          <a:lstStyle/>
          <a:p>
            <a:pPr marL="0" indent="0">
              <a:buNone/>
            </a:pPr>
            <a:r>
              <a:rPr lang="en-GB" i="1" dirty="0"/>
              <a:t>Managers need to look at: </a:t>
            </a:r>
          </a:p>
          <a:p>
            <a:pPr marL="0" indent="0">
              <a:buNone/>
            </a:pPr>
            <a:r>
              <a:rPr lang="en-GB" dirty="0"/>
              <a:t>• </a:t>
            </a:r>
            <a:r>
              <a:rPr lang="en-GB" sz="2800" b="1" dirty="0"/>
              <a:t>Tasks </a:t>
            </a:r>
          </a:p>
          <a:p>
            <a:pPr marL="0" indent="0">
              <a:buNone/>
            </a:pPr>
            <a:r>
              <a:rPr lang="en-GB" dirty="0"/>
              <a:t>• </a:t>
            </a:r>
            <a:r>
              <a:rPr lang="en-GB" sz="2800" b="1" dirty="0"/>
              <a:t>Individual </a:t>
            </a:r>
          </a:p>
          <a:p>
            <a:pPr marL="0" indent="0">
              <a:buNone/>
            </a:pPr>
            <a:r>
              <a:rPr lang="en-GB" dirty="0"/>
              <a:t>• </a:t>
            </a:r>
            <a:r>
              <a:rPr lang="en-GB" sz="2800" b="1" dirty="0"/>
              <a:t>Team</a:t>
            </a:r>
            <a:endParaRPr lang="en-GB" dirty="0"/>
          </a:p>
        </p:txBody>
      </p:sp>
      <p:sp>
        <p:nvSpPr>
          <p:cNvPr id="4" name="Title 1">
            <a:extLst>
              <a:ext uri="{FF2B5EF4-FFF2-40B4-BE49-F238E27FC236}">
                <a16:creationId xmlns:a16="http://schemas.microsoft.com/office/drawing/2014/main" id="{B22E795A-D584-4C1B-AC25-900BC96B86F0}"/>
              </a:ext>
            </a:extLst>
          </p:cNvPr>
          <p:cNvSpPr txBox="1">
            <a:spLocks/>
          </p:cNvSpPr>
          <p:nvPr/>
        </p:nvSpPr>
        <p:spPr>
          <a:xfrm>
            <a:off x="1127413" y="243540"/>
            <a:ext cx="7886700" cy="110463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GB" b="1" dirty="0">
                <a:latin typeface="+mn-lt"/>
              </a:rPr>
              <a:t>ALLOCATING WORK TO TEAM MEMBERS</a:t>
            </a:r>
          </a:p>
        </p:txBody>
      </p:sp>
      <p:pic>
        <p:nvPicPr>
          <p:cNvPr id="5" name="Picture 6" descr="woman_with_stickies_200h">
            <a:extLst>
              <a:ext uri="{FF2B5EF4-FFF2-40B4-BE49-F238E27FC236}">
                <a16:creationId xmlns:a16="http://schemas.microsoft.com/office/drawing/2014/main" id="{BFA46D00-52CA-480B-944C-096FF4D1CA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7134" y="3562706"/>
            <a:ext cx="3346979" cy="1434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430726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FD941-32A7-4A19-9E30-89150C654927}"/>
              </a:ext>
            </a:extLst>
          </p:cNvPr>
          <p:cNvSpPr>
            <a:spLocks noGrp="1"/>
          </p:cNvSpPr>
          <p:nvPr>
            <p:ph type="title"/>
          </p:nvPr>
        </p:nvSpPr>
        <p:spPr>
          <a:xfrm>
            <a:off x="1127414" y="173643"/>
            <a:ext cx="7886700" cy="1104636"/>
          </a:xfrm>
        </p:spPr>
        <p:txBody>
          <a:bodyPr/>
          <a:lstStyle/>
          <a:p>
            <a:r>
              <a:rPr lang="en-GB" b="1" dirty="0">
                <a:latin typeface="+mn-lt"/>
              </a:rPr>
              <a:t>ALLOCATING OUT WORK</a:t>
            </a:r>
          </a:p>
        </p:txBody>
      </p:sp>
      <p:sp>
        <p:nvSpPr>
          <p:cNvPr id="3" name="Content Placeholder 2">
            <a:extLst>
              <a:ext uri="{FF2B5EF4-FFF2-40B4-BE49-F238E27FC236}">
                <a16:creationId xmlns:a16="http://schemas.microsoft.com/office/drawing/2014/main" id="{CB4D1A65-C72F-426E-9B79-5A0FB9D17079}"/>
              </a:ext>
            </a:extLst>
          </p:cNvPr>
          <p:cNvSpPr>
            <a:spLocks noGrp="1"/>
          </p:cNvSpPr>
          <p:nvPr>
            <p:ph idx="1"/>
          </p:nvPr>
        </p:nvSpPr>
        <p:spPr>
          <a:xfrm>
            <a:off x="264135" y="1190155"/>
            <a:ext cx="8824109" cy="3626115"/>
          </a:xfrm>
        </p:spPr>
        <p:txBody>
          <a:bodyPr>
            <a:noAutofit/>
          </a:bodyPr>
          <a:lstStyle/>
          <a:p>
            <a:pPr>
              <a:spcBef>
                <a:spcPts val="0"/>
              </a:spcBef>
            </a:pPr>
            <a:r>
              <a:rPr lang="en-GB" sz="1800" b="1" dirty="0"/>
              <a:t>Apportionment of the tasks </a:t>
            </a:r>
            <a:r>
              <a:rPr lang="en-GB" sz="1600" dirty="0"/>
              <a:t>– how the tasks are shared</a:t>
            </a:r>
          </a:p>
          <a:p>
            <a:pPr marL="0" indent="0">
              <a:spcBef>
                <a:spcPts val="0"/>
              </a:spcBef>
              <a:buNone/>
            </a:pPr>
            <a:r>
              <a:rPr lang="en-GB" sz="1600" dirty="0"/>
              <a:t>    between different team members </a:t>
            </a:r>
          </a:p>
          <a:p>
            <a:pPr marL="0" indent="0">
              <a:buNone/>
            </a:pPr>
            <a:r>
              <a:rPr lang="en-GB" sz="1600" dirty="0"/>
              <a:t>•  </a:t>
            </a:r>
            <a:r>
              <a:rPr lang="en-GB" sz="1800" b="1" dirty="0"/>
              <a:t>Volume of work</a:t>
            </a:r>
            <a:r>
              <a:rPr lang="en-GB" sz="1800" dirty="0"/>
              <a:t> </a:t>
            </a:r>
            <a:r>
              <a:rPr lang="en-GB" sz="1600" dirty="0"/>
              <a:t>– the amount that each individual needs to do </a:t>
            </a:r>
          </a:p>
          <a:p>
            <a:pPr marL="0" indent="0">
              <a:buNone/>
            </a:pPr>
            <a:r>
              <a:rPr lang="en-GB" sz="1800" dirty="0"/>
              <a:t>•  </a:t>
            </a:r>
            <a:r>
              <a:rPr lang="en-GB" sz="1800" b="1" dirty="0"/>
              <a:t>Difficulty of each task </a:t>
            </a:r>
            <a:endParaRPr lang="en-GB" sz="1800" dirty="0"/>
          </a:p>
          <a:p>
            <a:pPr marL="0" indent="0">
              <a:buNone/>
            </a:pPr>
            <a:r>
              <a:rPr lang="en-GB" sz="1800" dirty="0"/>
              <a:t>•  </a:t>
            </a:r>
            <a:r>
              <a:rPr lang="en-GB" sz="1800" b="1" dirty="0"/>
              <a:t>Matching the task to the individual’s skills and capabilities </a:t>
            </a:r>
            <a:r>
              <a:rPr lang="en-GB" sz="1600" dirty="0"/>
              <a:t>– as far as possible </a:t>
            </a:r>
          </a:p>
          <a:p>
            <a:pPr marL="0" indent="0">
              <a:buNone/>
            </a:pPr>
            <a:r>
              <a:rPr lang="en-GB" sz="1800" dirty="0"/>
              <a:t>•  </a:t>
            </a:r>
            <a:r>
              <a:rPr lang="en-GB" sz="1800" b="1" dirty="0"/>
              <a:t>Setting stretching tasks when appropriate </a:t>
            </a:r>
            <a:endParaRPr lang="en-GB" sz="1800" dirty="0"/>
          </a:p>
          <a:p>
            <a:pPr marL="0" indent="0">
              <a:buNone/>
            </a:pPr>
            <a:r>
              <a:rPr lang="en-GB" sz="1800" dirty="0"/>
              <a:t>•  </a:t>
            </a:r>
            <a:r>
              <a:rPr lang="en-GB" sz="1800" b="1" dirty="0"/>
              <a:t>Involving all team members</a:t>
            </a:r>
            <a:r>
              <a:rPr lang="en-GB" sz="1800" dirty="0"/>
              <a:t> </a:t>
            </a:r>
            <a:r>
              <a:rPr lang="en-GB" sz="1600" dirty="0"/>
              <a:t>– options and opportunities discussed and agreed to suit everyone</a:t>
            </a:r>
          </a:p>
          <a:p>
            <a:pPr marL="0" indent="0">
              <a:buNone/>
            </a:pPr>
            <a:r>
              <a:rPr lang="en-GB" sz="1600" dirty="0"/>
              <a:t>•  </a:t>
            </a:r>
            <a:r>
              <a:rPr lang="en-GB" sz="1800" b="1" dirty="0"/>
              <a:t>Rotating the tasks </a:t>
            </a:r>
            <a:r>
              <a:rPr lang="en-GB" sz="1600" dirty="0"/>
              <a:t>– so that everyone shares the good and the bad aspects of the job  </a:t>
            </a:r>
          </a:p>
          <a:p>
            <a:pPr marL="0" indent="0">
              <a:buNone/>
            </a:pPr>
            <a:r>
              <a:rPr lang="en-GB" sz="1600" dirty="0"/>
              <a:t>•  </a:t>
            </a:r>
            <a:r>
              <a:rPr lang="en-GB" sz="1800" b="1" dirty="0"/>
              <a:t>Ensuring equality and avoiding favouritism </a:t>
            </a:r>
            <a:endParaRPr lang="en-GB" sz="1800" dirty="0"/>
          </a:p>
          <a:p>
            <a:pPr marL="0" indent="0">
              <a:buNone/>
            </a:pPr>
            <a:r>
              <a:rPr lang="en-GB" sz="1800" dirty="0"/>
              <a:t>•  </a:t>
            </a:r>
            <a:r>
              <a:rPr lang="en-GB" sz="1800" b="1" dirty="0"/>
              <a:t>Having clear methods of communication </a:t>
            </a:r>
            <a:r>
              <a:rPr lang="en-GB" sz="1600" dirty="0"/>
              <a:t>–  can see and understand the decision-making process </a:t>
            </a:r>
          </a:p>
          <a:p>
            <a:pPr marL="0" indent="0">
              <a:buNone/>
            </a:pPr>
            <a:r>
              <a:rPr lang="en-GB" sz="1600" dirty="0"/>
              <a:t>•  </a:t>
            </a:r>
            <a:r>
              <a:rPr lang="en-GB" sz="1800" b="1" dirty="0"/>
              <a:t>Being open </a:t>
            </a:r>
            <a:r>
              <a:rPr lang="en-GB" sz="1600" dirty="0"/>
              <a:t>– encourage commitment to the shared purpose;  welcome feedback from team </a:t>
            </a:r>
          </a:p>
        </p:txBody>
      </p:sp>
      <p:pic>
        <p:nvPicPr>
          <p:cNvPr id="4" name="Picture 6" descr="woman_with_stickies_200h">
            <a:extLst>
              <a:ext uri="{FF2B5EF4-FFF2-40B4-BE49-F238E27FC236}">
                <a16:creationId xmlns:a16="http://schemas.microsoft.com/office/drawing/2014/main" id="{8677106B-9B06-4BCD-A45E-ABBEA25D31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0161" y="461259"/>
            <a:ext cx="3237326" cy="1387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523666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1000"/>
                                        <p:tgtEl>
                                          <p:spTgt spid="3">
                                            <p:txEl>
                                              <p:pRg st="5" end="5"/>
                                            </p:txEl>
                                          </p:spTgt>
                                        </p:tgtEl>
                                      </p:cBhvr>
                                    </p:animEffect>
                                    <p:anim calcmode="lin" valueType="num">
                                      <p:cBhvr>
                                        <p:cTn id="3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1000"/>
                                        <p:tgtEl>
                                          <p:spTgt spid="3">
                                            <p:txEl>
                                              <p:pRg st="6" end="6"/>
                                            </p:txEl>
                                          </p:spTgt>
                                        </p:tgtEl>
                                      </p:cBhvr>
                                    </p:animEffect>
                                    <p:anim calcmode="lin" valueType="num">
                                      <p:cBhvr>
                                        <p:cTn id="3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1000"/>
                                        <p:tgtEl>
                                          <p:spTgt spid="3">
                                            <p:txEl>
                                              <p:pRg st="8" end="8"/>
                                            </p:txEl>
                                          </p:spTgt>
                                        </p:tgtEl>
                                      </p:cBhvr>
                                    </p:animEffect>
                                    <p:anim calcmode="lin" valueType="num">
                                      <p:cBhvr>
                                        <p:cTn id="4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8" end="8"/>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1000"/>
                                        <p:tgtEl>
                                          <p:spTgt spid="3">
                                            <p:txEl>
                                              <p:pRg st="9" end="9"/>
                                            </p:txEl>
                                          </p:spTgt>
                                        </p:tgtEl>
                                      </p:cBhvr>
                                    </p:animEffect>
                                    <p:anim calcmode="lin" valueType="num">
                                      <p:cBhvr>
                                        <p:cTn id="53"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9" end="9"/>
                                            </p:txEl>
                                          </p:spTgt>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1000"/>
                                        <p:tgtEl>
                                          <p:spTgt spid="3">
                                            <p:txEl>
                                              <p:pRg st="10" end="10"/>
                                            </p:txEl>
                                          </p:spTgt>
                                        </p:tgtEl>
                                      </p:cBhvr>
                                    </p:animEffect>
                                    <p:anim calcmode="lin" valueType="num">
                                      <p:cBhvr>
                                        <p:cTn id="5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CC088FE1-D29D-43FF-B059-907A0DD04822}"/>
              </a:ext>
            </a:extLst>
          </p:cNvPr>
          <p:cNvSpPr>
            <a:spLocks noGrp="1" noChangeArrowheads="1"/>
          </p:cNvSpPr>
          <p:nvPr>
            <p:ph type="title"/>
          </p:nvPr>
        </p:nvSpPr>
        <p:spPr>
          <a:xfrm rot="16200000">
            <a:off x="-3244360" y="536442"/>
            <a:ext cx="7610739" cy="832115"/>
          </a:xfrm>
        </p:spPr>
        <p:txBody>
          <a:bodyPr/>
          <a:lstStyle/>
          <a:p>
            <a:pPr>
              <a:defRPr/>
            </a:pPr>
            <a:r>
              <a:rPr lang="en-GB" altLang="en-US" sz="2333" b="1" dirty="0">
                <a:latin typeface="+mn-lt"/>
              </a:rPr>
              <a:t>CASCADE OF OBJECTIVES</a:t>
            </a:r>
            <a:endParaRPr lang="en-GB" altLang="en-US" b="1" u="sng" dirty="0">
              <a:latin typeface="+mn-lt"/>
            </a:endParaRPr>
          </a:p>
        </p:txBody>
      </p:sp>
      <p:sp>
        <p:nvSpPr>
          <p:cNvPr id="105475" name="Text Box 3">
            <a:extLst>
              <a:ext uri="{FF2B5EF4-FFF2-40B4-BE49-F238E27FC236}">
                <a16:creationId xmlns:a16="http://schemas.microsoft.com/office/drawing/2014/main" id="{227E5CAF-4681-4EBA-9B87-BEBED7257B8D}"/>
              </a:ext>
            </a:extLst>
          </p:cNvPr>
          <p:cNvSpPr txBox="1">
            <a:spLocks noChangeArrowheads="1"/>
          </p:cNvSpPr>
          <p:nvPr/>
        </p:nvSpPr>
        <p:spPr bwMode="auto">
          <a:xfrm>
            <a:off x="2286000" y="572500"/>
            <a:ext cx="4937125" cy="272382"/>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GB" altLang="en-US" sz="1170" b="1" dirty="0"/>
              <a:t>Organisation mission, vision or purpose </a:t>
            </a:r>
            <a:endParaRPr lang="en-GB" altLang="en-US" sz="1170" dirty="0"/>
          </a:p>
        </p:txBody>
      </p:sp>
      <p:sp>
        <p:nvSpPr>
          <p:cNvPr id="105476" name="AutoShape 4">
            <a:extLst>
              <a:ext uri="{FF2B5EF4-FFF2-40B4-BE49-F238E27FC236}">
                <a16:creationId xmlns:a16="http://schemas.microsoft.com/office/drawing/2014/main" id="{AB1AE2F6-CE9B-4770-BF6D-E2EBB3A03EA1}"/>
              </a:ext>
            </a:extLst>
          </p:cNvPr>
          <p:cNvSpPr>
            <a:spLocks noChangeArrowheads="1"/>
          </p:cNvSpPr>
          <p:nvPr/>
        </p:nvSpPr>
        <p:spPr bwMode="auto">
          <a:xfrm>
            <a:off x="2540000" y="572500"/>
            <a:ext cx="4000500" cy="762000"/>
          </a:xfrm>
          <a:prstGeom prst="roundRect">
            <a:avLst>
              <a:gd name="adj" fmla="val 16667"/>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endParaRPr lang="en-GB" altLang="en-US" sz="1170" dirty="0"/>
          </a:p>
        </p:txBody>
      </p:sp>
      <p:sp>
        <p:nvSpPr>
          <p:cNvPr id="105477" name="Text Box 5">
            <a:extLst>
              <a:ext uri="{FF2B5EF4-FFF2-40B4-BE49-F238E27FC236}">
                <a16:creationId xmlns:a16="http://schemas.microsoft.com/office/drawing/2014/main" id="{E279D067-DF1A-4B46-A272-65EAC8B65098}"/>
              </a:ext>
            </a:extLst>
          </p:cNvPr>
          <p:cNvSpPr txBox="1">
            <a:spLocks noChangeArrowheads="1"/>
          </p:cNvSpPr>
          <p:nvPr/>
        </p:nvSpPr>
        <p:spPr bwMode="auto">
          <a:xfrm>
            <a:off x="1714500" y="1271001"/>
            <a:ext cx="5842000" cy="477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GB" altLang="en-US" sz="1170" b="1" dirty="0"/>
              <a:t>Corporate or Strategic plan</a:t>
            </a:r>
            <a:br>
              <a:rPr lang="en-GB" altLang="en-US" sz="1170" b="1" dirty="0"/>
            </a:br>
            <a:endParaRPr lang="en-GB" altLang="en-US" sz="1333" dirty="0"/>
          </a:p>
        </p:txBody>
      </p:sp>
      <p:sp>
        <p:nvSpPr>
          <p:cNvPr id="105478" name="AutoShape 6">
            <a:extLst>
              <a:ext uri="{FF2B5EF4-FFF2-40B4-BE49-F238E27FC236}">
                <a16:creationId xmlns:a16="http://schemas.microsoft.com/office/drawing/2014/main" id="{20554B48-2302-4B8C-B7A6-40F23DF14BCE}"/>
              </a:ext>
            </a:extLst>
          </p:cNvPr>
          <p:cNvSpPr>
            <a:spLocks noChangeArrowheads="1"/>
          </p:cNvSpPr>
          <p:nvPr/>
        </p:nvSpPr>
        <p:spPr bwMode="auto">
          <a:xfrm>
            <a:off x="1714500" y="1271000"/>
            <a:ext cx="5905500" cy="444500"/>
          </a:xfrm>
          <a:prstGeom prst="roundRect">
            <a:avLst>
              <a:gd name="adj" fmla="val 16667"/>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endParaRPr lang="en-GB" altLang="en-US" sz="1170" dirty="0"/>
          </a:p>
        </p:txBody>
      </p:sp>
      <p:sp>
        <p:nvSpPr>
          <p:cNvPr id="105479" name="Text Box 7">
            <a:extLst>
              <a:ext uri="{FF2B5EF4-FFF2-40B4-BE49-F238E27FC236}">
                <a16:creationId xmlns:a16="http://schemas.microsoft.com/office/drawing/2014/main" id="{86918C4E-2AD9-4A89-850A-894B69437BE6}"/>
              </a:ext>
            </a:extLst>
          </p:cNvPr>
          <p:cNvSpPr txBox="1">
            <a:spLocks noChangeArrowheads="1"/>
          </p:cNvSpPr>
          <p:nvPr/>
        </p:nvSpPr>
        <p:spPr bwMode="auto">
          <a:xfrm>
            <a:off x="2032000" y="2160001"/>
            <a:ext cx="5080000" cy="477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GB" altLang="en-US" sz="1170" b="1" dirty="0"/>
              <a:t>Business or Action plan</a:t>
            </a:r>
            <a:br>
              <a:rPr lang="en-GB" altLang="en-US" sz="1170" b="1" dirty="0"/>
            </a:br>
            <a:r>
              <a:rPr lang="en-GB" altLang="en-US" sz="1333" dirty="0"/>
              <a:t>The shorter-term objectives to achieve the strategic objectives</a:t>
            </a:r>
          </a:p>
        </p:txBody>
      </p:sp>
      <p:sp>
        <p:nvSpPr>
          <p:cNvPr id="105480" name="AutoShape 8">
            <a:extLst>
              <a:ext uri="{FF2B5EF4-FFF2-40B4-BE49-F238E27FC236}">
                <a16:creationId xmlns:a16="http://schemas.microsoft.com/office/drawing/2014/main" id="{95914ADE-F583-46BC-AA48-4ED0403AC3DF}"/>
              </a:ext>
            </a:extLst>
          </p:cNvPr>
          <p:cNvSpPr>
            <a:spLocks noChangeArrowheads="1"/>
          </p:cNvSpPr>
          <p:nvPr/>
        </p:nvSpPr>
        <p:spPr bwMode="auto">
          <a:xfrm>
            <a:off x="1714500" y="2096500"/>
            <a:ext cx="5905500" cy="698500"/>
          </a:xfrm>
          <a:prstGeom prst="roundRect">
            <a:avLst>
              <a:gd name="adj" fmla="val 16667"/>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endParaRPr lang="en-GB" altLang="en-US" sz="1170" dirty="0"/>
          </a:p>
        </p:txBody>
      </p:sp>
      <p:sp>
        <p:nvSpPr>
          <p:cNvPr id="105481" name="Text Box 9">
            <a:extLst>
              <a:ext uri="{FF2B5EF4-FFF2-40B4-BE49-F238E27FC236}">
                <a16:creationId xmlns:a16="http://schemas.microsoft.com/office/drawing/2014/main" id="{43A87E94-C560-40AD-83B4-F91B04E0D548}"/>
              </a:ext>
            </a:extLst>
          </p:cNvPr>
          <p:cNvSpPr txBox="1">
            <a:spLocks noChangeArrowheads="1"/>
          </p:cNvSpPr>
          <p:nvPr/>
        </p:nvSpPr>
        <p:spPr bwMode="auto">
          <a:xfrm>
            <a:off x="1811073" y="4192000"/>
            <a:ext cx="5745427" cy="682623"/>
          </a:xfrm>
          <a:prstGeom prst="rect">
            <a:avLst/>
          </a:prstGeom>
          <a:ln w="31750">
            <a:headEnd/>
            <a:tailEnd/>
          </a:ln>
        </p:spPr>
        <p:style>
          <a:lnRef idx="2">
            <a:schemeClr val="dk1"/>
          </a:lnRef>
          <a:fillRef idx="1">
            <a:schemeClr val="lt1"/>
          </a:fillRef>
          <a:effectRef idx="0">
            <a:schemeClr val="dk1"/>
          </a:effectRef>
          <a:fontRef idx="minor">
            <a:schemeClr val="dk1"/>
          </a:fontRef>
        </p:style>
        <p:txBody>
          <a:bodyPr>
            <a:spAutoFit/>
          </a:bodyPr>
          <a:lstStyle/>
          <a:p>
            <a:pPr algn="ctr">
              <a:defRPr/>
            </a:pPr>
            <a:r>
              <a:rPr lang="en-GB" altLang="en-US" sz="1170" b="1" dirty="0"/>
              <a:t>Individual plan</a:t>
            </a:r>
            <a:br>
              <a:rPr lang="en-GB" altLang="en-US" sz="1170" b="1" dirty="0"/>
            </a:br>
            <a:r>
              <a:rPr lang="en-GB" altLang="en-US" sz="1333" dirty="0"/>
              <a:t>The role , objectives and contribution of each individual to</a:t>
            </a:r>
          </a:p>
          <a:p>
            <a:pPr algn="ctr">
              <a:defRPr/>
            </a:pPr>
            <a:r>
              <a:rPr lang="en-GB" altLang="en-US" sz="1333" dirty="0"/>
              <a:t> achieving the team’s objectives</a:t>
            </a:r>
          </a:p>
        </p:txBody>
      </p:sp>
      <p:sp>
        <p:nvSpPr>
          <p:cNvPr id="105482" name="AutoShape 10">
            <a:extLst>
              <a:ext uri="{FF2B5EF4-FFF2-40B4-BE49-F238E27FC236}">
                <a16:creationId xmlns:a16="http://schemas.microsoft.com/office/drawing/2014/main" id="{187911FC-1BB3-4478-8C7A-0C2682BD0961}"/>
              </a:ext>
            </a:extLst>
          </p:cNvPr>
          <p:cNvSpPr>
            <a:spLocks noChangeArrowheads="1"/>
          </p:cNvSpPr>
          <p:nvPr/>
        </p:nvSpPr>
        <p:spPr bwMode="auto">
          <a:xfrm>
            <a:off x="2603500" y="4446000"/>
            <a:ext cx="3810000" cy="762000"/>
          </a:xfrm>
          <a:prstGeom prst="roundRect">
            <a:avLst>
              <a:gd name="adj" fmla="val 16667"/>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endParaRPr lang="en-GB" altLang="en-US" sz="1170" dirty="0"/>
          </a:p>
        </p:txBody>
      </p:sp>
      <p:sp>
        <p:nvSpPr>
          <p:cNvPr id="105483" name="AutoShape 11">
            <a:extLst>
              <a:ext uri="{FF2B5EF4-FFF2-40B4-BE49-F238E27FC236}">
                <a16:creationId xmlns:a16="http://schemas.microsoft.com/office/drawing/2014/main" id="{CCF882FB-C584-4A38-BBC2-EF7EC2B1ECA0}"/>
              </a:ext>
            </a:extLst>
          </p:cNvPr>
          <p:cNvSpPr>
            <a:spLocks noChangeArrowheads="1"/>
          </p:cNvSpPr>
          <p:nvPr/>
        </p:nvSpPr>
        <p:spPr bwMode="auto">
          <a:xfrm>
            <a:off x="4381500" y="953500"/>
            <a:ext cx="317500" cy="254000"/>
          </a:xfrm>
          <a:prstGeom prst="downArrow">
            <a:avLst>
              <a:gd name="adj1" fmla="val 50000"/>
              <a:gd name="adj2" fmla="val 25000"/>
            </a:avLst>
          </a:prstGeom>
          <a:solidFill>
            <a:srgbClr val="00B05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endParaRPr lang="en-GB" altLang="en-US" sz="1170" dirty="0"/>
          </a:p>
        </p:txBody>
      </p:sp>
      <p:sp>
        <p:nvSpPr>
          <p:cNvPr id="105484" name="AutoShape 12">
            <a:extLst>
              <a:ext uri="{FF2B5EF4-FFF2-40B4-BE49-F238E27FC236}">
                <a16:creationId xmlns:a16="http://schemas.microsoft.com/office/drawing/2014/main" id="{825BEAA5-0B4F-4479-8DC2-25C16D8BE765}"/>
              </a:ext>
            </a:extLst>
          </p:cNvPr>
          <p:cNvSpPr>
            <a:spLocks noChangeArrowheads="1"/>
          </p:cNvSpPr>
          <p:nvPr/>
        </p:nvSpPr>
        <p:spPr bwMode="auto">
          <a:xfrm>
            <a:off x="4381500" y="3938000"/>
            <a:ext cx="254000" cy="206375"/>
          </a:xfrm>
          <a:prstGeom prst="downArrow">
            <a:avLst>
              <a:gd name="adj1" fmla="val 50000"/>
              <a:gd name="adj2" fmla="val 25000"/>
            </a:avLst>
          </a:prstGeom>
          <a:solidFill>
            <a:srgbClr val="00B05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a:endParaRPr lang="en-GB" altLang="en-US" sz="1170" dirty="0"/>
          </a:p>
        </p:txBody>
      </p:sp>
      <p:sp>
        <p:nvSpPr>
          <p:cNvPr id="105485" name="AutoShape 13">
            <a:extLst>
              <a:ext uri="{FF2B5EF4-FFF2-40B4-BE49-F238E27FC236}">
                <a16:creationId xmlns:a16="http://schemas.microsoft.com/office/drawing/2014/main" id="{F7628E5A-CE27-4662-B29D-7B2F1E6AB082}"/>
              </a:ext>
            </a:extLst>
          </p:cNvPr>
          <p:cNvSpPr>
            <a:spLocks noChangeArrowheads="1"/>
          </p:cNvSpPr>
          <p:nvPr/>
        </p:nvSpPr>
        <p:spPr bwMode="auto">
          <a:xfrm>
            <a:off x="4318000" y="2858500"/>
            <a:ext cx="317500" cy="190500"/>
          </a:xfrm>
          <a:prstGeom prst="downArrow">
            <a:avLst>
              <a:gd name="adj1" fmla="val 50000"/>
              <a:gd name="adj2" fmla="val 25000"/>
            </a:avLst>
          </a:prstGeom>
          <a:solidFill>
            <a:srgbClr val="00B05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endParaRPr lang="en-GB" altLang="en-US" sz="1170" dirty="0"/>
          </a:p>
        </p:txBody>
      </p:sp>
      <p:sp>
        <p:nvSpPr>
          <p:cNvPr id="105486" name="AutoShape 14">
            <a:extLst>
              <a:ext uri="{FF2B5EF4-FFF2-40B4-BE49-F238E27FC236}">
                <a16:creationId xmlns:a16="http://schemas.microsoft.com/office/drawing/2014/main" id="{6D97B4A6-3EB6-4EF6-83BC-B538B055A536}"/>
              </a:ext>
            </a:extLst>
          </p:cNvPr>
          <p:cNvSpPr>
            <a:spLocks noChangeArrowheads="1"/>
          </p:cNvSpPr>
          <p:nvPr/>
        </p:nvSpPr>
        <p:spPr bwMode="auto">
          <a:xfrm>
            <a:off x="4381500" y="1842500"/>
            <a:ext cx="317500" cy="190500"/>
          </a:xfrm>
          <a:prstGeom prst="downArrow">
            <a:avLst>
              <a:gd name="adj1" fmla="val 50000"/>
              <a:gd name="adj2" fmla="val 25000"/>
            </a:avLst>
          </a:prstGeom>
          <a:solidFill>
            <a:srgbClr val="00B050"/>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endParaRPr lang="en-GB" altLang="en-US" sz="1170" dirty="0"/>
          </a:p>
        </p:txBody>
      </p:sp>
      <p:sp>
        <p:nvSpPr>
          <p:cNvPr id="105487" name="Text Box 15">
            <a:extLst>
              <a:ext uri="{FF2B5EF4-FFF2-40B4-BE49-F238E27FC236}">
                <a16:creationId xmlns:a16="http://schemas.microsoft.com/office/drawing/2014/main" id="{8E9F5707-4338-44D6-A7F8-00FB73F34E3F}"/>
              </a:ext>
            </a:extLst>
          </p:cNvPr>
          <p:cNvSpPr txBox="1">
            <a:spLocks noChangeArrowheads="1"/>
          </p:cNvSpPr>
          <p:nvPr/>
        </p:nvSpPr>
        <p:spPr bwMode="auto">
          <a:xfrm>
            <a:off x="1905000" y="3112501"/>
            <a:ext cx="5524500" cy="682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pPr algn="ctr">
              <a:spcBef>
                <a:spcPct val="50000"/>
              </a:spcBef>
            </a:pPr>
            <a:r>
              <a:rPr lang="en-GB" altLang="en-US" sz="1170" b="1" dirty="0"/>
              <a:t>Team plan</a:t>
            </a:r>
            <a:br>
              <a:rPr lang="en-GB" altLang="en-US" sz="1170" b="1" dirty="0"/>
            </a:br>
            <a:r>
              <a:rPr lang="en-GB" altLang="en-US" sz="1333" dirty="0"/>
              <a:t>The role and objectives for each part of the organisation in fulfilling the action plan</a:t>
            </a:r>
          </a:p>
        </p:txBody>
      </p:sp>
      <p:sp>
        <p:nvSpPr>
          <p:cNvPr id="105488" name="AutoShape 16">
            <a:extLst>
              <a:ext uri="{FF2B5EF4-FFF2-40B4-BE49-F238E27FC236}">
                <a16:creationId xmlns:a16="http://schemas.microsoft.com/office/drawing/2014/main" id="{659175D3-6DB2-4D57-BF67-D1E61EB33B24}"/>
              </a:ext>
            </a:extLst>
          </p:cNvPr>
          <p:cNvSpPr>
            <a:spLocks noChangeArrowheads="1"/>
          </p:cNvSpPr>
          <p:nvPr/>
        </p:nvSpPr>
        <p:spPr bwMode="auto">
          <a:xfrm>
            <a:off x="1714500" y="3112500"/>
            <a:ext cx="5905500" cy="762000"/>
          </a:xfrm>
          <a:prstGeom prst="roundRect">
            <a:avLst>
              <a:gd name="adj" fmla="val 16667"/>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endParaRPr lang="en-GB" altLang="en-US" sz="1170" dirty="0"/>
          </a:p>
        </p:txBody>
      </p:sp>
      <p:sp>
        <p:nvSpPr>
          <p:cNvPr id="2" name="Rounded Rectangle 1">
            <a:extLst>
              <a:ext uri="{FF2B5EF4-FFF2-40B4-BE49-F238E27FC236}">
                <a16:creationId xmlns:a16="http://schemas.microsoft.com/office/drawing/2014/main" id="{6C8FA80E-1E1E-4AA0-884D-B608F514083E}"/>
              </a:ext>
            </a:extLst>
          </p:cNvPr>
          <p:cNvSpPr/>
          <p:nvPr/>
        </p:nvSpPr>
        <p:spPr bwMode="auto">
          <a:xfrm>
            <a:off x="6971771" y="3112500"/>
            <a:ext cx="38365" cy="38365"/>
          </a:xfrm>
          <a:prstGeom prst="round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bIns="0" anchor="b"/>
          <a:lstStyle/>
          <a:p>
            <a:pPr eaLnBrk="1" hangingPunct="1">
              <a:defRPr/>
            </a:pPr>
            <a:endParaRPr lang="en-GB" sz="2417" b="1" dirty="0">
              <a:solidFill>
                <a:schemeClr val="bg1"/>
              </a:solidFill>
              <a:latin typeface="Arial" charset="0"/>
              <a:ea typeface="ＭＳ Ｐゴシック" charset="0"/>
            </a:endParaRPr>
          </a:p>
        </p:txBody>
      </p:sp>
      <p:sp>
        <p:nvSpPr>
          <p:cNvPr id="18" name="Line 7">
            <a:extLst>
              <a:ext uri="{FF2B5EF4-FFF2-40B4-BE49-F238E27FC236}">
                <a16:creationId xmlns:a16="http://schemas.microsoft.com/office/drawing/2014/main" id="{AAA4FF17-FA2A-4FA0-8AA5-972923532F9F}"/>
              </a:ext>
            </a:extLst>
          </p:cNvPr>
          <p:cNvSpPr>
            <a:spLocks noChangeShapeType="1"/>
          </p:cNvSpPr>
          <p:nvPr/>
        </p:nvSpPr>
        <p:spPr bwMode="auto">
          <a:xfrm>
            <a:off x="1128449" y="1334500"/>
            <a:ext cx="38366" cy="3258511"/>
          </a:xfrm>
          <a:prstGeom prst="line">
            <a:avLst/>
          </a:prstGeom>
          <a:noFill/>
          <a:ln w="698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sz="1170" dirty="0"/>
          </a:p>
        </p:txBody>
      </p:sp>
    </p:spTree>
    <p:extLst>
      <p:ext uri="{BB962C8B-B14F-4D97-AF65-F5344CB8AC3E}">
        <p14:creationId xmlns:p14="http://schemas.microsoft.com/office/powerpoint/2010/main" val="133465487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5474"/>
                                        </p:tgtEl>
                                        <p:attrNameLst>
                                          <p:attrName>style.visibility</p:attrName>
                                        </p:attrNameLst>
                                      </p:cBhvr>
                                      <p:to>
                                        <p:strVal val="visible"/>
                                      </p:to>
                                    </p:set>
                                    <p:anim calcmode="lin" valueType="num">
                                      <p:cBhvr additive="base">
                                        <p:cTn id="7" dur="500" fill="hold"/>
                                        <p:tgtEl>
                                          <p:spTgt spid="105474"/>
                                        </p:tgtEl>
                                        <p:attrNameLst>
                                          <p:attrName>ppt_x</p:attrName>
                                        </p:attrNameLst>
                                      </p:cBhvr>
                                      <p:tavLst>
                                        <p:tav tm="0">
                                          <p:val>
                                            <p:strVal val="#ppt_x"/>
                                          </p:val>
                                        </p:tav>
                                        <p:tav tm="100000">
                                          <p:val>
                                            <p:strVal val="#ppt_x"/>
                                          </p:val>
                                        </p:tav>
                                      </p:tavLst>
                                    </p:anim>
                                    <p:anim calcmode="lin" valueType="num">
                                      <p:cBhvr additive="base">
                                        <p:cTn id="8" dur="500" fill="hold"/>
                                        <p:tgtEl>
                                          <p:spTgt spid="10547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9" fill="hold" grpId="0" nodeType="clickEffect" nodePh="1">
                                  <p:stCondLst>
                                    <p:cond delay="0"/>
                                  </p:stCondLst>
                                  <p:endCondLst>
                                    <p:cond evt="begin" delay="0">
                                      <p:tn val="15"/>
                                    </p:cond>
                                  </p:endCondLst>
                                  <p:childTnLst>
                                    <p:set>
                                      <p:cBhvr>
                                        <p:cTn id="16" dur="1" fill="hold">
                                          <p:stCondLst>
                                            <p:cond delay="0"/>
                                          </p:stCondLst>
                                        </p:cTn>
                                        <p:tgtEl>
                                          <p:spTgt spid="105476"/>
                                        </p:tgtEl>
                                        <p:attrNameLst>
                                          <p:attrName>style.visibility</p:attrName>
                                        </p:attrNameLst>
                                      </p:cBhvr>
                                      <p:to>
                                        <p:strVal val="visible"/>
                                      </p:to>
                                    </p:set>
                                    <p:anim calcmode="lin" valueType="num">
                                      <p:cBhvr additive="base">
                                        <p:cTn id="17" dur="500" fill="hold"/>
                                        <p:tgtEl>
                                          <p:spTgt spid="105476"/>
                                        </p:tgtEl>
                                        <p:attrNameLst>
                                          <p:attrName>ppt_x</p:attrName>
                                        </p:attrNameLst>
                                      </p:cBhvr>
                                      <p:tavLst>
                                        <p:tav tm="0">
                                          <p:val>
                                            <p:strVal val="0-#ppt_w/2"/>
                                          </p:val>
                                        </p:tav>
                                        <p:tav tm="100000">
                                          <p:val>
                                            <p:strVal val="#ppt_x"/>
                                          </p:val>
                                        </p:tav>
                                      </p:tavLst>
                                    </p:anim>
                                    <p:anim calcmode="lin" valueType="num">
                                      <p:cBhvr additive="base">
                                        <p:cTn id="18" dur="500" fill="hold"/>
                                        <p:tgtEl>
                                          <p:spTgt spid="105476"/>
                                        </p:tgtEl>
                                        <p:attrNameLst>
                                          <p:attrName>ppt_y</p:attrName>
                                        </p:attrNameLst>
                                      </p:cBhvr>
                                      <p:tavLst>
                                        <p:tav tm="0">
                                          <p:val>
                                            <p:strVal val="0-#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05475"/>
                                        </p:tgtEl>
                                        <p:attrNameLst>
                                          <p:attrName>style.visibility</p:attrName>
                                        </p:attrNameLst>
                                      </p:cBhvr>
                                      <p:to>
                                        <p:strVal val="visible"/>
                                      </p:to>
                                    </p:set>
                                    <p:anim calcmode="lin" valueType="num">
                                      <p:cBhvr additive="base">
                                        <p:cTn id="23" dur="500" fill="hold"/>
                                        <p:tgtEl>
                                          <p:spTgt spid="105475"/>
                                        </p:tgtEl>
                                        <p:attrNameLst>
                                          <p:attrName>ppt_x</p:attrName>
                                        </p:attrNameLst>
                                      </p:cBhvr>
                                      <p:tavLst>
                                        <p:tav tm="0">
                                          <p:val>
                                            <p:strVal val="#ppt_x"/>
                                          </p:val>
                                        </p:tav>
                                        <p:tav tm="100000">
                                          <p:val>
                                            <p:strVal val="#ppt_x"/>
                                          </p:val>
                                        </p:tav>
                                      </p:tavLst>
                                    </p:anim>
                                    <p:anim calcmode="lin" valueType="num">
                                      <p:cBhvr additive="base">
                                        <p:cTn id="24" dur="500" fill="hold"/>
                                        <p:tgtEl>
                                          <p:spTgt spid="10547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1" fill="hold" grpId="0" nodeType="clickEffect">
                                  <p:stCondLst>
                                    <p:cond delay="0"/>
                                  </p:stCondLst>
                                  <p:childTnLst>
                                    <p:set>
                                      <p:cBhvr>
                                        <p:cTn id="28" dur="1" fill="hold">
                                          <p:stCondLst>
                                            <p:cond delay="0"/>
                                          </p:stCondLst>
                                        </p:cTn>
                                        <p:tgtEl>
                                          <p:spTgt spid="105483"/>
                                        </p:tgtEl>
                                        <p:attrNameLst>
                                          <p:attrName>style.visibility</p:attrName>
                                        </p:attrNameLst>
                                      </p:cBhvr>
                                      <p:to>
                                        <p:strVal val="visible"/>
                                      </p:to>
                                    </p:set>
                                    <p:anim calcmode="lin" valueType="num">
                                      <p:cBhvr additive="base">
                                        <p:cTn id="29" dur="500" fill="hold"/>
                                        <p:tgtEl>
                                          <p:spTgt spid="105483"/>
                                        </p:tgtEl>
                                        <p:attrNameLst>
                                          <p:attrName>ppt_x</p:attrName>
                                        </p:attrNameLst>
                                      </p:cBhvr>
                                      <p:tavLst>
                                        <p:tav tm="0">
                                          <p:val>
                                            <p:strVal val="#ppt_x"/>
                                          </p:val>
                                        </p:tav>
                                        <p:tav tm="100000">
                                          <p:val>
                                            <p:strVal val="#ppt_x"/>
                                          </p:val>
                                        </p:tav>
                                      </p:tavLst>
                                    </p:anim>
                                    <p:anim calcmode="lin" valueType="num">
                                      <p:cBhvr additive="base">
                                        <p:cTn id="30" dur="500" fill="hold"/>
                                        <p:tgtEl>
                                          <p:spTgt spid="105483"/>
                                        </p:tgtEl>
                                        <p:attrNameLst>
                                          <p:attrName>ppt_y</p:attrName>
                                        </p:attrNameLst>
                                      </p:cBhvr>
                                      <p:tavLst>
                                        <p:tav tm="0">
                                          <p:val>
                                            <p:strVal val="0-#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05478"/>
                                        </p:tgtEl>
                                        <p:attrNameLst>
                                          <p:attrName>style.visibility</p:attrName>
                                        </p:attrNameLst>
                                      </p:cBhvr>
                                      <p:to>
                                        <p:strVal val="visible"/>
                                      </p:to>
                                    </p:set>
                                    <p:anim calcmode="lin" valueType="num">
                                      <p:cBhvr additive="base">
                                        <p:cTn id="35" dur="500" fill="hold"/>
                                        <p:tgtEl>
                                          <p:spTgt spid="105478"/>
                                        </p:tgtEl>
                                        <p:attrNameLst>
                                          <p:attrName>ppt_x</p:attrName>
                                        </p:attrNameLst>
                                      </p:cBhvr>
                                      <p:tavLst>
                                        <p:tav tm="0">
                                          <p:val>
                                            <p:strVal val="#ppt_x"/>
                                          </p:val>
                                        </p:tav>
                                        <p:tav tm="100000">
                                          <p:val>
                                            <p:strVal val="#ppt_x"/>
                                          </p:val>
                                        </p:tav>
                                      </p:tavLst>
                                    </p:anim>
                                    <p:anim calcmode="lin" valueType="num">
                                      <p:cBhvr additive="base">
                                        <p:cTn id="36" dur="500" fill="hold"/>
                                        <p:tgtEl>
                                          <p:spTgt spid="105478"/>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05477"/>
                                        </p:tgtEl>
                                        <p:attrNameLst>
                                          <p:attrName>style.visibility</p:attrName>
                                        </p:attrNameLst>
                                      </p:cBhvr>
                                      <p:to>
                                        <p:strVal val="visible"/>
                                      </p:to>
                                    </p:set>
                                    <p:anim calcmode="lin" valueType="num">
                                      <p:cBhvr additive="base">
                                        <p:cTn id="41" dur="500" fill="hold"/>
                                        <p:tgtEl>
                                          <p:spTgt spid="105477"/>
                                        </p:tgtEl>
                                        <p:attrNameLst>
                                          <p:attrName>ppt_x</p:attrName>
                                        </p:attrNameLst>
                                      </p:cBhvr>
                                      <p:tavLst>
                                        <p:tav tm="0">
                                          <p:val>
                                            <p:strVal val="#ppt_x"/>
                                          </p:val>
                                        </p:tav>
                                        <p:tav tm="100000">
                                          <p:val>
                                            <p:strVal val="#ppt_x"/>
                                          </p:val>
                                        </p:tav>
                                      </p:tavLst>
                                    </p:anim>
                                    <p:anim calcmode="lin" valueType="num">
                                      <p:cBhvr additive="base">
                                        <p:cTn id="42" dur="500" fill="hold"/>
                                        <p:tgtEl>
                                          <p:spTgt spid="105477"/>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1" fill="hold" grpId="0" nodeType="clickEffect">
                                  <p:stCondLst>
                                    <p:cond delay="0"/>
                                  </p:stCondLst>
                                  <p:childTnLst>
                                    <p:set>
                                      <p:cBhvr>
                                        <p:cTn id="46" dur="1" fill="hold">
                                          <p:stCondLst>
                                            <p:cond delay="0"/>
                                          </p:stCondLst>
                                        </p:cTn>
                                        <p:tgtEl>
                                          <p:spTgt spid="105486"/>
                                        </p:tgtEl>
                                        <p:attrNameLst>
                                          <p:attrName>style.visibility</p:attrName>
                                        </p:attrNameLst>
                                      </p:cBhvr>
                                      <p:to>
                                        <p:strVal val="visible"/>
                                      </p:to>
                                    </p:set>
                                    <p:anim calcmode="lin" valueType="num">
                                      <p:cBhvr additive="base">
                                        <p:cTn id="47" dur="500" fill="hold"/>
                                        <p:tgtEl>
                                          <p:spTgt spid="105486"/>
                                        </p:tgtEl>
                                        <p:attrNameLst>
                                          <p:attrName>ppt_x</p:attrName>
                                        </p:attrNameLst>
                                      </p:cBhvr>
                                      <p:tavLst>
                                        <p:tav tm="0">
                                          <p:val>
                                            <p:strVal val="#ppt_x"/>
                                          </p:val>
                                        </p:tav>
                                        <p:tav tm="100000">
                                          <p:val>
                                            <p:strVal val="#ppt_x"/>
                                          </p:val>
                                        </p:tav>
                                      </p:tavLst>
                                    </p:anim>
                                    <p:anim calcmode="lin" valueType="num">
                                      <p:cBhvr additive="base">
                                        <p:cTn id="48" dur="500" fill="hold"/>
                                        <p:tgtEl>
                                          <p:spTgt spid="105486"/>
                                        </p:tgtEl>
                                        <p:attrNameLst>
                                          <p:attrName>ppt_y</p:attrName>
                                        </p:attrNameLst>
                                      </p:cBhvr>
                                      <p:tavLst>
                                        <p:tav tm="0">
                                          <p:val>
                                            <p:strVal val="0-#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05480"/>
                                        </p:tgtEl>
                                        <p:attrNameLst>
                                          <p:attrName>style.visibility</p:attrName>
                                        </p:attrNameLst>
                                      </p:cBhvr>
                                      <p:to>
                                        <p:strVal val="visible"/>
                                      </p:to>
                                    </p:set>
                                    <p:anim calcmode="lin" valueType="num">
                                      <p:cBhvr additive="base">
                                        <p:cTn id="53" dur="500" fill="hold"/>
                                        <p:tgtEl>
                                          <p:spTgt spid="105480"/>
                                        </p:tgtEl>
                                        <p:attrNameLst>
                                          <p:attrName>ppt_x</p:attrName>
                                        </p:attrNameLst>
                                      </p:cBhvr>
                                      <p:tavLst>
                                        <p:tav tm="0">
                                          <p:val>
                                            <p:strVal val="#ppt_x"/>
                                          </p:val>
                                        </p:tav>
                                        <p:tav tm="100000">
                                          <p:val>
                                            <p:strVal val="#ppt_x"/>
                                          </p:val>
                                        </p:tav>
                                      </p:tavLst>
                                    </p:anim>
                                    <p:anim calcmode="lin" valueType="num">
                                      <p:cBhvr additive="base">
                                        <p:cTn id="54" dur="500" fill="hold"/>
                                        <p:tgtEl>
                                          <p:spTgt spid="105480"/>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05479"/>
                                        </p:tgtEl>
                                        <p:attrNameLst>
                                          <p:attrName>style.visibility</p:attrName>
                                        </p:attrNameLst>
                                      </p:cBhvr>
                                      <p:to>
                                        <p:strVal val="visible"/>
                                      </p:to>
                                    </p:set>
                                    <p:anim calcmode="lin" valueType="num">
                                      <p:cBhvr additive="base">
                                        <p:cTn id="59" dur="500" fill="hold"/>
                                        <p:tgtEl>
                                          <p:spTgt spid="105479"/>
                                        </p:tgtEl>
                                        <p:attrNameLst>
                                          <p:attrName>ppt_x</p:attrName>
                                        </p:attrNameLst>
                                      </p:cBhvr>
                                      <p:tavLst>
                                        <p:tav tm="0">
                                          <p:val>
                                            <p:strVal val="#ppt_x"/>
                                          </p:val>
                                        </p:tav>
                                        <p:tav tm="100000">
                                          <p:val>
                                            <p:strVal val="#ppt_x"/>
                                          </p:val>
                                        </p:tav>
                                      </p:tavLst>
                                    </p:anim>
                                    <p:anim calcmode="lin" valueType="num">
                                      <p:cBhvr additive="base">
                                        <p:cTn id="60" dur="500" fill="hold"/>
                                        <p:tgtEl>
                                          <p:spTgt spid="105479"/>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1" fill="hold" grpId="0" nodeType="clickEffect">
                                  <p:stCondLst>
                                    <p:cond delay="0"/>
                                  </p:stCondLst>
                                  <p:childTnLst>
                                    <p:set>
                                      <p:cBhvr>
                                        <p:cTn id="64" dur="1" fill="hold">
                                          <p:stCondLst>
                                            <p:cond delay="0"/>
                                          </p:stCondLst>
                                        </p:cTn>
                                        <p:tgtEl>
                                          <p:spTgt spid="105485"/>
                                        </p:tgtEl>
                                        <p:attrNameLst>
                                          <p:attrName>style.visibility</p:attrName>
                                        </p:attrNameLst>
                                      </p:cBhvr>
                                      <p:to>
                                        <p:strVal val="visible"/>
                                      </p:to>
                                    </p:set>
                                    <p:anim calcmode="lin" valueType="num">
                                      <p:cBhvr additive="base">
                                        <p:cTn id="65" dur="500" fill="hold"/>
                                        <p:tgtEl>
                                          <p:spTgt spid="105485"/>
                                        </p:tgtEl>
                                        <p:attrNameLst>
                                          <p:attrName>ppt_x</p:attrName>
                                        </p:attrNameLst>
                                      </p:cBhvr>
                                      <p:tavLst>
                                        <p:tav tm="0">
                                          <p:val>
                                            <p:strVal val="#ppt_x"/>
                                          </p:val>
                                        </p:tav>
                                        <p:tav tm="100000">
                                          <p:val>
                                            <p:strVal val="#ppt_x"/>
                                          </p:val>
                                        </p:tav>
                                      </p:tavLst>
                                    </p:anim>
                                    <p:anim calcmode="lin" valueType="num">
                                      <p:cBhvr additive="base">
                                        <p:cTn id="66" dur="500" fill="hold"/>
                                        <p:tgtEl>
                                          <p:spTgt spid="105485"/>
                                        </p:tgtEl>
                                        <p:attrNameLst>
                                          <p:attrName>ppt_y</p:attrName>
                                        </p:attrNameLst>
                                      </p:cBhvr>
                                      <p:tavLst>
                                        <p:tav tm="0">
                                          <p:val>
                                            <p:strVal val="0-#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105488"/>
                                        </p:tgtEl>
                                        <p:attrNameLst>
                                          <p:attrName>style.visibility</p:attrName>
                                        </p:attrNameLst>
                                      </p:cBhvr>
                                      <p:to>
                                        <p:strVal val="visible"/>
                                      </p:to>
                                    </p:set>
                                    <p:anim calcmode="lin" valueType="num">
                                      <p:cBhvr additive="base">
                                        <p:cTn id="71" dur="500" fill="hold"/>
                                        <p:tgtEl>
                                          <p:spTgt spid="105488"/>
                                        </p:tgtEl>
                                        <p:attrNameLst>
                                          <p:attrName>ppt_x</p:attrName>
                                        </p:attrNameLst>
                                      </p:cBhvr>
                                      <p:tavLst>
                                        <p:tav tm="0">
                                          <p:val>
                                            <p:strVal val="#ppt_x"/>
                                          </p:val>
                                        </p:tav>
                                        <p:tav tm="100000">
                                          <p:val>
                                            <p:strVal val="#ppt_x"/>
                                          </p:val>
                                        </p:tav>
                                      </p:tavLst>
                                    </p:anim>
                                    <p:anim calcmode="lin" valueType="num">
                                      <p:cBhvr additive="base">
                                        <p:cTn id="72" dur="500" fill="hold"/>
                                        <p:tgtEl>
                                          <p:spTgt spid="105488"/>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105487"/>
                                        </p:tgtEl>
                                        <p:attrNameLst>
                                          <p:attrName>style.visibility</p:attrName>
                                        </p:attrNameLst>
                                      </p:cBhvr>
                                      <p:to>
                                        <p:strVal val="visible"/>
                                      </p:to>
                                    </p:set>
                                    <p:anim calcmode="lin" valueType="num">
                                      <p:cBhvr additive="base">
                                        <p:cTn id="77" dur="500" fill="hold"/>
                                        <p:tgtEl>
                                          <p:spTgt spid="105487"/>
                                        </p:tgtEl>
                                        <p:attrNameLst>
                                          <p:attrName>ppt_x</p:attrName>
                                        </p:attrNameLst>
                                      </p:cBhvr>
                                      <p:tavLst>
                                        <p:tav tm="0">
                                          <p:val>
                                            <p:strVal val="#ppt_x"/>
                                          </p:val>
                                        </p:tav>
                                        <p:tav tm="100000">
                                          <p:val>
                                            <p:strVal val="#ppt_x"/>
                                          </p:val>
                                        </p:tav>
                                      </p:tavLst>
                                    </p:anim>
                                    <p:anim calcmode="lin" valueType="num">
                                      <p:cBhvr additive="base">
                                        <p:cTn id="78" dur="500" fill="hold"/>
                                        <p:tgtEl>
                                          <p:spTgt spid="105487"/>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1" fill="hold" grpId="0" nodeType="clickEffect">
                                  <p:stCondLst>
                                    <p:cond delay="0"/>
                                  </p:stCondLst>
                                  <p:childTnLst>
                                    <p:set>
                                      <p:cBhvr>
                                        <p:cTn id="82" dur="1" fill="hold">
                                          <p:stCondLst>
                                            <p:cond delay="0"/>
                                          </p:stCondLst>
                                        </p:cTn>
                                        <p:tgtEl>
                                          <p:spTgt spid="105484"/>
                                        </p:tgtEl>
                                        <p:attrNameLst>
                                          <p:attrName>style.visibility</p:attrName>
                                        </p:attrNameLst>
                                      </p:cBhvr>
                                      <p:to>
                                        <p:strVal val="visible"/>
                                      </p:to>
                                    </p:set>
                                    <p:anim calcmode="lin" valueType="num">
                                      <p:cBhvr additive="base">
                                        <p:cTn id="83" dur="500" fill="hold"/>
                                        <p:tgtEl>
                                          <p:spTgt spid="105484"/>
                                        </p:tgtEl>
                                        <p:attrNameLst>
                                          <p:attrName>ppt_x</p:attrName>
                                        </p:attrNameLst>
                                      </p:cBhvr>
                                      <p:tavLst>
                                        <p:tav tm="0">
                                          <p:val>
                                            <p:strVal val="#ppt_x"/>
                                          </p:val>
                                        </p:tav>
                                        <p:tav tm="100000">
                                          <p:val>
                                            <p:strVal val="#ppt_x"/>
                                          </p:val>
                                        </p:tav>
                                      </p:tavLst>
                                    </p:anim>
                                    <p:anim calcmode="lin" valueType="num">
                                      <p:cBhvr additive="base">
                                        <p:cTn id="84" dur="500" fill="hold"/>
                                        <p:tgtEl>
                                          <p:spTgt spid="105484"/>
                                        </p:tgtEl>
                                        <p:attrNameLst>
                                          <p:attrName>ppt_y</p:attrName>
                                        </p:attrNameLst>
                                      </p:cBhvr>
                                      <p:tavLst>
                                        <p:tav tm="0">
                                          <p:val>
                                            <p:strVal val="0-#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105481"/>
                                        </p:tgtEl>
                                        <p:attrNameLst>
                                          <p:attrName>style.visibility</p:attrName>
                                        </p:attrNameLst>
                                      </p:cBhvr>
                                      <p:to>
                                        <p:strVal val="visible"/>
                                      </p:to>
                                    </p:set>
                                    <p:anim calcmode="lin" valueType="num">
                                      <p:cBhvr additive="base">
                                        <p:cTn id="89" dur="500" fill="hold"/>
                                        <p:tgtEl>
                                          <p:spTgt spid="105481"/>
                                        </p:tgtEl>
                                        <p:attrNameLst>
                                          <p:attrName>ppt_x</p:attrName>
                                        </p:attrNameLst>
                                      </p:cBhvr>
                                      <p:tavLst>
                                        <p:tav tm="0">
                                          <p:val>
                                            <p:strVal val="#ppt_x"/>
                                          </p:val>
                                        </p:tav>
                                        <p:tav tm="100000">
                                          <p:val>
                                            <p:strVal val="#ppt_x"/>
                                          </p:val>
                                        </p:tav>
                                      </p:tavLst>
                                    </p:anim>
                                    <p:anim calcmode="lin" valueType="num">
                                      <p:cBhvr additive="base">
                                        <p:cTn id="90" dur="500" fill="hold"/>
                                        <p:tgtEl>
                                          <p:spTgt spid="105481"/>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nodePh="1">
                                  <p:stCondLst>
                                    <p:cond delay="0"/>
                                  </p:stCondLst>
                                  <p:endCondLst>
                                    <p:cond evt="begin" delay="0">
                                      <p:tn val="93"/>
                                    </p:cond>
                                  </p:endCondLst>
                                  <p:childTnLst>
                                    <p:set>
                                      <p:cBhvr>
                                        <p:cTn id="94" dur="1" fill="hold">
                                          <p:stCondLst>
                                            <p:cond delay="0"/>
                                          </p:stCondLst>
                                        </p:cTn>
                                        <p:tgtEl>
                                          <p:spTgt spid="105482"/>
                                        </p:tgtEl>
                                        <p:attrNameLst>
                                          <p:attrName>style.visibility</p:attrName>
                                        </p:attrNameLst>
                                      </p:cBhvr>
                                      <p:to>
                                        <p:strVal val="visible"/>
                                      </p:to>
                                    </p:set>
                                    <p:anim calcmode="lin" valueType="num">
                                      <p:cBhvr additive="base">
                                        <p:cTn id="95" dur="500" fill="hold"/>
                                        <p:tgtEl>
                                          <p:spTgt spid="105482"/>
                                        </p:tgtEl>
                                        <p:attrNameLst>
                                          <p:attrName>ppt_x</p:attrName>
                                        </p:attrNameLst>
                                      </p:cBhvr>
                                      <p:tavLst>
                                        <p:tav tm="0">
                                          <p:val>
                                            <p:strVal val="#ppt_x"/>
                                          </p:val>
                                        </p:tav>
                                        <p:tav tm="100000">
                                          <p:val>
                                            <p:strVal val="#ppt_x"/>
                                          </p:val>
                                        </p:tav>
                                      </p:tavLst>
                                    </p:anim>
                                    <p:anim calcmode="lin" valueType="num">
                                      <p:cBhvr additive="base">
                                        <p:cTn id="96" dur="500" fill="hold"/>
                                        <p:tgtEl>
                                          <p:spTgt spid="1054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4" grpId="0"/>
      <p:bldP spid="105475" grpId="0" animBg="1" autoUpdateAnimBg="0"/>
      <p:bldP spid="105476" grpId="0"/>
      <p:bldP spid="105477" grpId="0"/>
      <p:bldP spid="105478" grpId="0" animBg="1"/>
      <p:bldP spid="105479" grpId="0" autoUpdateAnimBg="0"/>
      <p:bldP spid="105480" grpId="0" animBg="1"/>
      <p:bldP spid="105481" grpId="0" animBg="1" autoUpdateAnimBg="0"/>
      <p:bldP spid="105482" grpId="0" animBg="1"/>
      <p:bldP spid="105483" grpId="0" animBg="1"/>
      <p:bldP spid="105484" grpId="0" animBg="1" autoUpdateAnimBg="0"/>
      <p:bldP spid="105485" grpId="0" animBg="1"/>
      <p:bldP spid="105486" grpId="0" animBg="1"/>
      <p:bldP spid="105487" grpId="0" autoUpdateAnimBg="0"/>
      <p:bldP spid="105488" grpId="0"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0B7E9081-0C3D-4690-B427-E155FA14BC96}"/>
              </a:ext>
            </a:extLst>
          </p:cNvPr>
          <p:cNvSpPr>
            <a:spLocks noGrp="1" noChangeArrowheads="1"/>
          </p:cNvSpPr>
          <p:nvPr>
            <p:ph type="title"/>
          </p:nvPr>
        </p:nvSpPr>
        <p:spPr>
          <a:xfrm>
            <a:off x="1257300" y="207460"/>
            <a:ext cx="7886700" cy="1104636"/>
          </a:xfrm>
        </p:spPr>
        <p:txBody>
          <a:bodyPr>
            <a:normAutofit/>
          </a:bodyPr>
          <a:lstStyle/>
          <a:p>
            <a:pPr>
              <a:defRPr/>
            </a:pPr>
            <a:r>
              <a:rPr lang="en-GB" altLang="en-US" sz="2800" b="1" dirty="0">
                <a:latin typeface="+mn-lt"/>
              </a:rPr>
              <a:t>ACTION CENTRED LEADERSHIP</a:t>
            </a:r>
          </a:p>
        </p:txBody>
      </p:sp>
      <p:sp>
        <p:nvSpPr>
          <p:cNvPr id="133123" name="Oval 3">
            <a:extLst>
              <a:ext uri="{FF2B5EF4-FFF2-40B4-BE49-F238E27FC236}">
                <a16:creationId xmlns:a16="http://schemas.microsoft.com/office/drawing/2014/main" id="{DFC1849B-1B00-4E5F-B90C-208C1AE22980}"/>
              </a:ext>
            </a:extLst>
          </p:cNvPr>
          <p:cNvSpPr>
            <a:spLocks noChangeArrowheads="1"/>
          </p:cNvSpPr>
          <p:nvPr/>
        </p:nvSpPr>
        <p:spPr bwMode="auto">
          <a:xfrm>
            <a:off x="4091782" y="2076979"/>
            <a:ext cx="2794000" cy="2667000"/>
          </a:xfrm>
          <a:prstGeom prst="ellipse">
            <a:avLst/>
          </a:prstGeom>
          <a:noFill/>
          <a:ln w="7620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US" sz="2000" dirty="0"/>
          </a:p>
        </p:txBody>
      </p:sp>
      <p:sp>
        <p:nvSpPr>
          <p:cNvPr id="133124" name="Text Box 4">
            <a:extLst>
              <a:ext uri="{FF2B5EF4-FFF2-40B4-BE49-F238E27FC236}">
                <a16:creationId xmlns:a16="http://schemas.microsoft.com/office/drawing/2014/main" id="{C376DC4C-7628-47B7-914B-53EDCA681779}"/>
              </a:ext>
            </a:extLst>
          </p:cNvPr>
          <p:cNvSpPr txBox="1">
            <a:spLocks noChangeArrowheads="1"/>
          </p:cNvSpPr>
          <p:nvPr/>
        </p:nvSpPr>
        <p:spPr bwMode="auto">
          <a:xfrm>
            <a:off x="3852333" y="1537229"/>
            <a:ext cx="1735667" cy="60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GB" altLang="en-US" sz="1667" b="1" dirty="0">
                <a:effectLst>
                  <a:outerShdw blurRad="38100" dist="38100" dir="2700000" algn="tl">
                    <a:srgbClr val="C0C0C0"/>
                  </a:outerShdw>
                </a:effectLst>
                <a:latin typeface="Verdana" panose="020B0604030504040204" pitchFamily="34" charset="0"/>
              </a:rPr>
              <a:t>PERFORM </a:t>
            </a:r>
            <a:br>
              <a:rPr lang="en-GB" altLang="en-US" sz="1667" b="1" dirty="0">
                <a:effectLst>
                  <a:outerShdw blurRad="38100" dist="38100" dir="2700000" algn="tl">
                    <a:srgbClr val="C0C0C0"/>
                  </a:outerShdw>
                </a:effectLst>
                <a:latin typeface="Verdana" panose="020B0604030504040204" pitchFamily="34" charset="0"/>
              </a:rPr>
            </a:br>
            <a:r>
              <a:rPr lang="en-GB" altLang="en-US" sz="1667" b="1" dirty="0">
                <a:effectLst>
                  <a:outerShdw blurRad="38100" dist="38100" dir="2700000" algn="tl">
                    <a:srgbClr val="C0C0C0"/>
                  </a:outerShdw>
                </a:effectLst>
                <a:latin typeface="Verdana" panose="020B0604030504040204" pitchFamily="34" charset="0"/>
              </a:rPr>
              <a:t>THE TASK</a:t>
            </a:r>
            <a:endParaRPr lang="en-GB" altLang="en-US" sz="1667" dirty="0">
              <a:latin typeface="Verdana" panose="020B0604030504040204" pitchFamily="34" charset="0"/>
            </a:endParaRPr>
          </a:p>
        </p:txBody>
      </p:sp>
      <p:sp>
        <p:nvSpPr>
          <p:cNvPr id="133125" name="Text Box 5">
            <a:extLst>
              <a:ext uri="{FF2B5EF4-FFF2-40B4-BE49-F238E27FC236}">
                <a16:creationId xmlns:a16="http://schemas.microsoft.com/office/drawing/2014/main" id="{0F107E74-A11D-4F48-95EC-FB1B7CD4D43A}"/>
              </a:ext>
            </a:extLst>
          </p:cNvPr>
          <p:cNvSpPr txBox="1">
            <a:spLocks noChangeArrowheads="1"/>
          </p:cNvSpPr>
          <p:nvPr/>
        </p:nvSpPr>
        <p:spPr bwMode="auto">
          <a:xfrm>
            <a:off x="2352146" y="3697553"/>
            <a:ext cx="1460500" cy="60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GB" altLang="en-US" sz="1667" b="1" dirty="0">
                <a:effectLst>
                  <a:outerShdw blurRad="38100" dist="38100" dir="2700000" algn="tl">
                    <a:srgbClr val="C0C0C0"/>
                  </a:outerShdw>
                </a:effectLst>
                <a:latin typeface="Verdana" panose="020B0604030504040204" pitchFamily="34" charset="0"/>
              </a:rPr>
              <a:t>MAINTAIN</a:t>
            </a:r>
            <a:br>
              <a:rPr lang="en-GB" altLang="en-US" sz="1667" b="1" dirty="0">
                <a:effectLst>
                  <a:outerShdw blurRad="38100" dist="38100" dir="2700000" algn="tl">
                    <a:srgbClr val="C0C0C0"/>
                  </a:outerShdw>
                </a:effectLst>
                <a:latin typeface="Verdana" panose="020B0604030504040204" pitchFamily="34" charset="0"/>
              </a:rPr>
            </a:br>
            <a:r>
              <a:rPr lang="en-GB" altLang="en-US" sz="1667" b="1" dirty="0">
                <a:effectLst>
                  <a:outerShdw blurRad="38100" dist="38100" dir="2700000" algn="tl">
                    <a:srgbClr val="C0C0C0"/>
                  </a:outerShdw>
                </a:effectLst>
                <a:latin typeface="Verdana" panose="020B0604030504040204" pitchFamily="34" charset="0"/>
              </a:rPr>
              <a:t>THE TEAM</a:t>
            </a:r>
            <a:endParaRPr lang="en-GB" altLang="en-US" sz="1667" dirty="0">
              <a:latin typeface="Verdana" panose="020B0604030504040204" pitchFamily="34" charset="0"/>
            </a:endParaRPr>
          </a:p>
        </p:txBody>
      </p:sp>
      <p:sp>
        <p:nvSpPr>
          <p:cNvPr id="133126" name="Text Box 6">
            <a:extLst>
              <a:ext uri="{FF2B5EF4-FFF2-40B4-BE49-F238E27FC236}">
                <a16:creationId xmlns:a16="http://schemas.microsoft.com/office/drawing/2014/main" id="{FE3CAFB0-80D5-48EB-9DBA-F67B3C467EE1}"/>
              </a:ext>
            </a:extLst>
          </p:cNvPr>
          <p:cNvSpPr txBox="1">
            <a:spLocks noChangeArrowheads="1"/>
          </p:cNvSpPr>
          <p:nvPr/>
        </p:nvSpPr>
        <p:spPr bwMode="auto">
          <a:xfrm>
            <a:off x="4707377" y="3697553"/>
            <a:ext cx="1968500" cy="60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GB" altLang="en-US" sz="1667" dirty="0">
                <a:effectLst>
                  <a:outerShdw blurRad="38100" dist="38100" dir="2700000" algn="tl">
                    <a:srgbClr val="C0C0C0"/>
                  </a:outerShdw>
                </a:effectLst>
                <a:latin typeface="Verdana" panose="020B0604030504040204" pitchFamily="34" charset="0"/>
              </a:rPr>
              <a:t> </a:t>
            </a:r>
            <a:r>
              <a:rPr lang="en-GB" altLang="en-US" sz="1667" b="1" dirty="0">
                <a:latin typeface="Verdana" panose="020B0604030504040204" pitchFamily="34" charset="0"/>
              </a:rPr>
              <a:t>DEVELOP THE</a:t>
            </a:r>
            <a:br>
              <a:rPr lang="en-GB" altLang="en-US" sz="1667" b="1" dirty="0">
                <a:latin typeface="Verdana" panose="020B0604030504040204" pitchFamily="34" charset="0"/>
              </a:rPr>
            </a:br>
            <a:r>
              <a:rPr lang="en-GB" altLang="en-US" sz="1667" b="1" dirty="0">
                <a:latin typeface="Verdana" panose="020B0604030504040204" pitchFamily="34" charset="0"/>
              </a:rPr>
              <a:t>INDIVIDUALS</a:t>
            </a:r>
          </a:p>
        </p:txBody>
      </p:sp>
      <p:sp>
        <p:nvSpPr>
          <p:cNvPr id="133127" name="Oval 7">
            <a:extLst>
              <a:ext uri="{FF2B5EF4-FFF2-40B4-BE49-F238E27FC236}">
                <a16:creationId xmlns:a16="http://schemas.microsoft.com/office/drawing/2014/main" id="{4A256133-F475-45DE-99E6-50A07CC7118B}"/>
              </a:ext>
            </a:extLst>
          </p:cNvPr>
          <p:cNvSpPr>
            <a:spLocks noChangeArrowheads="1"/>
          </p:cNvSpPr>
          <p:nvPr/>
        </p:nvSpPr>
        <p:spPr bwMode="auto">
          <a:xfrm>
            <a:off x="1811073" y="2076979"/>
            <a:ext cx="2794000" cy="2667000"/>
          </a:xfrm>
          <a:prstGeom prst="ellipse">
            <a:avLst/>
          </a:prstGeom>
          <a:noFill/>
          <a:ln w="76200">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US" sz="2000" dirty="0"/>
          </a:p>
        </p:txBody>
      </p:sp>
      <p:sp>
        <p:nvSpPr>
          <p:cNvPr id="133128" name="Oval 8">
            <a:extLst>
              <a:ext uri="{FF2B5EF4-FFF2-40B4-BE49-F238E27FC236}">
                <a16:creationId xmlns:a16="http://schemas.microsoft.com/office/drawing/2014/main" id="{37F7705A-4AD3-40BC-9893-AA579CAF87FC}"/>
              </a:ext>
            </a:extLst>
          </p:cNvPr>
          <p:cNvSpPr>
            <a:spLocks noChangeArrowheads="1"/>
          </p:cNvSpPr>
          <p:nvPr/>
        </p:nvSpPr>
        <p:spPr bwMode="auto">
          <a:xfrm>
            <a:off x="3131344" y="1057011"/>
            <a:ext cx="2794000" cy="2667000"/>
          </a:xfrm>
          <a:prstGeom prst="ellipse">
            <a:avLst/>
          </a:prstGeom>
          <a:noFill/>
          <a:ln w="76200">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GB" altLang="en-US" sz="2000" dirty="0"/>
          </a:p>
        </p:txBody>
      </p:sp>
      <p:sp>
        <p:nvSpPr>
          <p:cNvPr id="2" name="TextBox 1">
            <a:extLst>
              <a:ext uri="{FF2B5EF4-FFF2-40B4-BE49-F238E27FC236}">
                <a16:creationId xmlns:a16="http://schemas.microsoft.com/office/drawing/2014/main" id="{45F5A2BB-7B0F-4417-8496-3D5B97945DD8}"/>
              </a:ext>
            </a:extLst>
          </p:cNvPr>
          <p:cNvSpPr txBox="1"/>
          <p:nvPr/>
        </p:nvSpPr>
        <p:spPr>
          <a:xfrm>
            <a:off x="7660888" y="4393580"/>
            <a:ext cx="1114985" cy="308418"/>
          </a:xfrm>
          <a:prstGeom prst="rect">
            <a:avLst/>
          </a:prstGeom>
          <a:noFill/>
        </p:spPr>
        <p:txBody>
          <a:bodyPr wrap="none" rtlCol="0">
            <a:spAutoFit/>
          </a:bodyPr>
          <a:lstStyle/>
          <a:p>
            <a:r>
              <a:rPr lang="en-GB" b="1" dirty="0"/>
              <a:t>JOHN ADAIR</a:t>
            </a:r>
          </a:p>
        </p:txBody>
      </p:sp>
    </p:spTree>
    <p:extLst>
      <p:ext uri="{BB962C8B-B14F-4D97-AF65-F5344CB8AC3E}">
        <p14:creationId xmlns:p14="http://schemas.microsoft.com/office/powerpoint/2010/main" val="112257237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3122"/>
                                        </p:tgtEl>
                                        <p:attrNameLst>
                                          <p:attrName>style.visibility</p:attrName>
                                        </p:attrNameLst>
                                      </p:cBhvr>
                                      <p:to>
                                        <p:strVal val="visible"/>
                                      </p:to>
                                    </p:set>
                                    <p:animEffect transition="in" filter="fade">
                                      <p:cBhvr>
                                        <p:cTn id="7" dur="1000"/>
                                        <p:tgtEl>
                                          <p:spTgt spid="133122"/>
                                        </p:tgtEl>
                                      </p:cBhvr>
                                    </p:animEffect>
                                    <p:anim calcmode="lin" valueType="num">
                                      <p:cBhvr>
                                        <p:cTn id="8" dur="1000" fill="hold"/>
                                        <p:tgtEl>
                                          <p:spTgt spid="133122"/>
                                        </p:tgtEl>
                                        <p:attrNameLst>
                                          <p:attrName>ppt_x</p:attrName>
                                        </p:attrNameLst>
                                      </p:cBhvr>
                                      <p:tavLst>
                                        <p:tav tm="0">
                                          <p:val>
                                            <p:strVal val="#ppt_x"/>
                                          </p:val>
                                        </p:tav>
                                        <p:tav tm="100000">
                                          <p:val>
                                            <p:strVal val="#ppt_x"/>
                                          </p:val>
                                        </p:tav>
                                      </p:tavLst>
                                    </p:anim>
                                    <p:anim calcmode="lin" valueType="num">
                                      <p:cBhvr>
                                        <p:cTn id="9" dur="1000" fill="hold"/>
                                        <p:tgtEl>
                                          <p:spTgt spid="13312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133128"/>
                                        </p:tgtEl>
                                        <p:attrNameLst>
                                          <p:attrName>style.visibility</p:attrName>
                                        </p:attrNameLst>
                                      </p:cBhvr>
                                      <p:to>
                                        <p:strVal val="visible"/>
                                      </p:to>
                                    </p:set>
                                    <p:anim calcmode="lin" valueType="num">
                                      <p:cBhvr>
                                        <p:cTn id="14" dur="1000" fill="hold"/>
                                        <p:tgtEl>
                                          <p:spTgt spid="133128"/>
                                        </p:tgtEl>
                                        <p:attrNameLst>
                                          <p:attrName>ppt_w</p:attrName>
                                        </p:attrNameLst>
                                      </p:cBhvr>
                                      <p:tavLst>
                                        <p:tav tm="0">
                                          <p:val>
                                            <p:fltVal val="0"/>
                                          </p:val>
                                        </p:tav>
                                        <p:tav tm="100000">
                                          <p:val>
                                            <p:strVal val="#ppt_w"/>
                                          </p:val>
                                        </p:tav>
                                      </p:tavLst>
                                    </p:anim>
                                    <p:anim calcmode="lin" valueType="num">
                                      <p:cBhvr>
                                        <p:cTn id="15" dur="1000" fill="hold"/>
                                        <p:tgtEl>
                                          <p:spTgt spid="133128"/>
                                        </p:tgtEl>
                                        <p:attrNameLst>
                                          <p:attrName>ppt_h</p:attrName>
                                        </p:attrNameLst>
                                      </p:cBhvr>
                                      <p:tavLst>
                                        <p:tav tm="0">
                                          <p:val>
                                            <p:fltVal val="0"/>
                                          </p:val>
                                        </p:tav>
                                        <p:tav tm="100000">
                                          <p:val>
                                            <p:strVal val="#ppt_h"/>
                                          </p:val>
                                        </p:tav>
                                      </p:tavLst>
                                    </p:anim>
                                    <p:anim calcmode="lin" valueType="num">
                                      <p:cBhvr>
                                        <p:cTn id="16" dur="1000" fill="hold"/>
                                        <p:tgtEl>
                                          <p:spTgt spid="133128"/>
                                        </p:tgtEl>
                                        <p:attrNameLst>
                                          <p:attrName>style.rotation</p:attrName>
                                        </p:attrNameLst>
                                      </p:cBhvr>
                                      <p:tavLst>
                                        <p:tav tm="0">
                                          <p:val>
                                            <p:fltVal val="90"/>
                                          </p:val>
                                        </p:tav>
                                        <p:tav tm="100000">
                                          <p:val>
                                            <p:fltVal val="0"/>
                                          </p:val>
                                        </p:tav>
                                      </p:tavLst>
                                    </p:anim>
                                    <p:animEffect transition="in" filter="fade">
                                      <p:cBhvr>
                                        <p:cTn id="17" dur="1000"/>
                                        <p:tgtEl>
                                          <p:spTgt spid="133128"/>
                                        </p:tgtEl>
                                      </p:cBhvr>
                                    </p:animEffect>
                                  </p:childTnLst>
                                </p:cTn>
                              </p:par>
                              <p:par>
                                <p:cTn id="18" presetID="31" presetClass="entr" presetSubtype="0" fill="hold" grpId="0" nodeType="withEffect">
                                  <p:stCondLst>
                                    <p:cond delay="0"/>
                                  </p:stCondLst>
                                  <p:childTnLst>
                                    <p:set>
                                      <p:cBhvr>
                                        <p:cTn id="19" dur="1" fill="hold">
                                          <p:stCondLst>
                                            <p:cond delay="0"/>
                                          </p:stCondLst>
                                        </p:cTn>
                                        <p:tgtEl>
                                          <p:spTgt spid="133127"/>
                                        </p:tgtEl>
                                        <p:attrNameLst>
                                          <p:attrName>style.visibility</p:attrName>
                                        </p:attrNameLst>
                                      </p:cBhvr>
                                      <p:to>
                                        <p:strVal val="visible"/>
                                      </p:to>
                                    </p:set>
                                    <p:anim calcmode="lin" valueType="num">
                                      <p:cBhvr>
                                        <p:cTn id="20" dur="1000" fill="hold"/>
                                        <p:tgtEl>
                                          <p:spTgt spid="133127"/>
                                        </p:tgtEl>
                                        <p:attrNameLst>
                                          <p:attrName>ppt_w</p:attrName>
                                        </p:attrNameLst>
                                      </p:cBhvr>
                                      <p:tavLst>
                                        <p:tav tm="0">
                                          <p:val>
                                            <p:fltVal val="0"/>
                                          </p:val>
                                        </p:tav>
                                        <p:tav tm="100000">
                                          <p:val>
                                            <p:strVal val="#ppt_w"/>
                                          </p:val>
                                        </p:tav>
                                      </p:tavLst>
                                    </p:anim>
                                    <p:anim calcmode="lin" valueType="num">
                                      <p:cBhvr>
                                        <p:cTn id="21" dur="1000" fill="hold"/>
                                        <p:tgtEl>
                                          <p:spTgt spid="133127"/>
                                        </p:tgtEl>
                                        <p:attrNameLst>
                                          <p:attrName>ppt_h</p:attrName>
                                        </p:attrNameLst>
                                      </p:cBhvr>
                                      <p:tavLst>
                                        <p:tav tm="0">
                                          <p:val>
                                            <p:fltVal val="0"/>
                                          </p:val>
                                        </p:tav>
                                        <p:tav tm="100000">
                                          <p:val>
                                            <p:strVal val="#ppt_h"/>
                                          </p:val>
                                        </p:tav>
                                      </p:tavLst>
                                    </p:anim>
                                    <p:anim calcmode="lin" valueType="num">
                                      <p:cBhvr>
                                        <p:cTn id="22" dur="1000" fill="hold"/>
                                        <p:tgtEl>
                                          <p:spTgt spid="133127"/>
                                        </p:tgtEl>
                                        <p:attrNameLst>
                                          <p:attrName>style.rotation</p:attrName>
                                        </p:attrNameLst>
                                      </p:cBhvr>
                                      <p:tavLst>
                                        <p:tav tm="0">
                                          <p:val>
                                            <p:fltVal val="90"/>
                                          </p:val>
                                        </p:tav>
                                        <p:tav tm="100000">
                                          <p:val>
                                            <p:fltVal val="0"/>
                                          </p:val>
                                        </p:tav>
                                      </p:tavLst>
                                    </p:anim>
                                    <p:animEffect transition="in" filter="fade">
                                      <p:cBhvr>
                                        <p:cTn id="23" dur="1000"/>
                                        <p:tgtEl>
                                          <p:spTgt spid="133127"/>
                                        </p:tgtEl>
                                      </p:cBhvr>
                                    </p:animEffect>
                                  </p:childTnLst>
                                </p:cTn>
                              </p:par>
                              <p:par>
                                <p:cTn id="24" presetID="31" presetClass="entr" presetSubtype="0" fill="hold" grpId="0" nodeType="withEffect">
                                  <p:stCondLst>
                                    <p:cond delay="0"/>
                                  </p:stCondLst>
                                  <p:childTnLst>
                                    <p:set>
                                      <p:cBhvr>
                                        <p:cTn id="25" dur="1" fill="hold">
                                          <p:stCondLst>
                                            <p:cond delay="0"/>
                                          </p:stCondLst>
                                        </p:cTn>
                                        <p:tgtEl>
                                          <p:spTgt spid="133123"/>
                                        </p:tgtEl>
                                        <p:attrNameLst>
                                          <p:attrName>style.visibility</p:attrName>
                                        </p:attrNameLst>
                                      </p:cBhvr>
                                      <p:to>
                                        <p:strVal val="visible"/>
                                      </p:to>
                                    </p:set>
                                    <p:anim calcmode="lin" valueType="num">
                                      <p:cBhvr>
                                        <p:cTn id="26" dur="1000" fill="hold"/>
                                        <p:tgtEl>
                                          <p:spTgt spid="133123"/>
                                        </p:tgtEl>
                                        <p:attrNameLst>
                                          <p:attrName>ppt_w</p:attrName>
                                        </p:attrNameLst>
                                      </p:cBhvr>
                                      <p:tavLst>
                                        <p:tav tm="0">
                                          <p:val>
                                            <p:fltVal val="0"/>
                                          </p:val>
                                        </p:tav>
                                        <p:tav tm="100000">
                                          <p:val>
                                            <p:strVal val="#ppt_w"/>
                                          </p:val>
                                        </p:tav>
                                      </p:tavLst>
                                    </p:anim>
                                    <p:anim calcmode="lin" valueType="num">
                                      <p:cBhvr>
                                        <p:cTn id="27" dur="1000" fill="hold"/>
                                        <p:tgtEl>
                                          <p:spTgt spid="133123"/>
                                        </p:tgtEl>
                                        <p:attrNameLst>
                                          <p:attrName>ppt_h</p:attrName>
                                        </p:attrNameLst>
                                      </p:cBhvr>
                                      <p:tavLst>
                                        <p:tav tm="0">
                                          <p:val>
                                            <p:fltVal val="0"/>
                                          </p:val>
                                        </p:tav>
                                        <p:tav tm="100000">
                                          <p:val>
                                            <p:strVal val="#ppt_h"/>
                                          </p:val>
                                        </p:tav>
                                      </p:tavLst>
                                    </p:anim>
                                    <p:anim calcmode="lin" valueType="num">
                                      <p:cBhvr>
                                        <p:cTn id="28" dur="1000" fill="hold"/>
                                        <p:tgtEl>
                                          <p:spTgt spid="133123"/>
                                        </p:tgtEl>
                                        <p:attrNameLst>
                                          <p:attrName>style.rotation</p:attrName>
                                        </p:attrNameLst>
                                      </p:cBhvr>
                                      <p:tavLst>
                                        <p:tav tm="0">
                                          <p:val>
                                            <p:fltVal val="90"/>
                                          </p:val>
                                        </p:tav>
                                        <p:tav tm="100000">
                                          <p:val>
                                            <p:fltVal val="0"/>
                                          </p:val>
                                        </p:tav>
                                      </p:tavLst>
                                    </p:anim>
                                    <p:animEffect transition="in" filter="fade">
                                      <p:cBhvr>
                                        <p:cTn id="29" dur="1000"/>
                                        <p:tgtEl>
                                          <p:spTgt spid="133123"/>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33124">
                                            <p:txEl>
                                              <p:pRg st="0" end="0"/>
                                            </p:txEl>
                                          </p:spTgt>
                                        </p:tgtEl>
                                        <p:attrNameLst>
                                          <p:attrName>style.visibility</p:attrName>
                                        </p:attrNameLst>
                                      </p:cBhvr>
                                      <p:to>
                                        <p:strVal val="visible"/>
                                      </p:to>
                                    </p:set>
                                    <p:animEffect transition="in" filter="fade">
                                      <p:cBhvr>
                                        <p:cTn id="34" dur="1000"/>
                                        <p:tgtEl>
                                          <p:spTgt spid="133124">
                                            <p:txEl>
                                              <p:pRg st="0" end="0"/>
                                            </p:txEl>
                                          </p:spTgt>
                                        </p:tgtEl>
                                      </p:cBhvr>
                                    </p:animEffect>
                                    <p:anim calcmode="lin" valueType="num">
                                      <p:cBhvr>
                                        <p:cTn id="35" dur="1000" fill="hold"/>
                                        <p:tgtEl>
                                          <p:spTgt spid="133124">
                                            <p:txEl>
                                              <p:pRg st="0" end="0"/>
                                            </p:txEl>
                                          </p:spTgt>
                                        </p:tgtEl>
                                        <p:attrNameLst>
                                          <p:attrName>ppt_x</p:attrName>
                                        </p:attrNameLst>
                                      </p:cBhvr>
                                      <p:tavLst>
                                        <p:tav tm="0">
                                          <p:val>
                                            <p:strVal val="#ppt_x"/>
                                          </p:val>
                                        </p:tav>
                                        <p:tav tm="100000">
                                          <p:val>
                                            <p:strVal val="#ppt_x"/>
                                          </p:val>
                                        </p:tav>
                                      </p:tavLst>
                                    </p:anim>
                                    <p:anim calcmode="lin" valueType="num">
                                      <p:cBhvr>
                                        <p:cTn id="36" dur="1000" fill="hold"/>
                                        <p:tgtEl>
                                          <p:spTgt spid="13312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33125">
                                            <p:txEl>
                                              <p:pRg st="0" end="0"/>
                                            </p:txEl>
                                          </p:spTgt>
                                        </p:tgtEl>
                                        <p:attrNameLst>
                                          <p:attrName>style.visibility</p:attrName>
                                        </p:attrNameLst>
                                      </p:cBhvr>
                                      <p:to>
                                        <p:strVal val="visible"/>
                                      </p:to>
                                    </p:set>
                                    <p:animEffect transition="in" filter="fade">
                                      <p:cBhvr>
                                        <p:cTn id="41" dur="1000"/>
                                        <p:tgtEl>
                                          <p:spTgt spid="133125">
                                            <p:txEl>
                                              <p:pRg st="0" end="0"/>
                                            </p:txEl>
                                          </p:spTgt>
                                        </p:tgtEl>
                                      </p:cBhvr>
                                    </p:animEffect>
                                    <p:anim calcmode="lin" valueType="num">
                                      <p:cBhvr>
                                        <p:cTn id="42" dur="1000" fill="hold"/>
                                        <p:tgtEl>
                                          <p:spTgt spid="133125">
                                            <p:txEl>
                                              <p:pRg st="0" end="0"/>
                                            </p:txEl>
                                          </p:spTgt>
                                        </p:tgtEl>
                                        <p:attrNameLst>
                                          <p:attrName>ppt_x</p:attrName>
                                        </p:attrNameLst>
                                      </p:cBhvr>
                                      <p:tavLst>
                                        <p:tav tm="0">
                                          <p:val>
                                            <p:strVal val="#ppt_x"/>
                                          </p:val>
                                        </p:tav>
                                        <p:tav tm="100000">
                                          <p:val>
                                            <p:strVal val="#ppt_x"/>
                                          </p:val>
                                        </p:tav>
                                      </p:tavLst>
                                    </p:anim>
                                    <p:anim calcmode="lin" valueType="num">
                                      <p:cBhvr>
                                        <p:cTn id="43" dur="1000" fill="hold"/>
                                        <p:tgtEl>
                                          <p:spTgt spid="13312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133126">
                                            <p:txEl>
                                              <p:pRg st="0" end="0"/>
                                            </p:txEl>
                                          </p:spTgt>
                                        </p:tgtEl>
                                        <p:attrNameLst>
                                          <p:attrName>style.visibility</p:attrName>
                                        </p:attrNameLst>
                                      </p:cBhvr>
                                      <p:to>
                                        <p:strVal val="visible"/>
                                      </p:to>
                                    </p:set>
                                    <p:animEffect transition="in" filter="fade">
                                      <p:cBhvr>
                                        <p:cTn id="48" dur="1000"/>
                                        <p:tgtEl>
                                          <p:spTgt spid="133126">
                                            <p:txEl>
                                              <p:pRg st="0" end="0"/>
                                            </p:txEl>
                                          </p:spTgt>
                                        </p:tgtEl>
                                      </p:cBhvr>
                                    </p:animEffect>
                                    <p:anim calcmode="lin" valueType="num">
                                      <p:cBhvr>
                                        <p:cTn id="49" dur="1000" fill="hold"/>
                                        <p:tgtEl>
                                          <p:spTgt spid="133126">
                                            <p:txEl>
                                              <p:pRg st="0" end="0"/>
                                            </p:txEl>
                                          </p:spTgt>
                                        </p:tgtEl>
                                        <p:attrNameLst>
                                          <p:attrName>ppt_x</p:attrName>
                                        </p:attrNameLst>
                                      </p:cBhvr>
                                      <p:tavLst>
                                        <p:tav tm="0">
                                          <p:val>
                                            <p:strVal val="#ppt_x"/>
                                          </p:val>
                                        </p:tav>
                                        <p:tav tm="100000">
                                          <p:val>
                                            <p:strVal val="#ppt_x"/>
                                          </p:val>
                                        </p:tav>
                                      </p:tavLst>
                                    </p:anim>
                                    <p:anim calcmode="lin" valueType="num">
                                      <p:cBhvr>
                                        <p:cTn id="50" dur="1000" fill="hold"/>
                                        <p:tgtEl>
                                          <p:spTgt spid="13312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2" grpId="0"/>
      <p:bldP spid="133123" grpId="0" animBg="1"/>
      <p:bldP spid="133127" grpId="0" animBg="1"/>
      <p:bldP spid="133128"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884E01FB-C75A-4094-BC08-27658E411444}"/>
              </a:ext>
            </a:extLst>
          </p:cNvPr>
          <p:cNvSpPr>
            <a:spLocks noGrp="1" noChangeArrowheads="1"/>
          </p:cNvSpPr>
          <p:nvPr>
            <p:ph type="title" idx="4294967295"/>
          </p:nvPr>
        </p:nvSpPr>
        <p:spPr>
          <a:xfrm>
            <a:off x="1116281" y="348343"/>
            <a:ext cx="7886700" cy="1104900"/>
          </a:xfrm>
        </p:spPr>
        <p:txBody>
          <a:bodyPr/>
          <a:lstStyle/>
          <a:p>
            <a:pPr>
              <a:defRPr/>
            </a:pPr>
            <a:r>
              <a:rPr lang="en-GB" altLang="en-US" b="1" dirty="0"/>
              <a:t>Statement of Strategic Intent</a:t>
            </a:r>
          </a:p>
        </p:txBody>
      </p:sp>
      <p:sp>
        <p:nvSpPr>
          <p:cNvPr id="29699" name="Rectangle 3">
            <a:extLst>
              <a:ext uri="{FF2B5EF4-FFF2-40B4-BE49-F238E27FC236}">
                <a16:creationId xmlns:a16="http://schemas.microsoft.com/office/drawing/2014/main" id="{BFC9AA61-E97D-401D-87D5-2F47288E601B}"/>
              </a:ext>
            </a:extLst>
          </p:cNvPr>
          <p:cNvSpPr>
            <a:spLocks noGrp="1" noChangeArrowheads="1"/>
          </p:cNvSpPr>
          <p:nvPr>
            <p:ph type="body" idx="4294967295"/>
          </p:nvPr>
        </p:nvSpPr>
        <p:spPr>
          <a:xfrm>
            <a:off x="225631" y="1409700"/>
            <a:ext cx="6477000" cy="3429000"/>
          </a:xfrm>
        </p:spPr>
        <p:txBody>
          <a:bodyPr/>
          <a:lstStyle/>
          <a:p>
            <a:pPr>
              <a:lnSpc>
                <a:spcPct val="90000"/>
              </a:lnSpc>
            </a:pPr>
            <a:r>
              <a:rPr lang="en-GB" altLang="en-US" sz="2333" dirty="0"/>
              <a:t>Sets out priority areas for action in next 5-10 years</a:t>
            </a:r>
          </a:p>
          <a:p>
            <a:pPr>
              <a:lnSpc>
                <a:spcPct val="90000"/>
              </a:lnSpc>
            </a:pPr>
            <a:r>
              <a:rPr lang="en-GB" altLang="en-US" sz="2333" dirty="0"/>
              <a:t>Describes how to sustain competitiveness</a:t>
            </a:r>
          </a:p>
          <a:p>
            <a:pPr>
              <a:lnSpc>
                <a:spcPct val="90000"/>
              </a:lnSpc>
            </a:pPr>
            <a:r>
              <a:rPr lang="en-GB" altLang="en-US" sz="2333" dirty="0"/>
              <a:t>May set broad financial targets</a:t>
            </a:r>
          </a:p>
          <a:p>
            <a:pPr>
              <a:lnSpc>
                <a:spcPct val="90000"/>
              </a:lnSpc>
            </a:pPr>
            <a:r>
              <a:rPr lang="en-GB" altLang="en-US" sz="2333" dirty="0"/>
              <a:t>Provides the basis for operational objectives &amp; plans</a:t>
            </a:r>
          </a:p>
          <a:p>
            <a:pPr>
              <a:lnSpc>
                <a:spcPct val="90000"/>
              </a:lnSpc>
            </a:pPr>
            <a:r>
              <a:rPr lang="en-GB" altLang="en-US" sz="2333" dirty="0"/>
              <a:t>Should stretch organisation &amp; it’s employees</a:t>
            </a:r>
          </a:p>
          <a:p>
            <a:pPr>
              <a:lnSpc>
                <a:spcPct val="90000"/>
              </a:lnSpc>
            </a:pPr>
            <a:r>
              <a:rPr lang="en-GB" altLang="en-US" sz="2333" dirty="0"/>
              <a:t>Must be shared &amp; understood by everyone</a:t>
            </a:r>
          </a:p>
        </p:txBody>
      </p:sp>
      <p:pic>
        <p:nvPicPr>
          <p:cNvPr id="4" name="Picture 4" descr="World in hands.">
            <a:extLst>
              <a:ext uri="{FF2B5EF4-FFF2-40B4-BE49-F238E27FC236}">
                <a16:creationId xmlns:a16="http://schemas.microsoft.com/office/drawing/2014/main" id="{41A171A4-F6B2-47F0-BDBC-8850C2F4B7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8046" y="901216"/>
            <a:ext cx="2009511" cy="1837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descr="lockyer-debt-report-binoculars.bmp">
            <a:extLst>
              <a:ext uri="{FF2B5EF4-FFF2-40B4-BE49-F238E27FC236}">
                <a16:creationId xmlns:a16="http://schemas.microsoft.com/office/drawing/2014/main" id="{F06E31D7-B1A0-4BA6-97BA-054EA5D580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8046" y="3044340"/>
            <a:ext cx="2160323"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502612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268DA893-23C9-4A7C-BA53-F8069162C15C}"/>
              </a:ext>
            </a:extLst>
          </p:cNvPr>
          <p:cNvSpPr>
            <a:spLocks noGrp="1" noChangeArrowheads="1"/>
          </p:cNvSpPr>
          <p:nvPr>
            <p:ph type="title" idx="4294967295"/>
          </p:nvPr>
        </p:nvSpPr>
        <p:spPr>
          <a:xfrm>
            <a:off x="1116281" y="186047"/>
            <a:ext cx="7886700" cy="1104900"/>
          </a:xfrm>
        </p:spPr>
        <p:txBody>
          <a:bodyPr/>
          <a:lstStyle/>
          <a:p>
            <a:pPr>
              <a:defRPr/>
            </a:pPr>
            <a:r>
              <a:rPr lang="en-GB" altLang="en-US" b="1" dirty="0"/>
              <a:t>Strategic Intent</a:t>
            </a:r>
          </a:p>
        </p:txBody>
      </p:sp>
      <p:sp>
        <p:nvSpPr>
          <p:cNvPr id="27651" name="Rectangle 3">
            <a:extLst>
              <a:ext uri="{FF2B5EF4-FFF2-40B4-BE49-F238E27FC236}">
                <a16:creationId xmlns:a16="http://schemas.microsoft.com/office/drawing/2014/main" id="{432B7068-D3AD-44F6-B665-3BBA9E6C3D0C}"/>
              </a:ext>
            </a:extLst>
          </p:cNvPr>
          <p:cNvSpPr>
            <a:spLocks noGrp="1" noChangeArrowheads="1"/>
          </p:cNvSpPr>
          <p:nvPr>
            <p:ph type="body" idx="4294967295"/>
          </p:nvPr>
        </p:nvSpPr>
        <p:spPr>
          <a:xfrm>
            <a:off x="118754" y="1409700"/>
            <a:ext cx="6477000" cy="3429000"/>
          </a:xfrm>
        </p:spPr>
        <p:txBody>
          <a:bodyPr/>
          <a:lstStyle/>
          <a:p>
            <a:r>
              <a:rPr lang="en-GB" altLang="en-US" sz="2333" dirty="0"/>
              <a:t>Strategic intent sets out what the organisation will do</a:t>
            </a:r>
          </a:p>
          <a:p>
            <a:r>
              <a:rPr lang="en-GB" altLang="en-US" sz="2333" dirty="0"/>
              <a:t>Relies on understanding and analysis of.. </a:t>
            </a:r>
          </a:p>
          <a:p>
            <a:pPr lvl="1"/>
            <a:r>
              <a:rPr lang="en-GB" altLang="en-US" sz="2000" dirty="0"/>
              <a:t>How environment will be operating in next 5-10 yrs</a:t>
            </a:r>
          </a:p>
          <a:p>
            <a:pPr lvl="1"/>
            <a:r>
              <a:rPr lang="en-GB" altLang="en-US" sz="2000" dirty="0"/>
              <a:t>How the industry &amp; the competitive forces within it will be likely to develop in the future</a:t>
            </a:r>
          </a:p>
          <a:p>
            <a:pPr lvl="1"/>
            <a:r>
              <a:rPr lang="en-GB" altLang="en-US" sz="2000" dirty="0"/>
              <a:t>Internal capability of the organisation &amp; how it can be developed</a:t>
            </a:r>
          </a:p>
        </p:txBody>
      </p:sp>
      <p:pic>
        <p:nvPicPr>
          <p:cNvPr id="4" name="Picture 4" descr="World in hands.">
            <a:extLst>
              <a:ext uri="{FF2B5EF4-FFF2-40B4-BE49-F238E27FC236}">
                <a16:creationId xmlns:a16="http://schemas.microsoft.com/office/drawing/2014/main" id="{E7B78C88-4354-4047-B1B4-FCF0FA8DEE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658" y="841839"/>
            <a:ext cx="2009511" cy="1837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descr="lockyer-debt-report-binoculars.bmp">
            <a:extLst>
              <a:ext uri="{FF2B5EF4-FFF2-40B4-BE49-F238E27FC236}">
                <a16:creationId xmlns:a16="http://schemas.microsoft.com/office/drawing/2014/main" id="{1E7F9539-F1AA-4F37-90CE-F0352439A2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658" y="2984963"/>
            <a:ext cx="2160323"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121242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3200" dirty="0"/>
              <a:t>Managing change within a team</a:t>
            </a:r>
            <a:endParaRPr lang="en-GB" sz="3000" dirty="0"/>
          </a:p>
        </p:txBody>
      </p:sp>
      <p:pic>
        <p:nvPicPr>
          <p:cNvPr id="4" name="Content Placeholder 3"/>
          <p:cNvPicPr>
            <a:picLocks noGrp="1" noChangeAspect="1"/>
          </p:cNvPicPr>
          <p:nvPr>
            <p:ph idx="1"/>
          </p:nvPr>
        </p:nvPicPr>
        <p:blipFill>
          <a:blip r:embed="rId3"/>
          <a:stretch>
            <a:fillRect/>
          </a:stretch>
        </p:blipFill>
        <p:spPr>
          <a:xfrm>
            <a:off x="3180300" y="1917469"/>
            <a:ext cx="2783400" cy="2168233"/>
          </a:xfrm>
          <a:prstGeom prst="rect">
            <a:avLst/>
          </a:prstGeom>
        </p:spPr>
      </p:pic>
    </p:spTree>
    <p:extLst>
      <p:ext uri="{BB962C8B-B14F-4D97-AF65-F5344CB8AC3E}">
        <p14:creationId xmlns:p14="http://schemas.microsoft.com/office/powerpoint/2010/main" val="107350860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5979" y="304271"/>
            <a:ext cx="7886700" cy="1104636"/>
          </a:xfrm>
        </p:spPr>
        <p:txBody>
          <a:bodyPr/>
          <a:lstStyle/>
          <a:p>
            <a:pPr algn="ctr"/>
            <a:r>
              <a:rPr lang="en-GB" dirty="0"/>
              <a:t>Complete Activity  </a:t>
            </a:r>
          </a:p>
        </p:txBody>
      </p:sp>
      <p:sp>
        <p:nvSpPr>
          <p:cNvPr id="3" name="Content Placeholder 2"/>
          <p:cNvSpPr>
            <a:spLocks noGrp="1"/>
          </p:cNvSpPr>
          <p:nvPr>
            <p:ph idx="1"/>
          </p:nvPr>
        </p:nvSpPr>
        <p:spPr>
          <a:xfrm>
            <a:off x="628650" y="1582057"/>
            <a:ext cx="5975350" cy="3565412"/>
          </a:xfrm>
        </p:spPr>
        <p:txBody>
          <a:bodyPr/>
          <a:lstStyle/>
          <a:p>
            <a:pPr marL="0" indent="0">
              <a:buNone/>
            </a:pPr>
            <a:r>
              <a:rPr lang="en-GB" b="1" dirty="0"/>
              <a:t>Activity:</a:t>
            </a:r>
          </a:p>
          <a:p>
            <a:r>
              <a:rPr lang="en-GB" sz="1800" dirty="0"/>
              <a:t>Think about a major change in your life that you knew was coming – maybe a change of employer or house. </a:t>
            </a:r>
          </a:p>
          <a:p>
            <a:r>
              <a:rPr lang="en-GB" sz="1800" dirty="0"/>
              <a:t>How did you feel as soon as you knew about the impending change? </a:t>
            </a:r>
          </a:p>
          <a:p>
            <a:r>
              <a:rPr lang="en-GB" sz="1800" dirty="0"/>
              <a:t>How did you plan for it? </a:t>
            </a:r>
          </a:p>
          <a:p>
            <a:r>
              <a:rPr lang="en-GB" sz="1800" dirty="0"/>
              <a:t>How did others help you plan for the change? </a:t>
            </a:r>
          </a:p>
          <a:p>
            <a:r>
              <a:rPr lang="en-GB" sz="1800" dirty="0"/>
              <a:t>How did you feel a few weeks or months after the change, once you had settled down?</a:t>
            </a:r>
          </a:p>
          <a:p>
            <a:pPr marL="0" indent="0">
              <a:buNone/>
            </a:pPr>
            <a:endParaRPr lang="en-GB"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4239" y="1630981"/>
            <a:ext cx="2208440" cy="2104377"/>
          </a:xfrm>
          <a:prstGeom prst="rect">
            <a:avLst/>
          </a:prstGeom>
        </p:spPr>
      </p:pic>
    </p:spTree>
    <p:extLst>
      <p:ext uri="{BB962C8B-B14F-4D97-AF65-F5344CB8AC3E}">
        <p14:creationId xmlns:p14="http://schemas.microsoft.com/office/powerpoint/2010/main" val="22203666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3000" dirty="0"/>
              <a:t>Change</a:t>
            </a:r>
          </a:p>
        </p:txBody>
      </p:sp>
      <p:sp>
        <p:nvSpPr>
          <p:cNvPr id="3" name="Content Placeholder 2"/>
          <p:cNvSpPr>
            <a:spLocks noGrp="1"/>
          </p:cNvSpPr>
          <p:nvPr>
            <p:ph idx="1"/>
          </p:nvPr>
        </p:nvSpPr>
        <p:spPr/>
        <p:txBody>
          <a:bodyPr/>
          <a:lstStyle/>
          <a:p>
            <a:pPr marL="0" indent="0">
              <a:buNone/>
            </a:pPr>
            <a:r>
              <a:rPr lang="en-GB" dirty="0"/>
              <a:t>Reasons for change</a:t>
            </a:r>
          </a:p>
          <a:p>
            <a:pPr marL="0" indent="0">
              <a:buNone/>
            </a:pPr>
            <a:endParaRPr lang="en-GB" dirty="0"/>
          </a:p>
          <a:p>
            <a:pPr marL="0" indent="0">
              <a:buNone/>
            </a:pPr>
            <a:r>
              <a:rPr lang="en-GB" dirty="0"/>
              <a:t>Initiating Change</a:t>
            </a:r>
          </a:p>
          <a:p>
            <a:pPr>
              <a:buFont typeface="Wingdings" panose="05000000000000000000" pitchFamily="2" charset="2"/>
              <a:buChar char="Ø"/>
            </a:pPr>
            <a:r>
              <a:rPr lang="en-GB" sz="1600" dirty="0"/>
              <a:t>Where are we now?</a:t>
            </a:r>
          </a:p>
          <a:p>
            <a:pPr>
              <a:buFont typeface="Wingdings" panose="05000000000000000000" pitchFamily="2" charset="2"/>
              <a:buChar char="Ø"/>
            </a:pPr>
            <a:r>
              <a:rPr lang="en-GB" sz="1600" dirty="0"/>
              <a:t>Where do we need to be?</a:t>
            </a:r>
          </a:p>
          <a:p>
            <a:pPr>
              <a:buFont typeface="Wingdings" panose="05000000000000000000" pitchFamily="2" charset="2"/>
              <a:buChar char="Ø"/>
            </a:pPr>
            <a:r>
              <a:rPr lang="en-GB" sz="1600" dirty="0"/>
              <a:t>How do we get there?</a:t>
            </a:r>
          </a:p>
        </p:txBody>
      </p:sp>
      <p:pic>
        <p:nvPicPr>
          <p:cNvPr id="4" name="Picture 3"/>
          <p:cNvPicPr>
            <a:picLocks noChangeAspect="1"/>
          </p:cNvPicPr>
          <p:nvPr/>
        </p:nvPicPr>
        <p:blipFill>
          <a:blip r:embed="rId3"/>
          <a:stretch>
            <a:fillRect/>
          </a:stretch>
        </p:blipFill>
        <p:spPr>
          <a:xfrm>
            <a:off x="4788462" y="1159228"/>
            <a:ext cx="3902384" cy="3474725"/>
          </a:xfrm>
          <a:prstGeom prst="rect">
            <a:avLst/>
          </a:prstGeom>
        </p:spPr>
      </p:pic>
    </p:spTree>
    <p:extLst>
      <p:ext uri="{BB962C8B-B14F-4D97-AF65-F5344CB8AC3E}">
        <p14:creationId xmlns:p14="http://schemas.microsoft.com/office/powerpoint/2010/main" val="286286411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anim calcmode="lin" valueType="num">
                                      <p:cBhvr>
                                        <p:cTn id="1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1000"/>
                                        <p:tgtEl>
                                          <p:spTgt spid="3">
                                            <p:txEl>
                                              <p:pRg st="5" end="5"/>
                                            </p:txEl>
                                          </p:spTgt>
                                        </p:tgtEl>
                                      </p:cBhvr>
                                    </p:animEffect>
                                    <p:anim calcmode="lin" valueType="num">
                                      <p:cBhvr>
                                        <p:cTn id="2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Positive and Negative</a:t>
            </a:r>
          </a:p>
        </p:txBody>
      </p:sp>
      <p:pic>
        <p:nvPicPr>
          <p:cNvPr id="4" name="Content Placeholder 3"/>
          <p:cNvPicPr>
            <a:picLocks noGrp="1" noChangeAspect="1"/>
          </p:cNvPicPr>
          <p:nvPr>
            <p:ph idx="1"/>
          </p:nvPr>
        </p:nvPicPr>
        <p:blipFill>
          <a:blip r:embed="rId3"/>
          <a:stretch>
            <a:fillRect/>
          </a:stretch>
        </p:blipFill>
        <p:spPr>
          <a:xfrm>
            <a:off x="1143000" y="1839119"/>
            <a:ext cx="6858000" cy="2990850"/>
          </a:xfrm>
          <a:prstGeom prst="rect">
            <a:avLst/>
          </a:prstGeom>
        </p:spPr>
      </p:pic>
    </p:spTree>
    <p:extLst>
      <p:ext uri="{BB962C8B-B14F-4D97-AF65-F5344CB8AC3E}">
        <p14:creationId xmlns:p14="http://schemas.microsoft.com/office/powerpoint/2010/main" val="16594815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2BD08-B767-470B-8E75-A0E478C24851}"/>
              </a:ext>
            </a:extLst>
          </p:cNvPr>
          <p:cNvSpPr>
            <a:spLocks noGrp="1"/>
          </p:cNvSpPr>
          <p:nvPr>
            <p:ph type="title"/>
          </p:nvPr>
        </p:nvSpPr>
        <p:spPr>
          <a:xfrm>
            <a:off x="1127414" y="197393"/>
            <a:ext cx="7886700" cy="1104636"/>
          </a:xfrm>
        </p:spPr>
        <p:txBody>
          <a:bodyPr/>
          <a:lstStyle/>
          <a:p>
            <a:r>
              <a:rPr lang="en-GB" b="1" dirty="0">
                <a:latin typeface="+mn-lt"/>
              </a:rPr>
              <a:t>ADKAR</a:t>
            </a:r>
          </a:p>
        </p:txBody>
      </p:sp>
      <p:sp>
        <p:nvSpPr>
          <p:cNvPr id="4" name="TextBox 3">
            <a:extLst>
              <a:ext uri="{FF2B5EF4-FFF2-40B4-BE49-F238E27FC236}">
                <a16:creationId xmlns:a16="http://schemas.microsoft.com/office/drawing/2014/main" id="{2C4E59E3-451E-4741-9D07-CBAAF287B97B}"/>
              </a:ext>
            </a:extLst>
          </p:cNvPr>
          <p:cNvSpPr txBox="1"/>
          <p:nvPr/>
        </p:nvSpPr>
        <p:spPr>
          <a:xfrm>
            <a:off x="2814451" y="580434"/>
            <a:ext cx="1531917" cy="338554"/>
          </a:xfrm>
          <a:prstGeom prst="rect">
            <a:avLst/>
          </a:prstGeom>
          <a:noFill/>
        </p:spPr>
        <p:txBody>
          <a:bodyPr wrap="square" rtlCol="0">
            <a:spAutoFit/>
          </a:bodyPr>
          <a:lstStyle/>
          <a:p>
            <a:r>
              <a:rPr lang="en-GB" sz="1600" b="1" i="1" dirty="0"/>
              <a:t>1999 by Prosci</a:t>
            </a:r>
          </a:p>
        </p:txBody>
      </p:sp>
      <p:pic>
        <p:nvPicPr>
          <p:cNvPr id="5" name="Picture 2" descr="Commitment">
            <a:extLst>
              <a:ext uri="{FF2B5EF4-FFF2-40B4-BE49-F238E27FC236}">
                <a16:creationId xmlns:a16="http://schemas.microsoft.com/office/drawing/2014/main" id="{C0C52139-7D91-4F30-982F-B21986A0CD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2198" y="524348"/>
            <a:ext cx="1531917" cy="120452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7634" y="1302030"/>
            <a:ext cx="6267625" cy="3597208"/>
          </a:xfrm>
          <a:prstGeom prst="rect">
            <a:avLst/>
          </a:prstGeom>
        </p:spPr>
      </p:pic>
    </p:spTree>
    <p:extLst>
      <p:ext uri="{BB962C8B-B14F-4D97-AF65-F5344CB8AC3E}">
        <p14:creationId xmlns:p14="http://schemas.microsoft.com/office/powerpoint/2010/main" val="199322065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duotone>
              <a:schemeClr val="accent1">
                <a:shade val="45000"/>
                <a:satMod val="135000"/>
              </a:schemeClr>
              <a:prstClr val="white"/>
            </a:duotone>
          </a:blip>
          <a:stretch>
            <a:fillRect/>
          </a:stretch>
        </p:blipFill>
        <p:spPr>
          <a:xfrm>
            <a:off x="2014744" y="1291771"/>
            <a:ext cx="2411074" cy="1515298"/>
          </a:xfrm>
          <a:prstGeom prst="rect">
            <a:avLst/>
          </a:prstGeom>
        </p:spPr>
      </p:pic>
      <p:pic>
        <p:nvPicPr>
          <p:cNvPr id="5" name="Picture 4"/>
          <p:cNvPicPr>
            <a:picLocks noChangeAspect="1"/>
          </p:cNvPicPr>
          <p:nvPr/>
        </p:nvPicPr>
        <p:blipFill>
          <a:blip r:embed="rId4">
            <a:extLst>
              <a:ext uri="{BEBA8EAE-BF5A-486C-A8C5-ECC9F3942E4B}">
                <a14:imgProps xmlns:a14="http://schemas.microsoft.com/office/drawing/2010/main">
                  <a14:imgLayer r:embed="rId5">
                    <a14:imgEffect>
                      <a14:saturation sat="66000"/>
                    </a14:imgEffect>
                  </a14:imgLayer>
                </a14:imgProps>
              </a:ext>
            </a:extLst>
          </a:blip>
          <a:stretch>
            <a:fillRect/>
          </a:stretch>
        </p:blipFill>
        <p:spPr>
          <a:xfrm>
            <a:off x="4596552" y="3025604"/>
            <a:ext cx="2675524" cy="1684281"/>
          </a:xfrm>
          <a:prstGeom prst="rect">
            <a:avLst/>
          </a:prstGeom>
        </p:spPr>
      </p:pic>
      <p:pic>
        <p:nvPicPr>
          <p:cNvPr id="3" name="Picture 2"/>
          <p:cNvPicPr>
            <a:picLocks noChangeAspect="1"/>
          </p:cNvPicPr>
          <p:nvPr/>
        </p:nvPicPr>
        <p:blipFill>
          <a:blip r:embed="rId6">
            <a:duotone>
              <a:schemeClr val="accent3">
                <a:shade val="45000"/>
                <a:satMod val="135000"/>
              </a:schemeClr>
              <a:prstClr val="white"/>
            </a:duotone>
          </a:blip>
          <a:stretch>
            <a:fillRect/>
          </a:stretch>
        </p:blipFill>
        <p:spPr>
          <a:xfrm>
            <a:off x="2014744" y="2987204"/>
            <a:ext cx="2411074" cy="1792037"/>
          </a:xfrm>
          <a:prstGeom prst="rect">
            <a:avLst/>
          </a:prstGeom>
        </p:spPr>
      </p:pic>
      <p:pic>
        <p:nvPicPr>
          <p:cNvPr id="159746" name="Picture 2" descr="Commitment">
            <a:extLst>
              <a:ext uri="{FF2B5EF4-FFF2-40B4-BE49-F238E27FC236}">
                <a16:creationId xmlns:a16="http://schemas.microsoft.com/office/drawing/2014/main" id="{2EDF8D26-1F52-4D14-833F-112A0ACC637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90993" y="1291771"/>
            <a:ext cx="2581082" cy="1565730"/>
          </a:xfrm>
          <a:prstGeom prst="rect">
            <a:avLst/>
          </a:prstGeom>
          <a:noFill/>
          <a:extLst>
            <a:ext uri="{909E8E84-426E-40DD-AFC4-6F175D3DCCD1}">
              <a14:hiddenFill xmlns:a14="http://schemas.microsoft.com/office/drawing/2010/main">
                <a:solidFill>
                  <a:srgbClr val="FFFFFF"/>
                </a:solidFill>
              </a14:hiddenFill>
            </a:ext>
          </a:extLst>
        </p:spPr>
      </p:pic>
      <p:sp>
        <p:nvSpPr>
          <p:cNvPr id="159750" name="Line 6">
            <a:extLst>
              <a:ext uri="{FF2B5EF4-FFF2-40B4-BE49-F238E27FC236}">
                <a16:creationId xmlns:a16="http://schemas.microsoft.com/office/drawing/2014/main" id="{3FB38245-E305-4B44-B9B9-C1ED44E9947E}"/>
              </a:ext>
            </a:extLst>
          </p:cNvPr>
          <p:cNvSpPr>
            <a:spLocks noChangeShapeType="1"/>
          </p:cNvSpPr>
          <p:nvPr/>
        </p:nvSpPr>
        <p:spPr bwMode="auto">
          <a:xfrm>
            <a:off x="1539875" y="2924969"/>
            <a:ext cx="5929313" cy="0"/>
          </a:xfrm>
          <a:prstGeom prst="line">
            <a:avLst/>
          </a:prstGeom>
          <a:noFill/>
          <a:ln w="7620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170" dirty="0"/>
          </a:p>
        </p:txBody>
      </p:sp>
      <p:sp>
        <p:nvSpPr>
          <p:cNvPr id="159751" name="Line 7">
            <a:extLst>
              <a:ext uri="{FF2B5EF4-FFF2-40B4-BE49-F238E27FC236}">
                <a16:creationId xmlns:a16="http://schemas.microsoft.com/office/drawing/2014/main" id="{7FC0EF7F-AEA9-47C4-97BF-81C957549001}"/>
              </a:ext>
            </a:extLst>
          </p:cNvPr>
          <p:cNvSpPr>
            <a:spLocks noChangeShapeType="1"/>
          </p:cNvSpPr>
          <p:nvPr/>
        </p:nvSpPr>
        <p:spPr bwMode="auto">
          <a:xfrm>
            <a:off x="4524375" y="1448594"/>
            <a:ext cx="0" cy="3095625"/>
          </a:xfrm>
          <a:prstGeom prst="line">
            <a:avLst/>
          </a:prstGeom>
          <a:noFill/>
          <a:ln w="7620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170" dirty="0"/>
          </a:p>
        </p:txBody>
      </p:sp>
      <p:sp>
        <p:nvSpPr>
          <p:cNvPr id="159752" name="Arc 8">
            <a:extLst>
              <a:ext uri="{FF2B5EF4-FFF2-40B4-BE49-F238E27FC236}">
                <a16:creationId xmlns:a16="http://schemas.microsoft.com/office/drawing/2014/main" id="{8732FA06-5EF1-49B1-934F-062B288FFC5B}"/>
              </a:ext>
            </a:extLst>
          </p:cNvPr>
          <p:cNvSpPr>
            <a:spLocks/>
          </p:cNvSpPr>
          <p:nvPr/>
        </p:nvSpPr>
        <p:spPr bwMode="auto">
          <a:xfrm>
            <a:off x="2476500" y="1654969"/>
            <a:ext cx="952500" cy="123825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762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sz="1170" dirty="0"/>
          </a:p>
        </p:txBody>
      </p:sp>
      <p:sp>
        <p:nvSpPr>
          <p:cNvPr id="159753" name="Arc 9">
            <a:extLst>
              <a:ext uri="{FF2B5EF4-FFF2-40B4-BE49-F238E27FC236}">
                <a16:creationId xmlns:a16="http://schemas.microsoft.com/office/drawing/2014/main" id="{60820DAF-F895-4F94-AAD7-EEC342C6ACE6}"/>
              </a:ext>
            </a:extLst>
          </p:cNvPr>
          <p:cNvSpPr>
            <a:spLocks/>
          </p:cNvSpPr>
          <p:nvPr/>
        </p:nvSpPr>
        <p:spPr bwMode="auto">
          <a:xfrm>
            <a:off x="5544344" y="1574271"/>
            <a:ext cx="952500" cy="1333500"/>
          </a:xfrm>
          <a:custGeom>
            <a:avLst/>
            <a:gdLst>
              <a:gd name="G0" fmla="+- 21600 0 0"/>
              <a:gd name="G1" fmla="+- 21600 0 0"/>
              <a:gd name="G2" fmla="+- 21600 0 0"/>
              <a:gd name="T0" fmla="*/ 0 w 21600"/>
              <a:gd name="T1" fmla="*/ 21600 h 21600"/>
              <a:gd name="T2" fmla="*/ 21572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99"/>
                </a:moveTo>
                <a:cubicBezTo>
                  <a:pt x="0" y="9681"/>
                  <a:pt x="9653" y="15"/>
                  <a:pt x="21572" y="0"/>
                </a:cubicBezTo>
              </a:path>
              <a:path w="21600" h="21600" stroke="0" extrusionOk="0">
                <a:moveTo>
                  <a:pt x="0" y="21599"/>
                </a:moveTo>
                <a:cubicBezTo>
                  <a:pt x="0" y="9681"/>
                  <a:pt x="9653" y="15"/>
                  <a:pt x="21572" y="0"/>
                </a:cubicBezTo>
                <a:lnTo>
                  <a:pt x="21600" y="21600"/>
                </a:lnTo>
                <a:close/>
              </a:path>
            </a:pathLst>
          </a:custGeom>
          <a:noFill/>
          <a:ln w="762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170" dirty="0"/>
          </a:p>
        </p:txBody>
      </p:sp>
      <p:sp>
        <p:nvSpPr>
          <p:cNvPr id="159754" name="Arc 10">
            <a:extLst>
              <a:ext uri="{FF2B5EF4-FFF2-40B4-BE49-F238E27FC236}">
                <a16:creationId xmlns:a16="http://schemas.microsoft.com/office/drawing/2014/main" id="{D6B074B5-66A5-4A49-881D-DEAF043EECAF}"/>
              </a:ext>
            </a:extLst>
          </p:cNvPr>
          <p:cNvSpPr>
            <a:spLocks/>
          </p:cNvSpPr>
          <p:nvPr/>
        </p:nvSpPr>
        <p:spPr bwMode="auto">
          <a:xfrm>
            <a:off x="3442230" y="2883958"/>
            <a:ext cx="1041136" cy="952500"/>
          </a:xfrm>
          <a:custGeom>
            <a:avLst/>
            <a:gdLst>
              <a:gd name="G0" fmla="+- 21600 0 0"/>
              <a:gd name="G1" fmla="+- 0 0 0"/>
              <a:gd name="G2" fmla="+- 21600 0 0"/>
              <a:gd name="T0" fmla="*/ 21575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575" y="21599"/>
                </a:moveTo>
                <a:cubicBezTo>
                  <a:pt x="9655" y="21586"/>
                  <a:pt x="-1" y="11919"/>
                  <a:pt x="-1" y="-1"/>
                </a:cubicBezTo>
              </a:path>
              <a:path w="21600" h="21600" stroke="0" extrusionOk="0">
                <a:moveTo>
                  <a:pt x="21575" y="21599"/>
                </a:moveTo>
                <a:cubicBezTo>
                  <a:pt x="9655" y="21586"/>
                  <a:pt x="-1" y="11919"/>
                  <a:pt x="-1" y="-1"/>
                </a:cubicBezTo>
                <a:lnTo>
                  <a:pt x="21600" y="0"/>
                </a:lnTo>
                <a:close/>
              </a:path>
            </a:pathLst>
          </a:custGeom>
          <a:noFill/>
          <a:ln w="762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sz="1170" dirty="0"/>
          </a:p>
        </p:txBody>
      </p:sp>
      <p:sp>
        <p:nvSpPr>
          <p:cNvPr id="159755" name="Arc 11">
            <a:extLst>
              <a:ext uri="{FF2B5EF4-FFF2-40B4-BE49-F238E27FC236}">
                <a16:creationId xmlns:a16="http://schemas.microsoft.com/office/drawing/2014/main" id="{F698A725-A940-422E-A6DB-4BA2D8D1013B}"/>
              </a:ext>
            </a:extLst>
          </p:cNvPr>
          <p:cNvSpPr>
            <a:spLocks/>
          </p:cNvSpPr>
          <p:nvPr/>
        </p:nvSpPr>
        <p:spPr bwMode="auto">
          <a:xfrm>
            <a:off x="4500563" y="2881313"/>
            <a:ext cx="1041136" cy="952500"/>
          </a:xfrm>
          <a:custGeom>
            <a:avLst/>
            <a:gdLst>
              <a:gd name="G0" fmla="+- 25 0 0"/>
              <a:gd name="G1" fmla="+- 0 0 0"/>
              <a:gd name="G2" fmla="+- 21600 0 0"/>
              <a:gd name="T0" fmla="*/ 21625 w 21625"/>
              <a:gd name="T1" fmla="*/ 0 h 21600"/>
              <a:gd name="T2" fmla="*/ 0 w 21625"/>
              <a:gd name="T3" fmla="*/ 21600 h 21600"/>
              <a:gd name="T4" fmla="*/ 25 w 21625"/>
              <a:gd name="T5" fmla="*/ 0 h 21600"/>
            </a:gdLst>
            <a:ahLst/>
            <a:cxnLst>
              <a:cxn ang="0">
                <a:pos x="T0" y="T1"/>
              </a:cxn>
              <a:cxn ang="0">
                <a:pos x="T2" y="T3"/>
              </a:cxn>
              <a:cxn ang="0">
                <a:pos x="T4" y="T5"/>
              </a:cxn>
            </a:cxnLst>
            <a:rect l="0" t="0" r="r" b="b"/>
            <a:pathLst>
              <a:path w="21625" h="21600" fill="none" extrusionOk="0">
                <a:moveTo>
                  <a:pt x="21625" y="0"/>
                </a:moveTo>
                <a:cubicBezTo>
                  <a:pt x="21625" y="11929"/>
                  <a:pt x="11954" y="21600"/>
                  <a:pt x="25" y="21600"/>
                </a:cubicBezTo>
                <a:cubicBezTo>
                  <a:pt x="16" y="21599"/>
                  <a:pt x="8" y="21599"/>
                  <a:pt x="0" y="21599"/>
                </a:cubicBezTo>
              </a:path>
              <a:path w="21625" h="21600" stroke="0" extrusionOk="0">
                <a:moveTo>
                  <a:pt x="21625" y="0"/>
                </a:moveTo>
                <a:cubicBezTo>
                  <a:pt x="21625" y="11929"/>
                  <a:pt x="11954" y="21600"/>
                  <a:pt x="25" y="21600"/>
                </a:cubicBezTo>
                <a:cubicBezTo>
                  <a:pt x="16" y="21599"/>
                  <a:pt x="8" y="21599"/>
                  <a:pt x="0" y="21599"/>
                </a:cubicBezTo>
                <a:lnTo>
                  <a:pt x="25" y="0"/>
                </a:lnTo>
                <a:close/>
              </a:path>
            </a:pathLst>
          </a:custGeom>
          <a:noFill/>
          <a:ln w="76200"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sz="1170" dirty="0"/>
          </a:p>
        </p:txBody>
      </p:sp>
      <p:sp>
        <p:nvSpPr>
          <p:cNvPr id="159757" name="Rectangle 13">
            <a:extLst>
              <a:ext uri="{FF2B5EF4-FFF2-40B4-BE49-F238E27FC236}">
                <a16:creationId xmlns:a16="http://schemas.microsoft.com/office/drawing/2014/main" id="{63A2B4A2-9347-4514-9F04-AF0601642A8B}"/>
              </a:ext>
            </a:extLst>
          </p:cNvPr>
          <p:cNvSpPr>
            <a:spLocks noChangeArrowheads="1"/>
          </p:cNvSpPr>
          <p:nvPr/>
        </p:nvSpPr>
        <p:spPr bwMode="auto">
          <a:xfrm>
            <a:off x="6098892" y="1166365"/>
            <a:ext cx="1254617" cy="334024"/>
          </a:xfrm>
          <a:prstGeom prst="rect">
            <a:avLst/>
          </a:prstGeom>
          <a:solidFill>
            <a:srgbClr val="3333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6729" tIns="38365" rIns="76729" bIns="38365">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667" b="1" dirty="0">
                <a:solidFill>
                  <a:schemeClr val="bg1"/>
                </a:solidFill>
                <a:latin typeface="Arial" panose="020B0604020202020204" pitchFamily="34" charset="0"/>
              </a:rPr>
              <a:t>Integration</a:t>
            </a:r>
          </a:p>
        </p:txBody>
      </p:sp>
      <p:sp>
        <p:nvSpPr>
          <p:cNvPr id="159758" name="Rectangle 14">
            <a:extLst>
              <a:ext uri="{FF2B5EF4-FFF2-40B4-BE49-F238E27FC236}">
                <a16:creationId xmlns:a16="http://schemas.microsoft.com/office/drawing/2014/main" id="{8486F194-7552-4707-ABFA-F5622B9066E4}"/>
              </a:ext>
            </a:extLst>
          </p:cNvPr>
          <p:cNvSpPr>
            <a:spLocks noChangeArrowheads="1"/>
          </p:cNvSpPr>
          <p:nvPr/>
        </p:nvSpPr>
        <p:spPr bwMode="auto">
          <a:xfrm>
            <a:off x="191338" y="2700591"/>
            <a:ext cx="239916" cy="385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6729" tIns="38365" rIns="76729" bIns="38365">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b="1" dirty="0">
                <a:solidFill>
                  <a:schemeClr val="bg1"/>
                </a:solidFill>
                <a:latin typeface="Arial" panose="020B0604020202020204" pitchFamily="34" charset="0"/>
              </a:rPr>
              <a:t>t</a:t>
            </a:r>
          </a:p>
        </p:txBody>
      </p:sp>
      <p:sp>
        <p:nvSpPr>
          <p:cNvPr id="159759" name="Rectangle 15">
            <a:extLst>
              <a:ext uri="{FF2B5EF4-FFF2-40B4-BE49-F238E27FC236}">
                <a16:creationId xmlns:a16="http://schemas.microsoft.com/office/drawing/2014/main" id="{6D38A77B-CB4E-4FB4-B822-8ED99F39AA4C}"/>
              </a:ext>
            </a:extLst>
          </p:cNvPr>
          <p:cNvSpPr>
            <a:spLocks noChangeArrowheads="1"/>
          </p:cNvSpPr>
          <p:nvPr/>
        </p:nvSpPr>
        <p:spPr bwMode="auto">
          <a:xfrm>
            <a:off x="7469188" y="2730500"/>
            <a:ext cx="953252" cy="385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6729" tIns="38365" rIns="76729" bIns="38365">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b="1" dirty="0">
                <a:solidFill>
                  <a:schemeClr val="bg1"/>
                </a:solidFill>
                <a:latin typeface="Arial" panose="020B0604020202020204" pitchFamily="34" charset="0"/>
              </a:rPr>
              <a:t>Future</a:t>
            </a:r>
          </a:p>
        </p:txBody>
      </p:sp>
      <p:sp>
        <p:nvSpPr>
          <p:cNvPr id="159760" name="Rectangle 16">
            <a:extLst>
              <a:ext uri="{FF2B5EF4-FFF2-40B4-BE49-F238E27FC236}">
                <a16:creationId xmlns:a16="http://schemas.microsoft.com/office/drawing/2014/main" id="{974AB918-DCB1-490D-BC77-9E602FEDCF8F}"/>
              </a:ext>
            </a:extLst>
          </p:cNvPr>
          <p:cNvSpPr>
            <a:spLocks noChangeArrowheads="1"/>
          </p:cNvSpPr>
          <p:nvPr/>
        </p:nvSpPr>
        <p:spPr bwMode="auto">
          <a:xfrm>
            <a:off x="2091640" y="4446980"/>
            <a:ext cx="2428015" cy="334024"/>
          </a:xfrm>
          <a:prstGeom prst="rect">
            <a:avLst/>
          </a:prstGeom>
          <a:solidFill>
            <a:srgbClr val="3333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6729" tIns="38365" rIns="76729" bIns="38365">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667" b="1" dirty="0">
                <a:solidFill>
                  <a:schemeClr val="bg1"/>
                </a:solidFill>
                <a:latin typeface="Arial" panose="020B0604020202020204" pitchFamily="34" charset="0"/>
              </a:rPr>
              <a:t>Anger and Depression</a:t>
            </a:r>
          </a:p>
        </p:txBody>
      </p:sp>
      <p:sp>
        <p:nvSpPr>
          <p:cNvPr id="159761" name="Rectangle 17">
            <a:extLst>
              <a:ext uri="{FF2B5EF4-FFF2-40B4-BE49-F238E27FC236}">
                <a16:creationId xmlns:a16="http://schemas.microsoft.com/office/drawing/2014/main" id="{41D14652-E09F-4BA1-8A33-A609077C415B}"/>
              </a:ext>
            </a:extLst>
          </p:cNvPr>
          <p:cNvSpPr>
            <a:spLocks noChangeArrowheads="1"/>
          </p:cNvSpPr>
          <p:nvPr/>
        </p:nvSpPr>
        <p:spPr bwMode="auto">
          <a:xfrm>
            <a:off x="5247263" y="4483500"/>
            <a:ext cx="1350797" cy="334024"/>
          </a:xfrm>
          <a:prstGeom prst="rect">
            <a:avLst/>
          </a:prstGeom>
          <a:solidFill>
            <a:srgbClr val="3333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6729" tIns="38365" rIns="76729" bIns="38365">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667" b="1" dirty="0">
                <a:solidFill>
                  <a:schemeClr val="bg1"/>
                </a:solidFill>
                <a:latin typeface="Arial" panose="020B0604020202020204" pitchFamily="34" charset="0"/>
              </a:rPr>
              <a:t>Acceptance</a:t>
            </a:r>
          </a:p>
        </p:txBody>
      </p:sp>
      <p:sp>
        <p:nvSpPr>
          <p:cNvPr id="159762" name="Text Box 18">
            <a:extLst>
              <a:ext uri="{FF2B5EF4-FFF2-40B4-BE49-F238E27FC236}">
                <a16:creationId xmlns:a16="http://schemas.microsoft.com/office/drawing/2014/main" id="{95C625B0-FA54-4092-8B54-5C1713BE886C}"/>
              </a:ext>
            </a:extLst>
          </p:cNvPr>
          <p:cNvSpPr txBox="1">
            <a:spLocks noChangeArrowheads="1"/>
          </p:cNvSpPr>
          <p:nvPr/>
        </p:nvSpPr>
        <p:spPr bwMode="auto">
          <a:xfrm>
            <a:off x="2253864" y="469948"/>
            <a:ext cx="2831224" cy="451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333" b="1" dirty="0">
                <a:latin typeface="Arial" panose="020B0604020202020204" pitchFamily="34" charset="0"/>
              </a:rPr>
              <a:t>The Change Curve</a:t>
            </a:r>
          </a:p>
        </p:txBody>
      </p:sp>
      <p:sp>
        <p:nvSpPr>
          <p:cNvPr id="19" name="Rectangle 12">
            <a:extLst>
              <a:ext uri="{FF2B5EF4-FFF2-40B4-BE49-F238E27FC236}">
                <a16:creationId xmlns:a16="http://schemas.microsoft.com/office/drawing/2014/main" id="{1E7B9F5C-6C0A-424F-A146-BB78534BC1AD}"/>
              </a:ext>
            </a:extLst>
          </p:cNvPr>
          <p:cNvSpPr>
            <a:spLocks noChangeArrowheads="1"/>
          </p:cNvSpPr>
          <p:nvPr/>
        </p:nvSpPr>
        <p:spPr bwMode="auto">
          <a:xfrm>
            <a:off x="1848127" y="1172030"/>
            <a:ext cx="1706663" cy="334024"/>
          </a:xfrm>
          <a:prstGeom prst="rect">
            <a:avLst/>
          </a:prstGeom>
          <a:solidFill>
            <a:srgbClr val="3333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6729" tIns="38365" rIns="76729" bIns="38365">
            <a:spAutoFit/>
          </a:bodyPr>
          <a:lstStyle>
            <a:lvl1pPr defTabSz="762000">
              <a:defRPr sz="2400">
                <a:solidFill>
                  <a:schemeClr val="tx1"/>
                </a:solidFill>
                <a:latin typeface="Times New Roman" panose="02020603050405020304" pitchFamily="18" charset="0"/>
              </a:defRPr>
            </a:lvl1pPr>
            <a:lvl2pPr marL="571500" defTabSz="762000">
              <a:defRPr sz="2400">
                <a:solidFill>
                  <a:schemeClr val="tx1"/>
                </a:solidFill>
                <a:latin typeface="Times New Roman" panose="02020603050405020304" pitchFamily="18" charset="0"/>
              </a:defRPr>
            </a:lvl2pPr>
            <a:lvl3pPr marL="1143000" defTabSz="762000">
              <a:defRPr sz="2400">
                <a:solidFill>
                  <a:schemeClr val="tx1"/>
                </a:solidFill>
                <a:latin typeface="Times New Roman" panose="02020603050405020304" pitchFamily="18" charset="0"/>
              </a:defRPr>
            </a:lvl3pPr>
            <a:lvl4pPr marL="1714500" defTabSz="762000">
              <a:defRPr sz="2400">
                <a:solidFill>
                  <a:schemeClr val="tx1"/>
                </a:solidFill>
                <a:latin typeface="Times New Roman" panose="02020603050405020304" pitchFamily="18" charset="0"/>
              </a:defRPr>
            </a:lvl4pPr>
            <a:lvl5pPr marL="2286000" defTabSz="762000">
              <a:defRPr sz="2400">
                <a:solidFill>
                  <a:schemeClr val="tx1"/>
                </a:solidFill>
                <a:latin typeface="Times New Roman" panose="02020603050405020304" pitchFamily="18" charset="0"/>
              </a:defRPr>
            </a:lvl5pPr>
            <a:lvl6pPr marL="2743200" defTabSz="762000" eaLnBrk="0" fontAlgn="base" hangingPunct="0">
              <a:spcBef>
                <a:spcPct val="0"/>
              </a:spcBef>
              <a:spcAft>
                <a:spcPct val="0"/>
              </a:spcAft>
              <a:defRPr sz="2400">
                <a:solidFill>
                  <a:schemeClr val="tx1"/>
                </a:solidFill>
                <a:latin typeface="Times New Roman" panose="02020603050405020304" pitchFamily="18" charset="0"/>
              </a:defRPr>
            </a:lvl6pPr>
            <a:lvl7pPr marL="3200400" defTabSz="762000" eaLnBrk="0" fontAlgn="base" hangingPunct="0">
              <a:spcBef>
                <a:spcPct val="0"/>
              </a:spcBef>
              <a:spcAft>
                <a:spcPct val="0"/>
              </a:spcAft>
              <a:defRPr sz="2400">
                <a:solidFill>
                  <a:schemeClr val="tx1"/>
                </a:solidFill>
                <a:latin typeface="Times New Roman" panose="02020603050405020304" pitchFamily="18" charset="0"/>
              </a:defRPr>
            </a:lvl7pPr>
            <a:lvl8pPr marL="3657600" defTabSz="762000" eaLnBrk="0" fontAlgn="base" hangingPunct="0">
              <a:spcBef>
                <a:spcPct val="0"/>
              </a:spcBef>
              <a:spcAft>
                <a:spcPct val="0"/>
              </a:spcAft>
              <a:defRPr sz="2400">
                <a:solidFill>
                  <a:schemeClr val="tx1"/>
                </a:solidFill>
                <a:latin typeface="Times New Roman" panose="02020603050405020304" pitchFamily="18" charset="0"/>
              </a:defRPr>
            </a:lvl8pPr>
            <a:lvl9pPr marL="4114800" defTabSz="7620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667" b="1" dirty="0">
                <a:solidFill>
                  <a:schemeClr val="bg1"/>
                </a:solidFill>
                <a:latin typeface="Arial" panose="020B0604020202020204" pitchFamily="34" charset="0"/>
              </a:rPr>
              <a:t>Shock &amp; Denial</a:t>
            </a:r>
          </a:p>
        </p:txBody>
      </p:sp>
    </p:spTree>
    <p:extLst>
      <p:ext uri="{BB962C8B-B14F-4D97-AF65-F5344CB8AC3E}">
        <p14:creationId xmlns:p14="http://schemas.microsoft.com/office/powerpoint/2010/main" val="103621968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a:extLst>
              <a:ext uri="{FF2B5EF4-FFF2-40B4-BE49-F238E27FC236}">
                <a16:creationId xmlns:a16="http://schemas.microsoft.com/office/drawing/2014/main" id="{27216008-5D4A-4D41-B92A-577E0F87B008}"/>
              </a:ext>
            </a:extLst>
          </p:cNvPr>
          <p:cNvSpPr>
            <a:spLocks noGrp="1" noChangeArrowheads="1"/>
          </p:cNvSpPr>
          <p:nvPr>
            <p:ph type="title"/>
          </p:nvPr>
        </p:nvSpPr>
        <p:spPr>
          <a:xfrm>
            <a:off x="1257300" y="480734"/>
            <a:ext cx="6474995" cy="578045"/>
          </a:xfrm>
        </p:spPr>
        <p:txBody>
          <a:bodyPr>
            <a:normAutofit/>
          </a:bodyPr>
          <a:lstStyle/>
          <a:p>
            <a:r>
              <a:rPr lang="en-GB" altLang="en-US" sz="2000" b="1" dirty="0">
                <a:latin typeface="+mn-lt"/>
                <a:hlinkClick r:id="rId4"/>
              </a:rPr>
              <a:t>Change  Curve</a:t>
            </a:r>
            <a:endParaRPr lang="en-US" altLang="en-US" sz="2000" b="1" dirty="0">
              <a:latin typeface="+mn-lt"/>
            </a:endParaRPr>
          </a:p>
        </p:txBody>
      </p:sp>
      <p:sp>
        <p:nvSpPr>
          <p:cNvPr id="4" name="TextBox 3"/>
          <p:cNvSpPr txBox="1"/>
          <p:nvPr/>
        </p:nvSpPr>
        <p:spPr>
          <a:xfrm>
            <a:off x="256674" y="4491789"/>
            <a:ext cx="4924926" cy="308418"/>
          </a:xfrm>
          <a:prstGeom prst="rect">
            <a:avLst/>
          </a:prstGeom>
          <a:noFill/>
        </p:spPr>
        <p:txBody>
          <a:bodyPr wrap="square" rtlCol="0">
            <a:spAutoFit/>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kumimoji="0" lang="en-GB" sz="1404" b="0" i="0" u="none" strike="noStrike" kern="1200" cap="none" spc="0" normalizeH="0" baseline="0" noProof="0" dirty="0">
                <a:ln>
                  <a:noFill/>
                </a:ln>
                <a:solidFill>
                  <a:prstClr val="black"/>
                </a:solidFill>
                <a:effectLst/>
                <a:uLnTx/>
                <a:uFillTx/>
                <a:latin typeface="Calibri" panose="020F0502020204030204"/>
                <a:ea typeface="+mn-ea"/>
                <a:cs typeface="+mn-cs"/>
              </a:rPr>
              <a:t>https://www.mindtools.com/pages/article/newPPM_96.htm</a:t>
            </a:r>
          </a:p>
        </p:txBody>
      </p:sp>
      <p:pic>
        <p:nvPicPr>
          <p:cNvPr id="2" name="Picture 2">
            <a:hlinkClick r:id="" action="ppaction://media"/>
            <a:extLst>
              <a:ext uri="{FF2B5EF4-FFF2-40B4-BE49-F238E27FC236}">
                <a16:creationId xmlns:a16="http://schemas.microsoft.com/office/drawing/2014/main" id="{B463563A-5E17-4097-97CA-0B2079B03233}"/>
              </a:ext>
            </a:extLst>
          </p:cNvPr>
          <p:cNvPicPr>
            <a:picLocks noRot="1" noChangeAspect="1"/>
          </p:cNvPicPr>
          <p:nvPr>
            <a:videoFile r:link="rId1"/>
          </p:nvPr>
        </p:nvPicPr>
        <p:blipFill>
          <a:blip r:embed="rId5"/>
          <a:stretch>
            <a:fillRect/>
          </a:stretch>
        </p:blipFill>
        <p:spPr>
          <a:xfrm>
            <a:off x="2214094" y="1332002"/>
            <a:ext cx="4572000" cy="2571750"/>
          </a:xfrm>
          <a:prstGeom prst="rect">
            <a:avLst/>
          </a:prstGeom>
        </p:spPr>
      </p:pic>
    </p:spTree>
    <p:extLst>
      <p:ext uri="{BB962C8B-B14F-4D97-AF65-F5344CB8AC3E}">
        <p14:creationId xmlns:p14="http://schemas.microsoft.com/office/powerpoint/2010/main" val="11365293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Kotter’s 8-stage Change Model</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07642" y="1179739"/>
            <a:ext cx="5528715" cy="3627438"/>
          </a:xfrm>
        </p:spPr>
      </p:pic>
    </p:spTree>
    <p:extLst>
      <p:ext uri="{BB962C8B-B14F-4D97-AF65-F5344CB8AC3E}">
        <p14:creationId xmlns:p14="http://schemas.microsoft.com/office/powerpoint/2010/main" val="186703154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5979" y="304271"/>
            <a:ext cx="7886700" cy="1104636"/>
          </a:xfrm>
        </p:spPr>
        <p:txBody>
          <a:bodyPr/>
          <a:lstStyle/>
          <a:p>
            <a:pPr algn="ctr"/>
            <a:r>
              <a:rPr lang="en-GB" dirty="0"/>
              <a:t>Complete Activity </a:t>
            </a:r>
          </a:p>
        </p:txBody>
      </p:sp>
      <p:sp>
        <p:nvSpPr>
          <p:cNvPr id="3" name="Content Placeholder 2"/>
          <p:cNvSpPr>
            <a:spLocks noGrp="1"/>
          </p:cNvSpPr>
          <p:nvPr>
            <p:ph idx="1"/>
          </p:nvPr>
        </p:nvSpPr>
        <p:spPr>
          <a:xfrm>
            <a:off x="628650" y="1582057"/>
            <a:ext cx="5975350" cy="3565412"/>
          </a:xfrm>
        </p:spPr>
        <p:txBody>
          <a:bodyPr/>
          <a:lstStyle/>
          <a:p>
            <a:pPr marL="0" indent="0">
              <a:buNone/>
            </a:pPr>
            <a:r>
              <a:rPr lang="en-GB" b="1" dirty="0"/>
              <a:t>Knowledge Activity:</a:t>
            </a:r>
          </a:p>
          <a:p>
            <a:pPr marL="0" indent="0">
              <a:buNone/>
            </a:pPr>
            <a:r>
              <a:rPr lang="en-GB" dirty="0"/>
              <a:t>Make a few notes about the possible consequences of not communicating well with team members during the implementation of change.</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4239" y="1630981"/>
            <a:ext cx="2208440" cy="2104377"/>
          </a:xfrm>
          <a:prstGeom prst="rect">
            <a:avLst/>
          </a:prstGeom>
        </p:spPr>
      </p:pic>
    </p:spTree>
    <p:extLst>
      <p:ext uri="{BB962C8B-B14F-4D97-AF65-F5344CB8AC3E}">
        <p14:creationId xmlns:p14="http://schemas.microsoft.com/office/powerpoint/2010/main" val="16054795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5EE51-6646-407A-A853-943F637D3EF6}"/>
              </a:ext>
            </a:extLst>
          </p:cNvPr>
          <p:cNvSpPr>
            <a:spLocks noGrp="1"/>
          </p:cNvSpPr>
          <p:nvPr>
            <p:ph type="title"/>
          </p:nvPr>
        </p:nvSpPr>
        <p:spPr>
          <a:xfrm>
            <a:off x="1120005" y="364177"/>
            <a:ext cx="6772163" cy="637372"/>
          </a:xfrm>
        </p:spPr>
        <p:txBody>
          <a:bodyPr/>
          <a:lstStyle/>
          <a:p>
            <a:r>
              <a:rPr lang="en-US" sz="2950" b="1" dirty="0">
                <a:cs typeface="Calibri Light"/>
              </a:rPr>
              <a:t>Nudge theory</a:t>
            </a:r>
            <a:endParaRPr lang="en-US" b="1" dirty="0"/>
          </a:p>
        </p:txBody>
      </p:sp>
      <p:pic>
        <p:nvPicPr>
          <p:cNvPr id="4" name="Picture 4">
            <a:hlinkClick r:id="" action="ppaction://media"/>
            <a:extLst>
              <a:ext uri="{FF2B5EF4-FFF2-40B4-BE49-F238E27FC236}">
                <a16:creationId xmlns:a16="http://schemas.microsoft.com/office/drawing/2014/main" id="{6E5E4790-97E0-42DE-8B96-8278F489A8FA}"/>
              </a:ext>
            </a:extLst>
          </p:cNvPr>
          <p:cNvPicPr>
            <a:picLocks noRot="1" noChangeAspect="1"/>
          </p:cNvPicPr>
          <p:nvPr>
            <a:videoFile r:link="rId1"/>
          </p:nvPr>
        </p:nvPicPr>
        <p:blipFill>
          <a:blip r:embed="rId3"/>
          <a:stretch>
            <a:fillRect/>
          </a:stretch>
        </p:blipFill>
        <p:spPr>
          <a:xfrm>
            <a:off x="2513701" y="1403889"/>
            <a:ext cx="4572000" cy="2571750"/>
          </a:xfrm>
          <a:prstGeom prst="rect">
            <a:avLst/>
          </a:prstGeom>
        </p:spPr>
      </p:pic>
    </p:spTree>
    <p:extLst>
      <p:ext uri="{BB962C8B-B14F-4D97-AF65-F5344CB8AC3E}">
        <p14:creationId xmlns:p14="http://schemas.microsoft.com/office/powerpoint/2010/main" val="21918915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7AFBC8A-0534-BC58-581F-4AEF335AEE84}"/>
              </a:ext>
            </a:extLst>
          </p:cNvPr>
          <p:cNvSpPr txBox="1">
            <a:spLocks noChangeArrowheads="1"/>
          </p:cNvSpPr>
          <p:nvPr/>
        </p:nvSpPr>
        <p:spPr>
          <a:xfrm>
            <a:off x="1257300" y="528860"/>
            <a:ext cx="6458953" cy="417624"/>
          </a:xfrm>
          <a:prstGeom prst="rect">
            <a:avLst/>
          </a:prstGeom>
        </p:spPr>
        <p:txBody>
          <a:bodyPr>
            <a:normAutofit fontScale="90000" lnSpcReduction="1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l" defTabSz="685800" rtl="0" eaLnBrk="1" fontAlgn="auto" latinLnBrk="0" hangingPunct="1">
              <a:lnSpc>
                <a:spcPct val="90000"/>
              </a:lnSpc>
              <a:spcBef>
                <a:spcPct val="0"/>
              </a:spcBef>
              <a:spcAft>
                <a:spcPts val="0"/>
              </a:spcAft>
              <a:buClrTx/>
              <a:buSzTx/>
              <a:buFontTx/>
              <a:buNone/>
              <a:tabLst/>
              <a:defRPr/>
            </a:pPr>
            <a:r>
              <a:rPr kumimoji="0" lang="en-US" altLang="en-US" sz="2667" b="1" i="0" u="none" strike="noStrike" kern="1200" cap="none" spc="0" normalizeH="0" baseline="0" noProof="0" dirty="0">
                <a:ln>
                  <a:noFill/>
                </a:ln>
                <a:solidFill>
                  <a:prstClr val="black"/>
                </a:solidFill>
                <a:effectLst/>
                <a:uLnTx/>
                <a:uFillTx/>
                <a:latin typeface="Calibri" panose="020F0502020204030204"/>
                <a:ea typeface="+mj-ea"/>
                <a:cs typeface="+mj-cs"/>
              </a:rPr>
              <a:t>Tools For Planning Change</a:t>
            </a:r>
          </a:p>
        </p:txBody>
      </p:sp>
      <p:pic>
        <p:nvPicPr>
          <p:cNvPr id="4" name="Picture 4" descr="Diagram, schematic&#10;&#10;Description automatically generated">
            <a:extLst>
              <a:ext uri="{FF2B5EF4-FFF2-40B4-BE49-F238E27FC236}">
                <a16:creationId xmlns:a16="http://schemas.microsoft.com/office/drawing/2014/main" id="{93C527E6-89BB-3B03-CB6C-165134A92D68}"/>
              </a:ext>
            </a:extLst>
          </p:cNvPr>
          <p:cNvPicPr>
            <a:picLocks noChangeAspect="1"/>
          </p:cNvPicPr>
          <p:nvPr/>
        </p:nvPicPr>
        <p:blipFill>
          <a:blip r:embed="rId2"/>
          <a:stretch>
            <a:fillRect/>
          </a:stretch>
        </p:blipFill>
        <p:spPr>
          <a:xfrm>
            <a:off x="1667253" y="1287708"/>
            <a:ext cx="5847844" cy="3127602"/>
          </a:xfrm>
          <a:prstGeom prst="rect">
            <a:avLst/>
          </a:prstGeom>
        </p:spPr>
      </p:pic>
    </p:spTree>
    <p:extLst>
      <p:ext uri="{BB962C8B-B14F-4D97-AF65-F5344CB8AC3E}">
        <p14:creationId xmlns:p14="http://schemas.microsoft.com/office/powerpoint/2010/main" val="12115705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a:extLst>
              <a:ext uri="{FF2B5EF4-FFF2-40B4-BE49-F238E27FC236}">
                <a16:creationId xmlns:a16="http://schemas.microsoft.com/office/drawing/2014/main" id="{27216008-5D4A-4D41-B92A-577E0F87B008}"/>
              </a:ext>
            </a:extLst>
          </p:cNvPr>
          <p:cNvSpPr>
            <a:spLocks noGrp="1" noChangeArrowheads="1"/>
          </p:cNvSpPr>
          <p:nvPr>
            <p:ph type="title"/>
          </p:nvPr>
        </p:nvSpPr>
        <p:spPr>
          <a:xfrm>
            <a:off x="1257300" y="528860"/>
            <a:ext cx="6458953" cy="417624"/>
          </a:xfrm>
        </p:spPr>
        <p:txBody>
          <a:bodyPr>
            <a:normAutofit fontScale="90000"/>
          </a:bodyPr>
          <a:lstStyle/>
          <a:p>
            <a:r>
              <a:rPr lang="en-US" altLang="en-US" sz="2667" b="1" dirty="0">
                <a:latin typeface="+mn-lt"/>
              </a:rPr>
              <a:t>Tools For Planning Change</a:t>
            </a:r>
          </a:p>
        </p:txBody>
      </p:sp>
      <p:sp>
        <p:nvSpPr>
          <p:cNvPr id="2" name="TextBox 1"/>
          <p:cNvSpPr txBox="1"/>
          <p:nvPr/>
        </p:nvSpPr>
        <p:spPr>
          <a:xfrm>
            <a:off x="1257300" y="1083313"/>
            <a:ext cx="4331369" cy="400110"/>
          </a:xfrm>
          <a:prstGeom prst="rect">
            <a:avLst/>
          </a:prstGeom>
          <a:noFill/>
        </p:spPr>
        <p:txBody>
          <a:bodyPr wrap="square" rtlCol="0">
            <a:spAutoFit/>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rPr>
              <a:t>McKinsey’s 7 S Framework</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7438" y="1486831"/>
            <a:ext cx="5490684" cy="3096774"/>
          </a:xfrm>
          <a:prstGeom prst="rect">
            <a:avLst/>
          </a:prstGeom>
        </p:spPr>
      </p:pic>
    </p:spTree>
    <p:extLst>
      <p:ext uri="{BB962C8B-B14F-4D97-AF65-F5344CB8AC3E}">
        <p14:creationId xmlns:p14="http://schemas.microsoft.com/office/powerpoint/2010/main" val="2407524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a:extLst>
              <a:ext uri="{FF2B5EF4-FFF2-40B4-BE49-F238E27FC236}">
                <a16:creationId xmlns:a16="http://schemas.microsoft.com/office/drawing/2014/main" id="{27216008-5D4A-4D41-B92A-577E0F87B008}"/>
              </a:ext>
            </a:extLst>
          </p:cNvPr>
          <p:cNvSpPr>
            <a:spLocks noGrp="1" noChangeArrowheads="1"/>
          </p:cNvSpPr>
          <p:nvPr>
            <p:ph type="title"/>
          </p:nvPr>
        </p:nvSpPr>
        <p:spPr>
          <a:xfrm>
            <a:off x="1257300" y="528860"/>
            <a:ext cx="6507079" cy="513877"/>
          </a:xfrm>
        </p:spPr>
        <p:txBody>
          <a:bodyPr/>
          <a:lstStyle/>
          <a:p>
            <a:r>
              <a:rPr lang="en-US" altLang="en-US" sz="2667" b="1" dirty="0"/>
              <a:t>Tools For Planning Change</a:t>
            </a:r>
            <a:endParaRPr lang="en-US" altLang="en-US" sz="2667" b="1" dirty="0">
              <a:latin typeface="+mn-lt"/>
            </a:endParaRPr>
          </a:p>
        </p:txBody>
      </p:sp>
      <p:sp>
        <p:nvSpPr>
          <p:cNvPr id="2" name="TextBox 1"/>
          <p:cNvSpPr txBox="1"/>
          <p:nvPr/>
        </p:nvSpPr>
        <p:spPr>
          <a:xfrm>
            <a:off x="1257300" y="1283368"/>
            <a:ext cx="3914274" cy="400110"/>
          </a:xfrm>
          <a:prstGeom prst="rect">
            <a:avLst/>
          </a:prstGeom>
          <a:noFill/>
        </p:spPr>
        <p:txBody>
          <a:bodyPr wrap="square" rtlCol="0">
            <a:spAutoFit/>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rPr>
              <a:t>Burke – Litwin Model </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57159" y="1683478"/>
            <a:ext cx="4312020" cy="3320824"/>
          </a:xfrm>
          <a:prstGeom prst="rect">
            <a:avLst/>
          </a:prstGeom>
        </p:spPr>
      </p:pic>
    </p:spTree>
    <p:extLst>
      <p:ext uri="{BB962C8B-B14F-4D97-AF65-F5344CB8AC3E}">
        <p14:creationId xmlns:p14="http://schemas.microsoft.com/office/powerpoint/2010/main" val="813506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a:extLst>
              <a:ext uri="{FF2B5EF4-FFF2-40B4-BE49-F238E27FC236}">
                <a16:creationId xmlns:a16="http://schemas.microsoft.com/office/drawing/2014/main" id="{27216008-5D4A-4D41-B92A-577E0F87B008}"/>
              </a:ext>
            </a:extLst>
          </p:cNvPr>
          <p:cNvSpPr>
            <a:spLocks noGrp="1" noChangeArrowheads="1"/>
          </p:cNvSpPr>
          <p:nvPr>
            <p:ph type="title"/>
          </p:nvPr>
        </p:nvSpPr>
        <p:spPr>
          <a:xfrm>
            <a:off x="1257300" y="528860"/>
            <a:ext cx="7068553" cy="754508"/>
          </a:xfrm>
        </p:spPr>
        <p:txBody>
          <a:bodyPr/>
          <a:lstStyle/>
          <a:p>
            <a:r>
              <a:rPr lang="en-US" altLang="en-US" sz="2667" b="1" dirty="0"/>
              <a:t>Tools For Planning Change</a:t>
            </a:r>
            <a:endParaRPr lang="en-US" altLang="en-US" sz="2667" b="1" dirty="0">
              <a:latin typeface="+mn-lt"/>
            </a:endParaRPr>
          </a:p>
        </p:txBody>
      </p:sp>
      <p:sp>
        <p:nvSpPr>
          <p:cNvPr id="2" name="TextBox 1"/>
          <p:cNvSpPr txBox="1"/>
          <p:nvPr/>
        </p:nvSpPr>
        <p:spPr>
          <a:xfrm>
            <a:off x="1411705" y="1283368"/>
            <a:ext cx="4957011" cy="400110"/>
          </a:xfrm>
          <a:prstGeom prst="rect">
            <a:avLst/>
          </a:prstGeom>
          <a:noFill/>
        </p:spPr>
        <p:txBody>
          <a:bodyPr wrap="square" rtlCol="0">
            <a:spAutoFit/>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Calibri" panose="020F0502020204030204"/>
                <a:ea typeface="+mn-ea"/>
                <a:cs typeface="+mn-cs"/>
              </a:rPr>
              <a:t>Leavitt’s Diamond</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3166" y="1748174"/>
            <a:ext cx="3637025" cy="2786811"/>
          </a:xfrm>
          <a:prstGeom prst="rect">
            <a:avLst/>
          </a:prstGeom>
        </p:spPr>
      </p:pic>
    </p:spTree>
    <p:extLst>
      <p:ext uri="{BB962C8B-B14F-4D97-AF65-F5344CB8AC3E}">
        <p14:creationId xmlns:p14="http://schemas.microsoft.com/office/powerpoint/2010/main" val="2712415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a:extLst>
              <a:ext uri="{FF2B5EF4-FFF2-40B4-BE49-F238E27FC236}">
                <a16:creationId xmlns:a16="http://schemas.microsoft.com/office/drawing/2014/main" id="{27216008-5D4A-4D41-B92A-577E0F87B008}"/>
              </a:ext>
            </a:extLst>
          </p:cNvPr>
          <p:cNvSpPr>
            <a:spLocks noGrp="1" noChangeArrowheads="1"/>
          </p:cNvSpPr>
          <p:nvPr>
            <p:ph type="title"/>
          </p:nvPr>
        </p:nvSpPr>
        <p:spPr>
          <a:xfrm>
            <a:off x="1118754" y="429226"/>
            <a:ext cx="6556664" cy="499293"/>
          </a:xfrm>
        </p:spPr>
        <p:txBody>
          <a:bodyPr>
            <a:normAutofit/>
          </a:bodyPr>
          <a:lstStyle/>
          <a:p>
            <a:r>
              <a:rPr lang="en-GB" altLang="en-US" sz="2800" dirty="0">
                <a:latin typeface="+mn-lt"/>
              </a:rPr>
              <a:t>PLANNING</a:t>
            </a:r>
            <a:endParaRPr lang="en-US" altLang="en-US" sz="2800" b="1" dirty="0">
              <a:latin typeface="+mn-lt"/>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32296"/>
            <a:ext cx="9144000" cy="3250407"/>
          </a:xfrm>
          <a:prstGeom prst="rect">
            <a:avLst/>
          </a:prstGeom>
        </p:spPr>
      </p:pic>
    </p:spTree>
    <p:extLst>
      <p:ext uri="{BB962C8B-B14F-4D97-AF65-F5344CB8AC3E}">
        <p14:creationId xmlns:p14="http://schemas.microsoft.com/office/powerpoint/2010/main" val="22294547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a:xfrm>
            <a:off x="2057400" y="304271"/>
            <a:ext cx="6457950" cy="1104636"/>
          </a:xfrm>
        </p:spPr>
        <p:txBody>
          <a:bodyPr anchor="ctr">
            <a:normAutofit/>
          </a:bodyPr>
          <a:lstStyle/>
          <a:p>
            <a:r>
              <a:rPr lang="en-US" altLang="en-US" b="1" dirty="0"/>
              <a:t>Questions</a:t>
            </a:r>
          </a:p>
        </p:txBody>
      </p:sp>
      <p:sp>
        <p:nvSpPr>
          <p:cNvPr id="211971" name="Rectangle 3"/>
          <p:cNvSpPr>
            <a:spLocks noGrp="1" noChangeArrowheads="1"/>
          </p:cNvSpPr>
          <p:nvPr>
            <p:ph sz="half" idx="1"/>
          </p:nvPr>
        </p:nvSpPr>
        <p:spPr>
          <a:xfrm>
            <a:off x="628650" y="1521354"/>
            <a:ext cx="3886200" cy="3626115"/>
          </a:xfrm>
        </p:spPr>
        <p:txBody>
          <a:bodyPr>
            <a:normAutofit/>
          </a:bodyPr>
          <a:lstStyle/>
          <a:p>
            <a:endParaRPr lang="en-US" altLang="en-US" b="1" dirty="0"/>
          </a:p>
          <a:p>
            <a:pPr marL="0" indent="0">
              <a:buNone/>
            </a:pPr>
            <a:endParaRPr lang="en-US" altLang="en-US" b="1" dirty="0"/>
          </a:p>
        </p:txBody>
      </p:sp>
      <p:pic>
        <p:nvPicPr>
          <p:cNvPr id="4" name="Picture 10" descr="20087-medium"/>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759192" y="1521354"/>
            <a:ext cx="3626115" cy="3626115"/>
          </a:xfrm>
          <a:prstGeom prst="rect">
            <a:avLst/>
          </a:prstGeom>
          <a:solidFill>
            <a:srgbClr val="FFFFFF"/>
          </a:solidFill>
        </p:spPr>
      </p:pic>
    </p:spTree>
    <p:extLst>
      <p:ext uri="{BB962C8B-B14F-4D97-AF65-F5344CB8AC3E}">
        <p14:creationId xmlns:p14="http://schemas.microsoft.com/office/powerpoint/2010/main" val="254931744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76C3ACD0CB18047AD424CD02951596B" ma:contentTypeVersion="7" ma:contentTypeDescription="Create a new document." ma:contentTypeScope="" ma:versionID="f0b4010ef629469130bffac70554122d">
  <xsd:schema xmlns:xsd="http://www.w3.org/2001/XMLSchema" xmlns:xs="http://www.w3.org/2001/XMLSchema" xmlns:p="http://schemas.microsoft.com/office/2006/metadata/properties" xmlns:ns2="6f59699c-fc50-4b1c-b935-10547a0567fc" targetNamespace="http://schemas.microsoft.com/office/2006/metadata/properties" ma:root="true" ma:fieldsID="cf2a29f6822c5b4dad883bf1239fb093" ns2:_="">
    <xsd:import namespace="6f59699c-fc50-4b1c-b935-10547a0567f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59699c-fc50-4b1c-b935-10547a0567f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0CB6EEA-BAA8-43B0-BA34-9F1E11713ABE}">
  <ds:schemaRefs>
    <ds:schemaRef ds:uri="http://schemas.microsoft.com/sharepoint/v3/contenttype/forms"/>
  </ds:schemaRefs>
</ds:datastoreItem>
</file>

<file path=customXml/itemProps2.xml><?xml version="1.0" encoding="utf-8"?>
<ds:datastoreItem xmlns:ds="http://schemas.openxmlformats.org/officeDocument/2006/customXml" ds:itemID="{F9CD784D-FB5B-4162-BF43-457AE6B2F704}">
  <ds:schemaRefs>
    <ds:schemaRef ds:uri="http://schemas.microsoft.com/office/infopath/2007/PartnerControls"/>
    <ds:schemaRef ds:uri="http://schemas.openxmlformats.org/package/2006/metadata/core-properties"/>
    <ds:schemaRef ds:uri="8316f6bd-bbf6-4508-96af-3feed3b09dae"/>
    <ds:schemaRef ds:uri="http://purl.org/dc/dcmitype/"/>
    <ds:schemaRef ds:uri="http://schemas.microsoft.com/office/2006/documentManagement/types"/>
    <ds:schemaRef ds:uri="http://purl.org/dc/elements/1.1/"/>
    <ds:schemaRef ds:uri="http://schemas.microsoft.com/office/2006/metadata/properties"/>
    <ds:schemaRef ds:uri="6d0b30b4-251c-4d87-9ff9-7306eddd1503"/>
    <ds:schemaRef ds:uri="http://www.w3.org/XML/1998/namespace"/>
    <ds:schemaRef ds:uri="http://purl.org/dc/terms/"/>
  </ds:schemaRefs>
</ds:datastoreItem>
</file>

<file path=customXml/itemProps3.xml><?xml version="1.0" encoding="utf-8"?>
<ds:datastoreItem xmlns:ds="http://schemas.openxmlformats.org/officeDocument/2006/customXml" ds:itemID="{3211280E-24B4-456C-AA8B-016DE87D97B7}"/>
</file>

<file path=docProps/app.xml><?xml version="1.0" encoding="utf-8"?>
<Properties xmlns="http://schemas.openxmlformats.org/officeDocument/2006/extended-properties" xmlns:vt="http://schemas.openxmlformats.org/officeDocument/2006/docPropsVTypes">
  <Template/>
  <TotalTime>13229</TotalTime>
  <Words>9967</Words>
  <Application>Microsoft Office PowerPoint</Application>
  <PresentationFormat>On-screen Show (16:10)</PresentationFormat>
  <Paragraphs>1110</Paragraphs>
  <Slides>68</Slides>
  <Notes>56</Notes>
  <HiddenSlides>0</HiddenSlides>
  <MMClips>4</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68</vt:i4>
      </vt:variant>
    </vt:vector>
  </HeadingPairs>
  <TitlesOfParts>
    <vt:vector size="80" baseType="lpstr">
      <vt:lpstr>ＭＳ Ｐゴシック</vt:lpstr>
      <vt:lpstr>Arial</vt:lpstr>
      <vt:lpstr>Calibri</vt:lpstr>
      <vt:lpstr>Calibri Light</vt:lpstr>
      <vt:lpstr>Google Sans</vt:lpstr>
      <vt:lpstr>Verdana</vt:lpstr>
      <vt:lpstr>Wingdings</vt:lpstr>
      <vt:lpstr>Custom Design</vt:lpstr>
      <vt:lpstr>1_Custom Design</vt:lpstr>
      <vt:lpstr>Office Theme</vt:lpstr>
      <vt:lpstr>2_Office Theme</vt:lpstr>
      <vt:lpstr>1_Office Theme</vt:lpstr>
      <vt:lpstr>PowerPoint Presentation</vt:lpstr>
      <vt:lpstr>How organisational strategy is developed</vt:lpstr>
      <vt:lpstr>Operational Management</vt:lpstr>
      <vt:lpstr>Vision &amp; Values</vt:lpstr>
      <vt:lpstr>Mission Statements and Values </vt:lpstr>
      <vt:lpstr>An organisation must have.. </vt:lpstr>
      <vt:lpstr>Internal Factors</vt:lpstr>
      <vt:lpstr>External Factors</vt:lpstr>
      <vt:lpstr>EXTERNAL FACTORS</vt:lpstr>
      <vt:lpstr>Complete Pestle for Weston College </vt:lpstr>
      <vt:lpstr>PowerPoint Presentation</vt:lpstr>
      <vt:lpstr>PowerPoint Presentation</vt:lpstr>
      <vt:lpstr>PowerPoint Presentation</vt:lpstr>
      <vt:lpstr>Operational Management and Organisational Targets</vt:lpstr>
      <vt:lpstr>PowerPoint Presentation</vt:lpstr>
      <vt:lpstr>PowerPoint Presentation</vt:lpstr>
      <vt:lpstr>Formulation of High-Level Strategy</vt:lpstr>
      <vt:lpstr>PowerPoint Presentation</vt:lpstr>
      <vt:lpstr>Aims and Objectives</vt:lpstr>
      <vt:lpstr>SMART(ER) OBJECTIVES</vt:lpstr>
      <vt:lpstr>OBJECTIVES</vt:lpstr>
      <vt:lpstr>              SMARTER Objectives</vt:lpstr>
      <vt:lpstr>Complete Activity</vt:lpstr>
      <vt:lpstr>KPI</vt:lpstr>
      <vt:lpstr>Weston College - Strategic Aim &amp; KPI Examples</vt:lpstr>
      <vt:lpstr>Ethical Considerations</vt:lpstr>
      <vt:lpstr>Ethics in Practice</vt:lpstr>
      <vt:lpstr>Risks of Ignoring Ethics</vt:lpstr>
      <vt:lpstr>Problem Solving and Decision Making Techniques</vt:lpstr>
      <vt:lpstr>Hoshin Matrix</vt:lpstr>
      <vt:lpstr>Hoshin Matrix</vt:lpstr>
      <vt:lpstr>PowerPoint Presentation</vt:lpstr>
      <vt:lpstr>PowerPoint Presentation</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Implementing operational plans</vt:lpstr>
      <vt:lpstr>PHYSICAL RESOURCES</vt:lpstr>
      <vt:lpstr>RESOURCES</vt:lpstr>
      <vt:lpstr>ALLOCATING WORK TO TEAM MEMBERS</vt:lpstr>
      <vt:lpstr>PowerPoint Presentation</vt:lpstr>
      <vt:lpstr>ALLOCATING OUT WORK</vt:lpstr>
      <vt:lpstr>CASCADE OF OBJECTIVES</vt:lpstr>
      <vt:lpstr>ACTION CENTRED LEADERSHIP</vt:lpstr>
      <vt:lpstr>Statement of Strategic Intent</vt:lpstr>
      <vt:lpstr>Strategic Intent</vt:lpstr>
      <vt:lpstr>Managing change within a team</vt:lpstr>
      <vt:lpstr>Complete Activity  </vt:lpstr>
      <vt:lpstr>Change</vt:lpstr>
      <vt:lpstr>Positive and Negative</vt:lpstr>
      <vt:lpstr>ADKAR</vt:lpstr>
      <vt:lpstr>PowerPoint Presentation</vt:lpstr>
      <vt:lpstr>Change  Curve</vt:lpstr>
      <vt:lpstr>Kotter’s 8-stage Change Model</vt:lpstr>
      <vt:lpstr>Complete Activity </vt:lpstr>
      <vt:lpstr>Nudge theory</vt:lpstr>
      <vt:lpstr>PowerPoint Presentation</vt:lpstr>
      <vt:lpstr>Tools For Planning Change</vt:lpstr>
      <vt:lpstr>Tools For Planning Change</vt:lpstr>
      <vt:lpstr>Tools For Planning Change</vt:lpstr>
      <vt:lpstr>PLANNING</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Louise Perkins</cp:lastModifiedBy>
  <cp:revision>260</cp:revision>
  <cp:lastPrinted>2019-03-25T08:57:42Z</cp:lastPrinted>
  <dcterms:created xsi:type="dcterms:W3CDTF">2016-06-27T09:34:57Z</dcterms:created>
  <dcterms:modified xsi:type="dcterms:W3CDTF">2026-04-21T17:49:06Z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0x010100F76C3ACD0CB18047AD424CD02951596B</vt:lpwstr>
  </property>
</Properties>
</file>